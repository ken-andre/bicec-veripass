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67ae4ebd6a43e5" /><Relationship Type="http://schemas.openxmlformats.org/officeDocument/2006/relationships/extended-properties" Target="/docProps/app.xml" Id="R2a685520c3ba4355" /><Relationship Type="http://schemas.openxmlformats.org/officeDocument/2006/relationships/officeDocument" Target="/ppt/presentation.xml" Id="Rfbc7235a1a134c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2f5cc176604ae1"/>
  </p:sldMasterIdLst>
  <p:notesMasterIdLst>
    <p:notesMasterId xmlns:r="http://schemas.openxmlformats.org/officeDocument/2006/relationships" r:id="R154b75d5851e4bfe"/>
  </p:notesMasterIdLst>
  <p:sldIdLst>
    <p:sldId xmlns:r="http://schemas.openxmlformats.org/officeDocument/2006/relationships" id="256" r:id="Re185540314234faf"/>
    <p:sldId xmlns:r="http://schemas.openxmlformats.org/officeDocument/2006/relationships" id="257" r:id="Rd99f4ef085474474"/>
    <p:sldId xmlns:r="http://schemas.openxmlformats.org/officeDocument/2006/relationships" id="258" r:id="R2a72734dfc5f4520"/>
    <p:sldId xmlns:r="http://schemas.openxmlformats.org/officeDocument/2006/relationships" id="259" r:id="Rb4551f20a3aa4ea2"/>
    <p:sldId xmlns:r="http://schemas.openxmlformats.org/officeDocument/2006/relationships" id="260" r:id="R990c9ef603fe4679"/>
    <p:sldId xmlns:r="http://schemas.openxmlformats.org/officeDocument/2006/relationships" id="261" r:id="R6a7adc6d6f17453b"/>
    <p:sldId xmlns:r="http://schemas.openxmlformats.org/officeDocument/2006/relationships" id="262" r:id="Rc69a62d18eb8431d"/>
    <p:sldId xmlns:r="http://schemas.openxmlformats.org/officeDocument/2006/relationships" id="263" r:id="Rcb315f727d19483b"/>
    <p:sldId xmlns:r="http://schemas.openxmlformats.org/officeDocument/2006/relationships" id="264" r:id="Rd4483a2975614a2f"/>
    <p:sldId xmlns:r="http://schemas.openxmlformats.org/officeDocument/2006/relationships" id="265" r:id="R78197d921632420c"/>
    <p:sldId xmlns:r="http://schemas.openxmlformats.org/officeDocument/2006/relationships" id="266" r:id="Rfe92212fe9214d7d"/>
    <p:sldId xmlns:r="http://schemas.openxmlformats.org/officeDocument/2006/relationships" id="267" r:id="R858493e8d39044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ba5e7ad9654fbb" /><Relationship Type="http://schemas.openxmlformats.org/officeDocument/2006/relationships/slideMaster" Target="/ppt/slideMasters/slideMaster1.xml" Id="Rd92f5cc176604ae1" /><Relationship Type="http://schemas.openxmlformats.org/officeDocument/2006/relationships/notesMaster" Target="/ppt/notesMasters/notesMaster1.xml" Id="R154b75d5851e4bfe" /><Relationship Type="http://schemas.openxmlformats.org/officeDocument/2006/relationships/presProps" Target="/ppt/presProps.xml" Id="R1a87b8abdc6f4752" /><Relationship Type="http://schemas.openxmlformats.org/officeDocument/2006/relationships/viewProps" Target="/ppt/viewProps.xml" Id="Rc86d0b66f4934465" /><Relationship Type="http://schemas.openxmlformats.org/officeDocument/2006/relationships/tableStyles" Target="/ppt/tableStyles.xml" Id="Re51c79639ff0477d" /><Relationship Type="http://schemas.openxmlformats.org/officeDocument/2006/relationships/slide" Target="/ppt/slides/slide1.xml" Id="Re185540314234faf" /><Relationship Type="http://schemas.openxmlformats.org/officeDocument/2006/relationships/slide" Target="/ppt/slides/slide2.xml" Id="Rd99f4ef085474474" /><Relationship Type="http://schemas.openxmlformats.org/officeDocument/2006/relationships/slide" Target="/ppt/slides/slide3.xml" Id="R2a72734dfc5f4520" /><Relationship Type="http://schemas.openxmlformats.org/officeDocument/2006/relationships/slide" Target="/ppt/slides/slide4.xml" Id="Rb4551f20a3aa4ea2" /><Relationship Type="http://schemas.openxmlformats.org/officeDocument/2006/relationships/slide" Target="/ppt/slides/slide5.xml" Id="R990c9ef603fe4679" /><Relationship Type="http://schemas.openxmlformats.org/officeDocument/2006/relationships/slide" Target="/ppt/slides/slide6.xml" Id="R6a7adc6d6f17453b" /><Relationship Type="http://schemas.openxmlformats.org/officeDocument/2006/relationships/slide" Target="/ppt/slides/slide7.xml" Id="Rc69a62d18eb8431d" /><Relationship Type="http://schemas.openxmlformats.org/officeDocument/2006/relationships/slide" Target="/ppt/slides/slide8.xml" Id="Rcb315f727d19483b" /><Relationship Type="http://schemas.openxmlformats.org/officeDocument/2006/relationships/slide" Target="/ppt/slides/slide9.xml" Id="Rd4483a2975614a2f" /><Relationship Type="http://schemas.openxmlformats.org/officeDocument/2006/relationships/slide" Target="/ppt/slides/slide10.xml" Id="R78197d921632420c" /><Relationship Type="http://schemas.openxmlformats.org/officeDocument/2006/relationships/slide" Target="/ppt/slides/slide11.xml" Id="Rfe92212fe9214d7d" /><Relationship Type="http://schemas.openxmlformats.org/officeDocument/2006/relationships/slide" Target="/ppt/slides/slide12.xml" Id="R858493e8d39044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1038cf6abc41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daccca414343f5" /><Relationship Type="http://schemas.openxmlformats.org/officeDocument/2006/relationships/notesMaster" Target="/ppt/notesMasters/notesMaster1.xml" Id="R8d9a887424fd48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2cd6724b494cb5" /><Relationship Type="http://schemas.openxmlformats.org/officeDocument/2006/relationships/notesMaster" Target="/ppt/notesMasters/notesMaster1.xml" Id="Rd7bcf70067ff4b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4393414738478b" /><Relationship Type="http://schemas.openxmlformats.org/officeDocument/2006/relationships/notesMaster" Target="/ppt/notesMasters/notesMaster1.xml" Id="R04fba25a9f9f45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01160c44184940" /><Relationship Type="http://schemas.openxmlformats.org/officeDocument/2006/relationships/notesMaster" Target="/ppt/notesMasters/notesMaster1.xml" Id="Re14ace7fc99d40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c048f40481452d" /><Relationship Type="http://schemas.openxmlformats.org/officeDocument/2006/relationships/notesMaster" Target="/ppt/notesMasters/notesMaster1.xml" Id="R8eb906c1699e4c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189f83a49b45a0" /><Relationship Type="http://schemas.openxmlformats.org/officeDocument/2006/relationships/notesMaster" Target="/ppt/notesMasters/notesMaster1.xml" Id="Ree7e9ae56e7e46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656912ff4540f8" /><Relationship Type="http://schemas.openxmlformats.org/officeDocument/2006/relationships/notesMaster" Target="/ppt/notesMasters/notesMaster1.xml" Id="R6c36d682a9de47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81f759b5d445cb" /><Relationship Type="http://schemas.openxmlformats.org/officeDocument/2006/relationships/notesMaster" Target="/ppt/notesMasters/notesMaster1.xml" Id="R545b1195bd844a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909ab73d1d4048" /><Relationship Type="http://schemas.openxmlformats.org/officeDocument/2006/relationships/notesMaster" Target="/ppt/notesMasters/notesMaster1.xml" Id="R11ef7d4d21fd41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f5f879273d4b50" /><Relationship Type="http://schemas.openxmlformats.org/officeDocument/2006/relationships/notesMaster" Target="/ppt/notesMasters/notesMaster1.xml" Id="R29e62b071f474c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dd3e245c9d433e" /><Relationship Type="http://schemas.openxmlformats.org/officeDocument/2006/relationships/notesMaster" Target="/ppt/notesMasters/notesMaster1.xml" Id="Rb484fbf07f2347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41fb9482574383" /><Relationship Type="http://schemas.openxmlformats.org/officeDocument/2006/relationships/notesMaster" Target="/ppt/notesMasters/notesMaster1.xml" Id="R8b32879b1ddb4f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a94701ed345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7976ebe6e0435d" /><Relationship Type="http://schemas.openxmlformats.org/officeDocument/2006/relationships/slideLayout" Target="/ppt/slideLayouts/slideLayout1.xml" Id="R61975010009f42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975010009f42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a95c7cd044e66" /><Relationship Type="http://schemas.openxmlformats.org/officeDocument/2006/relationships/image" Target="/ppt/media/image.jpeg" Id="R744fbd70fcf7475a" /><Relationship Type="http://schemas.openxmlformats.org/officeDocument/2006/relationships/image" Target="/ppt/media/image.png" Id="R2809556011a34845" /><Relationship Type="http://schemas.openxmlformats.org/officeDocument/2006/relationships/image" Target="/ppt/media/image2.png" Id="R1398ce80d45b424f" /><Relationship Type="http://schemas.openxmlformats.org/officeDocument/2006/relationships/notesSlide" Target="/ppt/notesSlides/notesSlide1.xml" Id="R2e93918a4d444b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5384188ce469e" /><Relationship Type="http://schemas.openxmlformats.org/officeDocument/2006/relationships/notesSlide" Target="/ppt/notesSlides/notesSlide2.xml" Id="R3a38c0e0e99641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0bebb6aa140cf" /><Relationship Type="http://schemas.openxmlformats.org/officeDocument/2006/relationships/notesSlide" Target="/ppt/notesSlides/notesSlide3.xml" Id="R4516383842ec44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d176b20814e14" /><Relationship Type="http://schemas.openxmlformats.org/officeDocument/2006/relationships/notesSlide" Target="/ppt/notesSlides/notesSlide4.xml" Id="R00c101f396b64d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a3c97c0b24c81" /><Relationship Type="http://schemas.openxmlformats.org/officeDocument/2006/relationships/image" Target="/ppt/media/image3.png" Id="Re117b3e6df754232" /><Relationship Type="http://schemas.openxmlformats.org/officeDocument/2006/relationships/image" Target="/ppt/media/image4.png" Id="Raedbf13fc8b44c8a" /><Relationship Type="http://schemas.openxmlformats.org/officeDocument/2006/relationships/image" Target="/ppt/media/image5.png" Id="Re3ba8d9ac65846a7" /><Relationship Type="http://schemas.openxmlformats.org/officeDocument/2006/relationships/notesSlide" Target="/ppt/notesSlides/notesSlide5.xml" Id="R6ad0eb05bea04b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328d5633246ea" /><Relationship Type="http://schemas.openxmlformats.org/officeDocument/2006/relationships/image" Target="/ppt/media/image6.png" Id="R744c23b268ab4681" /><Relationship Type="http://schemas.openxmlformats.org/officeDocument/2006/relationships/image" Target="/ppt/media/image7.png" Id="Rd5ac478bff9a4f52" /><Relationship Type="http://schemas.openxmlformats.org/officeDocument/2006/relationships/notesSlide" Target="/ppt/notesSlides/notesSlide6.xml" Id="R7643d371e8544b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9186103024e91" /><Relationship Type="http://schemas.openxmlformats.org/officeDocument/2006/relationships/image" Target="/ppt/media/image8.png" Id="R9aa4f62893614d15" /><Relationship Type="http://schemas.openxmlformats.org/officeDocument/2006/relationships/image" Target="/ppt/media/image9.png" Id="R8406268941de41bd" /><Relationship Type="http://schemas.openxmlformats.org/officeDocument/2006/relationships/notesSlide" Target="/ppt/notesSlides/notesSlide7.xml" Id="Rb330914b9cd443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f6a1fcf6a4287" /><Relationship Type="http://schemas.openxmlformats.org/officeDocument/2006/relationships/image" Target="/ppt/media/image10.png" Id="Re62280f7c8ff4133" /><Relationship Type="http://schemas.openxmlformats.org/officeDocument/2006/relationships/image" Target="/ppt/media/image11.png" Id="R5df6573177824f1c" /><Relationship Type="http://schemas.openxmlformats.org/officeDocument/2006/relationships/notesSlide" Target="/ppt/notesSlides/notesSlide8.xml" Id="R83033a19a24747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2b75d26034af7" /><Relationship Type="http://schemas.openxmlformats.org/officeDocument/2006/relationships/notesSlide" Target="/ppt/notesSlides/notesSlide9.xml" Id="R7cf5341a213c4f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415b58ba74d52" /><Relationship Type="http://schemas.openxmlformats.org/officeDocument/2006/relationships/notesSlide" Target="/ppt/notesSlides/notesSlide10.xml" Id="R73ea7f22dcf444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f2ae14d874d6c" /><Relationship Type="http://schemas.openxmlformats.org/officeDocument/2006/relationships/notesSlide" Target="/ppt/notesSlides/notesSlide11.xml" Id="R8689c82b3d1245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b8e1eb62a4a88" /><Relationship Type="http://schemas.openxmlformats.org/officeDocument/2006/relationships/image" Target="/ppt/media/image2.jpeg" Id="R08217cf2d1854c15" /><Relationship Type="http://schemas.openxmlformats.org/officeDocument/2006/relationships/notesSlide" Target="/ppt/notesSlides/notesSlide12.xml" Id="R106a825de01044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B83224-7560-44A1-8EFC-6FADAB1A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A2C08-49BD-49FB-A32D-50ED1478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13979-EF7B-4D03-99E4-79B992B7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0DE6F-496D-4E37-A54D-7017015C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fbd70fcf7475a"/>
          <a:stretch xmlns:a="http://schemas.openxmlformats.org/drawingml/2006/main"/>
        </p:blipFill>
        <p:spPr>
          <a:xfrm xmlns:a="http://schemas.openxmlformats.org/drawingml/2006/main">
            <a:off x="876300" y="4572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C20CB-D147-486D-A372-C2EE77ED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591D3-830A-4981-85AB-94AE917E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SOUTENANCE STAGE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583E4-4CD5-4134-B538-2A433A8A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3016C-80BB-46E2-8ACB-E49777A8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676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socle de connaissance client que BICEC peut tester maintenant.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5E69D-7859-4C9D-9F1C-9CBDE3E7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Une version fonctionnelle pour transformer l'identite client en dossier bancaire controle, auditable et mesurable.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FF77A-8002-44A3-BC93-85D27DAB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1FD10-EC1E-4341-B6C7-F97FD2E4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Phrase d'ouverture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5C7DD-F288-4771-A605-80962654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Je ne viens pas vous montrer du code. Je viens vous montrer une porte d'entree client que la banque peut reprendre en main.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8C433-814F-44B8-8357-81691F4A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62000"/>
            <a:ext cx="31432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B9B67-C8E1-481F-95D0-C0FF15E3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71550"/>
            <a:ext cx="1752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9556011a34845"/>
          <a:stretch xmlns:a="http://schemas.openxmlformats.org/drawingml/2006/main"/>
        </p:blipFill>
        <p:spPr>
          <a:xfrm xmlns:a="http://schemas.openxmlformats.org/drawingml/2006/main">
            <a:off x="8129954" y="1066800"/>
            <a:ext cx="1494692" cy="3238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88EBC-2472-493C-94F1-2372E250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52550"/>
            <a:ext cx="2190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8ce80d45b424f"/>
          <a:srcRect xmlns:a="http://schemas.openxmlformats.org/drawingml/2006/main" l="0" t="8798" r="0" b="87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3550" y="1447800"/>
            <a:ext cx="2000250" cy="30480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3C21F-4DA5-40DE-A428-DA750A0A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DF7E2-53F7-49CB-AA0C-C7E7EC3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Preuve visible: elle se lance, se teste et se montre.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56DEF-15EA-4326-B550-92C26EC6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0A365-C9DC-4936-8CF4-9A35FB3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support de direction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B2220-976B-484B-8C50-F1E8D2CF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62739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271D6-3918-4AB8-80A9-71B2392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32F9B-1E18-43CD-9855-E64BD57B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F690F-58BC-487F-8030-E4F67A60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POURQUOI MAINTENANT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D5D95-4C3B-41CB-BB31-6D05F12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14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marche est deja mobile. La question est: qui controle l'entree bancaire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809E9-F974-4527-8E92-5F6B373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BICEC a deja une presence digitale avec BI PAY. VeriPass adresse le maillon qui precede tout le reste: prouver, verifier, puis decider.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C8559-99F0-458A-9FE0-AAFB7588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51596-CD0D-4685-A62C-ED2173B2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65,10%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DEECE-11AF-4377-9E94-3F3D7C67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du volume des paiements CEMAC concentre au Cameroun selon la BEAC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8215F-0AB3-45D3-94A9-174F0448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B72AE-5947-4305-8B21-9AADE675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94,34%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2F4BB-5F79-4465-B13E-B9D7952F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des operations CEMAC sont en monnaie electronique selon la BEAC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A1B92-BF67-413C-B635-2D4AEDE8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BA411-3D38-41EE-AF87-889C4DD1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0515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2T$+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D7F89-A50D-4DF9-920E-67D46251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433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ont transite par les portefeuilles de paiement mobile dans le monde en 2025 selon la GSMA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B8C31-A027-4369-BFD6-C9B60F1D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04C8D-94C7-4398-A596-90CBDC5B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2445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 a dire: les clients apprennent deja a commencer par le mobile; la banque doit garder la preuve avant la promesse.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AF3BF-257D-494C-9A91-B157F033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Sources: BEAC, Rapport sur les services de paiement dans la CEMAC 2024; GSMA, State of the Industry Report on Mobile Money 2026; BICEC, page BI PAY.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ECA4E-9A75-4B83-BAE5-01543826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A9FAD-E1B4-4DFE-8145-AC6444EB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90D84-8331-45EC-AF97-C433AC8A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74664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45BB7C-B98E-4FA1-B57F-CF6F2B36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F1AFD-D69F-4B44-B6D5-E858E19B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F4D2F-13C3-48AC-BDE5-68DF039A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LA FRICTION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6C71B-9ACD-437E-B89A-6FE48CE4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dossier client fragile coute plus cher qu'un parcours lent.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FCC27-999B-4C55-A8C0-E3BDF4A7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Le probleme n'est pas de numeriser un formulaire. Le probleme est de transformer des pieces, des controles et des decisions en preuve exploitable.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6DEF2-0B81-42F0-A045-5A6272DD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885B8-947E-43C0-A779-B2EB7C54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695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D5501-605B-42B6-9576-E16FF4E2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2FF19-5B1C-4CA6-99CC-5FBA97FE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deplacement, pieces, relance, attente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7ABBA-5CBF-4437-8FA7-F3C09C6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708B2-B16F-4235-A788-04D47DA0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695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0B974-0830-473F-A1AB-383E2528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BF225-27AB-4345-A3AE-1DD3BB4C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48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dossier incomplet, ressaisie, suivi manuel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92811-6A25-4338-8CC1-F7FFB6DA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623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49A9B-74BD-452D-ABBA-42EA6F02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62300"/>
            <a:ext cx="1695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FB330-967A-4FB3-B8AB-3AABAD92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Back-office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5F9F3-7AA8-435E-B93A-A2199F71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48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file confuse, exceptions tardives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E274E-A6E6-4F95-ADFA-49DF8E5A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DE406-E63F-4DC2-84A3-3941CF9D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1695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2E699-72C1-4604-9ED2-FD6C7041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48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Conformite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6E688-DF73-46B7-A0B9-65AE48A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48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alerte a traiter avant approbation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DCA0A-FD20-419E-ADB5-87FDFB28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8CAD9-7236-4DFD-B91D-B4635672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1695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C207F-7886-4CC9-A441-900C058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828A3-395F-4A6F-A1C1-9CD858B7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reconstituer qui a decide quoi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3B175-121A-47A7-865A-CC5F5160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E03CC0-C4E8-45BB-9199-8F2F12EF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706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7EEF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E7EEF7"/>
                </a:solidFill>
                <a:latin typeface="Aptos"/>
                <a:ea typeface="Aptos"/>
                <a:cs typeface="Aptos"/>
              </a:rPr>
              <a:t>La banque ne peut pas choisir entre vitesse et controle.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23EAB2-493E-4762-A800-A4A661EA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62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E7434-F7E8-45D4-BD2B-5CD89BA2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706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7EEF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E7EEF7"/>
                </a:solidFill>
                <a:latin typeface="Aptos"/>
                <a:ea typeface="Aptos"/>
                <a:cs typeface="Aptos"/>
              </a:rPr>
              <a:t>Elle doit rendre les deux visibles avant la decision humaine.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5A290B-EC73-4165-8E08-07D0B575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38700"/>
            <a:ext cx="1790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4903F-DE68-488D-B948-507D6734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29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Ce que VeriPass change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FBC9E8-888B-4E67-B763-FCE829E0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95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 dossier devient une preuve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73EC91-9913-4B96-9EA6-01D96499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91A4BA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91A4BA"/>
                </a:solidFill>
                <a:latin typeface="Aptos"/>
                <a:ea typeface="Aptos"/>
                <a:cs typeface="Aptos"/>
              </a:rPr>
              <a:t>Sources: BICEC, pieces d'ouverture compte cheque; World Bank ID4D Cameroon; FATF, increased monitoring, 13 fevrier 2026.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898578-A366-4176-B865-F1BC7DA2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B2C104-8512-43E2-8D71-CD92DEA7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B57939-A561-41F0-A90C-0FF991FA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63416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49F7A4-B16E-4778-BD45-6F9E0C90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7E038-089C-48D8-AC70-A5FA6423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7D005-F86D-4B2E-945D-4981C2D6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QUI A ETE LIVRE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126F4-C763-4CE7-97A2-2F8A218F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stage a transforme une intuition en version bancaire testable.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29C8A-5CA0-4FB0-A586-C2547587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Pas une promesse de production. Une preuve fonctionnelle qui permet de tester, corriger et decider avec les equipes.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6B4B1-5AC3-4D19-A306-704D1735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71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57EAF-C050-402B-AC95-D9B079D1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219E0-C9B7-4F7B-BDEB-4EB54761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3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302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A7687-9E1C-45AE-8EB1-695CD4BC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Client 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87B5F-B833-4E51-A76D-02DA76B3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code SMS, CNI, lecture des pieces, presence, consentement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2CF47-892F-4C0D-A364-97C17989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BF86D-B91E-4246-B508-A323DE05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171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A1ACF-B1EC-4A5C-B6DA-F10B8123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2C300-A2BF-4C4B-A0F5-D23E7CD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71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95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952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7F973-7032-4FA6-A3D5-E987451E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76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Dossier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8353F-69AD-4122-83CD-D41A4B0F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preuves, statuts, documents, historique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E55D6-4FA0-4A04-978A-19D6BD67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528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66307-489E-41A5-BC16-8B4555E5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71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5AD93-B6F5-4DCC-9061-96033E76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A5713-1021-4852-AB68-5335305B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71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9B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9B9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DC932-CA9A-4605-9386-14C9B973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D7B293-0012-4542-A1E3-5773385B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humaine: revue agent, correction, complement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762CB-718E-49E7-8376-E69A9DF4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623C6-A088-4763-A561-D2A0E64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171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AB064-1A8A-4BD0-9E94-44CC409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028885-74CE-46DC-B23C-D35DFF1D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71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57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57D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FA0B2-8575-49F3-AEC4-8AC2F394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76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Controle risque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EDBF4C-6588-4C22-80A9-02AF0C64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LCB-FT, biometrie, blocage si alerte ouverte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BF67E-DE35-4D9E-A496-5027FA7E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528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57612B-4BD5-457A-8158-F7A3DC5F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71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BAC373-9431-4993-B9D0-D4A357A2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1AF8E8-C91F-4256-8609-B595EC9D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71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F5CA67-A6DA-45A0-BBF4-A67E7D3B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76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Pilotage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6B4C2-9E84-47DE-861D-CEB758D9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audit, centre de pilotage, indicateurs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F8A255-884B-44C6-8C07-DC0CB07F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8D0EAC-D389-4ABD-A0D9-60FB4C0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14950"/>
            <a:ext cx="866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retenir: la version fonctionnelle ne remplace pas le jugement de la banque; elle prepare de meilleures preuves avant ce jugement.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1888D8-E582-4F25-9546-79191C28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E5FAC2-59AF-4C84-A7AC-FCBA7307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CE377F-22D0-41E6-8AA3-F31480C3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30043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44933C-F208-44B9-97CD-35746319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CEE0A-35A6-45C1-A19C-A5EB9E85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242FB-8322-4D22-A511-BF43F8CE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D5B97-F6DA-4B64-B690-87D03464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client avance vite. BICEC garde le cadre.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E9583-28A5-4435-AEBD-A8E3B363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parcours montre une application web mobile accessible et un perimetre volontairement borne: CNI Cameroun d'abord, autres documents desactives tant qu'ils ne sont pas prouves.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EDCCB-5FAE-4E34-90C3-A84A6028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981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7b3e6df754232"/>
          <a:stretch xmlns:a="http://schemas.openxmlformats.org/drawingml/2006/main"/>
        </p:blipFill>
        <p:spPr>
          <a:xfrm xmlns:a="http://schemas.openxmlformats.org/drawingml/2006/main">
            <a:off x="972182" y="2857500"/>
            <a:ext cx="1408436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3CF3C-82C1-4B63-94E8-ABBC1359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28765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bf13fc8b44c8a"/>
          <a:srcRect xmlns:a="http://schemas.openxmlformats.org/drawingml/2006/main" l="0" t="18167" r="0" b="18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2743200"/>
            <a:ext cx="2686050" cy="3162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2F35B-CB02-4C56-8FCF-EAC3152F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3905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a8d9ac65846a7"/>
          <a:stretch xmlns:a="http://schemas.openxmlformats.org/drawingml/2006/main"/>
        </p:blipFill>
        <p:spPr>
          <a:xfrm xmlns:a="http://schemas.openxmlformats.org/drawingml/2006/main">
            <a:off x="8039213" y="2971800"/>
            <a:ext cx="1047524" cy="2266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3824B-28F4-4B58-9678-13BBBD8B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3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tu dis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88C52-2DC3-4467-82D1-03695DFE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38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923"/>
                </a:solidFill>
                <a:latin typeface="Aptos"/>
                <a:ea typeface="Aptos"/>
                <a:cs typeface="Aptos"/>
              </a:rPr>
              <a:t>Ici, le point fort n'est pas seulement que l'ecran existe. Le point fort est que BICEC peut cadrer ce qu'elle accepte de tester, avant d'elargir le perimetre.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C8BB7-B78F-4890-96A2-4F4F7439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Preuves internes: captures produit mobile et demo perimetre CNI, dossier marketing-presentation-bicec-2026-06-02/05_preuve_produit__*.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197F5-86FA-4292-8416-B0391FE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BBF94-0E4E-40FE-8668-644360FE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6A2C2-F5B3-4CE9-988D-4F050B6A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9132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077F2-805F-47B2-B392-12A788CB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11F73-03F8-46B5-9B52-155B8DF6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21BC2-EDE9-4713-BBAB-8BCC9F2B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207FC-6631-42DC-B0BA-21CF70A5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Jean ne recoit plus des fragments. Il recoit un dossier.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D4EE9-7D8C-4CF8-A85B-99D2E5F9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valeur operationnelle n'est pas de supprimer l'humain. C'est de lui donner un dossier lisible, priorise et defendable.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80C74-DB03-489A-8BC2-F3415099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191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c23b268ab4681"/>
          <a:stretch xmlns:a="http://schemas.openxmlformats.org/drawingml/2006/main"/>
        </p:blipFill>
        <p:spPr>
          <a:xfrm xmlns:a="http://schemas.openxmlformats.org/drawingml/2006/main">
            <a:off x="833967" y="2857500"/>
            <a:ext cx="3894667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E10A2-4C99-4041-B1A8-D697762A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4572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c478bff9a4f52"/>
          <a:srcRect xmlns:a="http://schemas.openxmlformats.org/drawingml/2006/main" l="0" t="34981" r="0" b="34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2628900"/>
            <a:ext cx="4381500" cy="2781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0684B-1896-4021-8109-71FA31E8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5785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189FC-CADF-4A7C-9F97-202053B4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72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Promesse metier: moins de ressaisie, plus de discernement, une decision que l'on peut expliquer.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44098-8AAB-4C3A-9293-56072B60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Preuves internes: espace agent Jean, file de validation, dossier approuve, parcours API de bout en bout approuve le 26/05/2026.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6311F-41D7-4AE1-8A00-8C33B3CA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3BE26-51D5-489D-BC3A-ADAF636C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35C8B-E3FF-48F0-8B65-FAF317D9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436599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563C20-9364-4043-A4F4-9EA3C3B6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470FB-43A4-4DDF-9645-E0A42C41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F6529-1F11-475B-AEED-4F01AB8D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PREUVE CONFORMITE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325BD-0F4A-4519-88E3-E8E49F3A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33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vitesse n'a pas le droit de contourner le risque.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6AD76-FE16-4050-B63A-72A7C4B5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La version fonctionnelle montre un garde-fou simple a comprendre: une alerte LCB-FT ouverte bloque l'approbation. C'est le bon message pour Thomas et pour l'audit.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2D455-45CB-4D31-BA21-7A0C429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2862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4f62893614d15"/>
          <a:srcRect xmlns:a="http://schemas.openxmlformats.org/drawingml/2006/main" l="0" t="34206" r="0" b="34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143250"/>
            <a:ext cx="409575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D904C-877A-46F6-BFF0-76D333B5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57500"/>
            <a:ext cx="4857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6268941de41bd"/>
          <a:srcRect xmlns:a="http://schemas.openxmlformats.org/drawingml/2006/main" l="0" t="34257" r="0" b="342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2952750"/>
            <a:ext cx="466725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AAAAD-C006-4752-93FF-F1B629F9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53100"/>
            <a:ext cx="927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2D504-4D1B-4DEA-BF60-D28B2EE2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674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 a dire: VeriPass vend la croissance avec controle, pas la vitesse contre la conformite.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963A7-6AE4-414D-AEF3-6CC7C549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91A4BA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91A4BA"/>
                </a:solidFill>
                <a:latin typeface="Aptos"/>
                <a:ea typeface="Aptos"/>
                <a:cs typeface="Aptos"/>
              </a:rPr>
              <a:t>Preuves internes: demo conformite LCB-FT du 28/05/2026, etapes 08 a 10; GAFI, Cameroun sous surveillance accrue, 13/02/2026.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B4824-8B48-4922-937C-6AE3E03E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D9F15-301B-4CB7-8CA8-7C5E2D8D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E95DC-45EA-4118-8C98-44D19D8C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23066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BFB46-C0CE-408E-8069-850B4627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28737-E18A-4F62-B6A4-6DD06810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90CEB-53BF-4B2D-B95C-1ADE9934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PILOTAGE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DB2F4-575C-4275-95AC-64D778C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Ce qui etait disperse devient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7BA0E-3C52-4AA7-9BB7-CAAE017B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Sylvie voit la charge. Thomas voit les alertes. L'audit peut reconstituer les decisions. C'est la difference entre une application et un dispositif bancaire.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BBDFF-A128-4D02-A522-50CE0FAD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191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280f7c8ff4133"/>
          <a:stretch xmlns:a="http://schemas.openxmlformats.org/drawingml/2006/main"/>
        </p:blipFill>
        <p:spPr>
          <a:xfrm xmlns:a="http://schemas.openxmlformats.org/drawingml/2006/main">
            <a:off x="781050" y="3015109"/>
            <a:ext cx="4000500" cy="225653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A47BD-F5FB-4B50-B641-6C8B0735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3200"/>
            <a:ext cx="4191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6573177824f1c"/>
          <a:srcRect xmlns:a="http://schemas.openxmlformats.org/drawingml/2006/main" l="0" t="3042" r="0" b="3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2838450"/>
            <a:ext cx="4000500" cy="2381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6BB78-4C37-45C0-9652-049F74AB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6F9C-197D-476E-8436-5B7B175E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004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3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302A"/>
                </a:solidFill>
                <a:latin typeface="Aptos"/>
                <a:ea typeface="Aptos"/>
                <a:cs typeface="Aptos"/>
              </a:rPr>
              <a:t>Risque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5E17F-14D8-4F17-A026-FAF252D3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338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3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07C92-4FA8-4826-9CAC-EF8168E9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052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B6B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6B1B"/>
                </a:solidFill>
                <a:latin typeface="Aptos"/>
                <a:ea typeface="Aptos"/>
                <a:cs typeface="Aptos"/>
              </a:rPr>
              <a:t>Charge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2EC88-9069-4711-81FA-15BD487D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386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BDA95-F4EF-40E7-A6AD-202E07C6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101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9B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9B97"/>
                </a:solidFill>
                <a:latin typeface="Aptos"/>
                <a:ea typeface="Aptos"/>
                <a:cs typeface="Aptos"/>
              </a:rPr>
              <a:t>Preuve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BEB4B-F94D-4362-9CA7-F174470B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Preuves internes: captures centre de pilotage, indicateurs, audit COBAC et rapport demo.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2504D-61E9-4218-8A2E-EC81E805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128C6-C9B9-4448-9426-82F6C9B7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A2392-8E60-424D-81FE-52F9D3E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46596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60671D-C9CD-4750-93DE-72FB1C55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D95B4-4DF8-4623-A366-C9B2A1A6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8A36C-0414-4CCD-9292-21E827D8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BETA INTERNE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D6137-C35D-407B-8AF3-4457A498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tunnel Cloudflare sert a apprendre, pas a pretendre etre en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C44C0-682C-4C11-84A3-7E727C56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Tant que ta machine reste connectee, les responsables peuvent tester l'application mobile et l'espace agents. C'est suffisant pour une phase d'essai encadree, pas pour un deploiement cible.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1D0A1-84ED-4E1B-9B10-41F2B24A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952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9185F-C4C6-40B8-BE33-67BA5F75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2C3B6-2ED7-491A-800C-30EF7899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Responsables BICEC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078BE-77E3-41E9-B0FD-40EC1A6D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tests internes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DA2E8-7BE2-49C5-B31B-75B270FD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C84BB-B94B-4657-BFD8-27192651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1952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48179-0D4C-40E0-BDD5-29CEFB5A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AA285-FB17-4C35-985B-610E89AC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Tunnel Cloudflare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68EC1-8F65-406E-826C-3B004ED5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38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acces controle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0C6E7-785B-44D0-A4DF-97FDD04B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905250"/>
            <a:ext cx="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4887C-EEC6-4070-9CEB-8C213ADD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1952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AFB56-DA3F-4DB2-80CA-83128AE4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9C5A5-8EAB-4C23-A1D2-4FA5219B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Version VeriPass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60776-6FF5-4CCB-A9E0-C626BAAA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mobile + espace agents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FC6EF-1403-4402-AB2B-7F60155B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05250"/>
            <a:ext cx="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5F20FB-8BB7-41FA-9EB1-F8A5B58D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1952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3F982-3B0C-412A-841D-55C1A0F8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6D1A1E-8576-4F7A-A454-00417971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Retours equipes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2F5B5-DC8C-443D-9806-66EFD690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38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risques, parcours, indicateurs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BA727-5491-411D-B3D6-660960A3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19700"/>
            <a:ext cx="8524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DA5470-876A-4FFC-A463-987272B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 que l'on demande: ouvrir l'usage a quelques referents, observer, corriger, puis decider sur preuves.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E80464-D7BF-444F-A6FF-95248B77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C3050-6847-4C09-B97C-413EFF3E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2CF50F-1953-408C-A111-12EF8728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46417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9D2664-F68C-4063-9432-53270B96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079EB-205B-435F-86B8-F0D744EE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273AF-B00A-4B53-A68F-82946FFC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AF892-B66A-46BB-85A0-25630679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Transformer la version fonctionnelle en dispositif bancaire eprouve.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0AE98-8DE4-44E3-AB92-DA9C87C1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La suite ne doit pas etre une liste de fonctionnalites. Elle doit etre une validation croisee: metier, conformite, SI, operations et donnees.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4E826-25B2-4BEC-A067-D9EDBF84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B0010-8B4E-40AD-A36A-E8380B5A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12A5B-47A5-4D41-B17F-CC12B7E4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503D0-3758-4EA8-A55E-73E9E026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62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A3D86-FB23-4D8F-8009-636DE0A9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7A1A-A27D-4581-B758-3E18C246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scenarios reels, irritants agence, parcours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605B1-868D-413D-A4E1-89F74D95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B2265-A797-43EB-A206-84429533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DB2BB-4DFE-49D0-9ED4-7A43F778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90DCC-F49F-48CC-886A-A14BD8BA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55F80-6B58-4040-A04A-F1E5E795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Conformite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0E950-5DC3-4A7F-AA95-A39ECF6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LCB-FT, conservation, preuves,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2BE31-2BC2-4495-BE92-9B6D7EFB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A5CA9-2132-4052-84E7-28BA0727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993A7-BA5A-47D7-9947-D3B3101C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5DB08A-2FD7-4AA2-9619-9FA00932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62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8D06B-CD60-40DE-B970-E888A0CD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 / Securite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0E76D-5CB5-4F22-B10B-A5F6D4E0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durcissement, acces, hebergement cible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703C8-33B7-4DFB-8780-1CC1435C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FA8C34-5FB2-48BE-93C2-35381DC5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C8E2F-F53D-4D44-926B-519BE696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75128-5264-4F1B-AE10-E50B58CA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776B2-1108-4CB8-B049-1F7BAEA4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93032-B19C-4AD5-9984-CD87FB5E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864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files, delais cibles, roles, appui, procedures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B97538-403C-4A10-9FE6-1E2450C4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8630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B2679-A50E-48B3-91BA-7AF6E1F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8630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CC41ED-1E66-4CAC-BD44-2C139F55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768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50479-A180-474D-A813-15F96ACA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4347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932DA7-544B-4BF0-85E8-9B9B7CE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00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Donnees / valeur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2E4A4B-4471-4781-A6D5-283BCE1E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864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etat initial, indicateurs pilote, cout par dossier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970C68-3EC5-41B2-AA4C-574F9B11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AC7D5A-822A-48BF-8A40-D153BFAF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339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Sortie attendue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CC5E8D-81E9-456D-8C52-F6C56A79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continuer / arreter / refondre / acheter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FE760A-8226-4DDE-AD86-A78E59A7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10ED73-03F2-40A6-B894-00FF412A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EE7D4A-E80F-43F2-A010-2909E2D9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22942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65CDB-CC03-4A28-8C89-5D3E6121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7E542-4A67-40EA-B9BC-A15FEB06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A9C25-303F-4EE7-91B0-EB827736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DOSSIER ECONOMIQUE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E0CAE-8AE7-4D3F-84F7-ABFB1791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Ne pas maquiller les gains. Les mesurer.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EB46A-D970-4D35-AAD2-33EE378E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retour sur investissement ne vient pas d'un chiffre invente. Il vient d'un pilote qui mesure les variables BICEC.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21370-95EB-4BFE-B879-5F78F723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5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7F499-BFB3-498D-916B-60B9FD02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410B5-D057-44C4-ABCE-BBDA8665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Reprises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630E1-D29E-46C8-BF4C-47018E16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C3041-942D-4DCE-8828-19501592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92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1923"/>
                </a:solidFill>
                <a:latin typeface="Aptos"/>
                <a:ea typeface="Aptos"/>
                <a:cs typeface="Aptos"/>
              </a:rPr>
              <a:t>dossiers/mois x minutes economisees x cout horaire / 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44E5F-4BAD-4221-9189-032D10F0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5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18556-7376-4A96-9771-EE8BDC18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4D0DC-16EF-4415-809D-4F91E65F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Transformation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32394-C28C-46FB-854F-101B25F8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719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F70C0-1CA1-43EA-894C-B66B78E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92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1923"/>
                </a:solidFill>
                <a:latin typeface="Aptos"/>
                <a:ea typeface="Aptos"/>
                <a:cs typeface="Aptos"/>
              </a:rPr>
              <a:t>clients potentiels convertis x valeur moyenne client actif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7156C-7154-438A-AD03-D412664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5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9C431-A37D-4705-95C8-EE3BD21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1ADDE-51BF-4F36-8071-EFCE5DAA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Conformite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4D3C3-D086-432D-A927-31BC326C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910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B1745-65CA-4689-BED4-0656BFBE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92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1923"/>
                </a:solidFill>
                <a:latin typeface="Aptos"/>
                <a:ea typeface="Aptos"/>
                <a:cs typeface="Aptos"/>
              </a:rPr>
              <a:t>dossiers incomplets evites x cout de reprise ou incident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06F36-C1C9-41AB-89A8-D39E9FA4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E9E68-46B5-47A5-B82F-06002297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04900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Phrase a dire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B37C3-F0D4-4E65-A787-DDE89C74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52550"/>
            <a:ext cx="1790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Je ne veux pas maquiller le dossier economique. Le pilote sert justement a mesurer ces variables avec les chiffres BICEC.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6B8A4-6CE6-43EB-AD77-040F0DA1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Repere prudent: Fenergo 2025 signale que 70% des institutions interrogees ont perdu des clients a cause d'une entree en relation lente; a ne pas traiter comme chiffre BICEC.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D9F229-ED70-40E8-9535-014B3385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2169F9-ECB6-4961-A5E7-1C8D9BA2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AD63D-3F02-4B8B-A086-3E4F7168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62880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9EBF2A-A0E4-4F5F-AD29-328DE1A5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EE389-A206-4E07-B04F-0035F5EB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961AF-49C8-413E-903B-34B66AA4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8EA3A-2CCB-46E8-B156-2AAD5CF5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17cf2d1854c15"/>
          <a:stretch xmlns:a="http://schemas.openxmlformats.org/drawingml/2006/main"/>
        </p:blipFill>
        <p:spPr>
          <a:xfrm xmlns:a="http://schemas.openxmlformats.org/drawingml/2006/main">
            <a:off x="876300" y="4572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DC273-D8F0-4543-A235-88BBFCD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52998-7F23-4DBF-AE10-9E57FA2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90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EF8EE-73FF-409D-8B1B-FA0803E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430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00272-99B9-44C3-8E4D-83032594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Donnez a BICEC le droit de mesurer son avance.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3F309-6EE6-437B-8740-8A3AE1A1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La demande n'est pas un deploiement national. La demande est une phase d'essai interne portee, mesuree et encadree.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CC2A1-0693-46CA-988B-B9626DA2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88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24A70-8777-4E8D-A4BB-B3734F39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F35C1-7D1F-4170-8630-BC8CB963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3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30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63063-E8F5-47B4-A774-B18A7CD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Nommer un porteur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A94A2-D438-4BEB-BAFB-9EF5E479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9C6D8"/>
                </a:solidFill>
                <a:latin typeface="Aptos"/>
                <a:ea typeface="Aptos"/>
                <a:cs typeface="Aptos"/>
              </a:rPr>
              <a:t>metier + conformite + 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C68E4-2058-4DD5-A6F3-9C2459D8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188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6C059-CB6C-4940-A09E-2F5AF29B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799E3-446F-4EDF-A2A1-24940E47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005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95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952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32912-FC89-4595-B163-14167ABB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05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Autoriser l'essai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6CD0D-7122-4C59-BDDA-DF73FEE3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10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9C6D8"/>
                </a:solidFill>
                <a:latin typeface="Aptos"/>
                <a:ea typeface="Aptos"/>
                <a:cs typeface="Aptos"/>
              </a:rPr>
              <a:t>acces encadre a la 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E79CF-3CA0-45EC-A8F5-1768CFC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88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9964E-D3A7-4BF0-A9A0-24F39BEF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368B4-5C05-4946-AF35-3893CDD2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005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9B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9B9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F1AAB-FA9A-480D-B952-54072AF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05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Mesurer l'etat initial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DB4EC-99A3-4A19-9079-236AD25D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9C6D8"/>
                </a:solidFill>
                <a:latin typeface="Aptos"/>
                <a:ea typeface="Aptos"/>
                <a:cs typeface="Aptos"/>
              </a:rPr>
              <a:t>delais, reprises, abandon, cout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587D11-590E-4A57-B92E-0287FA20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188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FFB52-838A-4800-90B5-2C415CDA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A0A309-23C4-43EF-85C0-30DF8F32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005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4F5513-901E-477C-A5FF-38D70E51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Decider sur faits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A91D69-F28B-4300-A79F-00236988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9C6D8"/>
                </a:solidFill>
                <a:latin typeface="Aptos"/>
                <a:ea typeface="Aptos"/>
                <a:cs typeface="Aptos"/>
              </a:rPr>
              <a:t>continuer / arreter / phase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A3514-76E9-42F5-9341-4064B65F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573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7DD36-4161-47B2-B823-FAD4D526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Fermeture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314C0B-CF88-433E-9DB7-B5B4076A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N'achetez pas une promesse.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45C704-7838-4BDD-BC02-8B523400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Achetez la capacite de tester avant que la porte client soit prise ailleurs.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52E22A-8F41-45E6-9FEF-C18516A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CD449E-5F2C-4FCF-9BFA-184982D9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53DB9E-6BA3-44D8-9DDF-CF23D6DF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943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2026-06-03T10:46:14.3080000Z</dcterms:created>
  <dcterms:modified xsi:type="dcterms:W3CDTF">2026-06-03T10:46:14.3080000Z</dcterms:modified>
</coreProperties>
</file>