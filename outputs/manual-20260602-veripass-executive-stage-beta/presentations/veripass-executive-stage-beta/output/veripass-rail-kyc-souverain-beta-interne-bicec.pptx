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b6508e6b1a4358" /><Relationship Type="http://schemas.openxmlformats.org/officeDocument/2006/relationships/extended-properties" Target="/docProps/app.xml" Id="R6b54a1ed5ac342ab" /><Relationship Type="http://schemas.openxmlformats.org/officeDocument/2006/relationships/officeDocument" Target="/ppt/presentation.xml" Id="R16c16b7f78a548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f0c407efb24a97"/>
  </p:sldMasterIdLst>
  <p:notesMasterIdLst>
    <p:notesMasterId xmlns:r="http://schemas.openxmlformats.org/officeDocument/2006/relationships" r:id="R380d18e31e8041e0"/>
  </p:notesMasterIdLst>
  <p:sldIdLst>
    <p:sldId xmlns:r="http://schemas.openxmlformats.org/officeDocument/2006/relationships" id="256" r:id="R25e3d1d825ff49ad"/>
    <p:sldId xmlns:r="http://schemas.openxmlformats.org/officeDocument/2006/relationships" id="257" r:id="Rf5eedbb2c04445a3"/>
    <p:sldId xmlns:r="http://schemas.openxmlformats.org/officeDocument/2006/relationships" id="258" r:id="R710de2b83e88455a"/>
    <p:sldId xmlns:r="http://schemas.openxmlformats.org/officeDocument/2006/relationships" id="259" r:id="R4a4cb4a8ec8148b1"/>
    <p:sldId xmlns:r="http://schemas.openxmlformats.org/officeDocument/2006/relationships" id="260" r:id="Rcaa844ed7b194417"/>
    <p:sldId xmlns:r="http://schemas.openxmlformats.org/officeDocument/2006/relationships" id="261" r:id="R3768d0af6de045c7"/>
    <p:sldId xmlns:r="http://schemas.openxmlformats.org/officeDocument/2006/relationships" id="262" r:id="R376c65a42a804cd6"/>
    <p:sldId xmlns:r="http://schemas.openxmlformats.org/officeDocument/2006/relationships" id="263" r:id="Rdae0ff43127b4e4d"/>
    <p:sldId xmlns:r="http://schemas.openxmlformats.org/officeDocument/2006/relationships" id="264" r:id="Rfb14c88b407c486e"/>
    <p:sldId xmlns:r="http://schemas.openxmlformats.org/officeDocument/2006/relationships" id="265" r:id="R65beda62a4164e3b"/>
    <p:sldId xmlns:r="http://schemas.openxmlformats.org/officeDocument/2006/relationships" id="266" r:id="R6a53df02f4254678"/>
    <p:sldId xmlns:r="http://schemas.openxmlformats.org/officeDocument/2006/relationships" id="267" r:id="R076728a6b43040e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dc86c879f4404c" /><Relationship Type="http://schemas.openxmlformats.org/officeDocument/2006/relationships/slideMaster" Target="/ppt/slideMasters/slideMaster1.xml" Id="R2ef0c407efb24a97" /><Relationship Type="http://schemas.openxmlformats.org/officeDocument/2006/relationships/notesMaster" Target="/ppt/notesMasters/notesMaster1.xml" Id="R380d18e31e8041e0" /><Relationship Type="http://schemas.openxmlformats.org/officeDocument/2006/relationships/presProps" Target="/ppt/presProps.xml" Id="R40134f09a55d4422" /><Relationship Type="http://schemas.openxmlformats.org/officeDocument/2006/relationships/viewProps" Target="/ppt/viewProps.xml" Id="R341180c0d3394430" /><Relationship Type="http://schemas.openxmlformats.org/officeDocument/2006/relationships/tableStyles" Target="/ppt/tableStyles.xml" Id="R55fc45da9f184c94" /><Relationship Type="http://schemas.openxmlformats.org/officeDocument/2006/relationships/slide" Target="/ppt/slides/slide1.xml" Id="R25e3d1d825ff49ad" /><Relationship Type="http://schemas.openxmlformats.org/officeDocument/2006/relationships/slide" Target="/ppt/slides/slide2.xml" Id="Rf5eedbb2c04445a3" /><Relationship Type="http://schemas.openxmlformats.org/officeDocument/2006/relationships/slide" Target="/ppt/slides/slide3.xml" Id="R710de2b83e88455a" /><Relationship Type="http://schemas.openxmlformats.org/officeDocument/2006/relationships/slide" Target="/ppt/slides/slide4.xml" Id="R4a4cb4a8ec8148b1" /><Relationship Type="http://schemas.openxmlformats.org/officeDocument/2006/relationships/slide" Target="/ppt/slides/slide5.xml" Id="Rcaa844ed7b194417" /><Relationship Type="http://schemas.openxmlformats.org/officeDocument/2006/relationships/slide" Target="/ppt/slides/slide6.xml" Id="R3768d0af6de045c7" /><Relationship Type="http://schemas.openxmlformats.org/officeDocument/2006/relationships/slide" Target="/ppt/slides/slide7.xml" Id="R376c65a42a804cd6" /><Relationship Type="http://schemas.openxmlformats.org/officeDocument/2006/relationships/slide" Target="/ppt/slides/slide8.xml" Id="Rdae0ff43127b4e4d" /><Relationship Type="http://schemas.openxmlformats.org/officeDocument/2006/relationships/slide" Target="/ppt/slides/slide9.xml" Id="Rfb14c88b407c486e" /><Relationship Type="http://schemas.openxmlformats.org/officeDocument/2006/relationships/slide" Target="/ppt/slides/slide10.xml" Id="R65beda62a4164e3b" /><Relationship Type="http://schemas.openxmlformats.org/officeDocument/2006/relationships/slide" Target="/ppt/slides/slide11.xml" Id="R6a53df02f4254678" /><Relationship Type="http://schemas.openxmlformats.org/officeDocument/2006/relationships/slide" Target="/ppt/slides/slide12.xml" Id="R076728a6b43040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531da575784f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99b3fcd3ee49be" /><Relationship Type="http://schemas.openxmlformats.org/officeDocument/2006/relationships/notesMaster" Target="/ppt/notesMasters/notesMaster1.xml" Id="R1a7e3aa046194a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6515b7a49e48b8" /><Relationship Type="http://schemas.openxmlformats.org/officeDocument/2006/relationships/notesMaster" Target="/ppt/notesMasters/notesMaster1.xml" Id="R739bbc9d776b4e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b9537290b1495c" /><Relationship Type="http://schemas.openxmlformats.org/officeDocument/2006/relationships/notesMaster" Target="/ppt/notesMasters/notesMaster1.xml" Id="R72650bb0045744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8e7c87db5a45a1" /><Relationship Type="http://schemas.openxmlformats.org/officeDocument/2006/relationships/notesMaster" Target="/ppt/notesMasters/notesMaster1.xml" Id="R990b6537d58445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cf88a7940e43da" /><Relationship Type="http://schemas.openxmlformats.org/officeDocument/2006/relationships/notesMaster" Target="/ppt/notesMasters/notesMaster1.xml" Id="R2e731f5a96b348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1c1753117b4196" /><Relationship Type="http://schemas.openxmlformats.org/officeDocument/2006/relationships/notesMaster" Target="/ppt/notesMasters/notesMaster1.xml" Id="Rb50ea1f886f441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2ec0159c224a13" /><Relationship Type="http://schemas.openxmlformats.org/officeDocument/2006/relationships/notesMaster" Target="/ppt/notesMasters/notesMaster1.xml" Id="R2a023ad157fe48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9fa3615ab84f02" /><Relationship Type="http://schemas.openxmlformats.org/officeDocument/2006/relationships/notesMaster" Target="/ppt/notesMasters/notesMaster1.xml" Id="R5b7b029bf40c4a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dbf33526874cdf" /><Relationship Type="http://schemas.openxmlformats.org/officeDocument/2006/relationships/notesMaster" Target="/ppt/notesMasters/notesMaster1.xml" Id="R4183b6e499684ba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254e4e6a2964fd5" /><Relationship Type="http://schemas.openxmlformats.org/officeDocument/2006/relationships/notesMaster" Target="/ppt/notesMasters/notesMaster1.xml" Id="R26940b6345fb4b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219910fcdc4b74" /><Relationship Type="http://schemas.openxmlformats.org/officeDocument/2006/relationships/notesMaster" Target="/ppt/notesMasters/notesMaster1.xml" Id="R6ef258c569f342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fff884ccc9e49f9" /><Relationship Type="http://schemas.openxmlformats.org/officeDocument/2006/relationships/notesMaster" Target="/ppt/notesMasters/notesMaster1.xml" Id="R790d266f6b0043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df9813572e4f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f2be03d27c4eb0" /><Relationship Type="http://schemas.openxmlformats.org/officeDocument/2006/relationships/slideLayout" Target="/ppt/slideLayouts/slideLayout1.xml" Id="Re374e2ab1fd74d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74e2ab1fd74d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7d6ed45eb4f9b" /><Relationship Type="http://schemas.openxmlformats.org/officeDocument/2006/relationships/image" Target="/ppt/media/image.jpeg" Id="Rea90048ac94f4eb9" /><Relationship Type="http://schemas.openxmlformats.org/officeDocument/2006/relationships/image" Target="/ppt/media/image.png" Id="Rb196b601c9d54d9a" /><Relationship Type="http://schemas.openxmlformats.org/officeDocument/2006/relationships/image" Target="/ppt/media/image2.png" Id="R7bd6565fed74483f" /><Relationship Type="http://schemas.openxmlformats.org/officeDocument/2006/relationships/notesSlide" Target="/ppt/notesSlides/notesSlide1.xml" Id="Rd0570bb72bd24d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fed0a7b49402e" /><Relationship Type="http://schemas.openxmlformats.org/officeDocument/2006/relationships/notesSlide" Target="/ppt/notesSlides/notesSlide2.xml" Id="R902fa04af7a742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fc61e273243b7" /><Relationship Type="http://schemas.openxmlformats.org/officeDocument/2006/relationships/notesSlide" Target="/ppt/notesSlides/notesSlide3.xml" Id="R8d721da147d845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7c60c57ba41f0" /><Relationship Type="http://schemas.openxmlformats.org/officeDocument/2006/relationships/notesSlide" Target="/ppt/notesSlides/notesSlide4.xml" Id="R494b7630fda34c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f4bcb929bc4759" /><Relationship Type="http://schemas.openxmlformats.org/officeDocument/2006/relationships/image" Target="/ppt/media/image3.png" Id="R4d3ceae449a040a8" /><Relationship Type="http://schemas.openxmlformats.org/officeDocument/2006/relationships/image" Target="/ppt/media/image4.png" Id="R357b62b14c0a4de1" /><Relationship Type="http://schemas.openxmlformats.org/officeDocument/2006/relationships/image" Target="/ppt/media/image5.png" Id="R785a68b951f44f1e" /><Relationship Type="http://schemas.openxmlformats.org/officeDocument/2006/relationships/notesSlide" Target="/ppt/notesSlides/notesSlide5.xml" Id="R6192ad2f60fb4f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3fee2fb9d4138" /><Relationship Type="http://schemas.openxmlformats.org/officeDocument/2006/relationships/image" Target="/ppt/media/image6.png" Id="Rad8c4430c9f54222" /><Relationship Type="http://schemas.openxmlformats.org/officeDocument/2006/relationships/image" Target="/ppt/media/image7.png" Id="Re9d75d10943f426f" /><Relationship Type="http://schemas.openxmlformats.org/officeDocument/2006/relationships/notesSlide" Target="/ppt/notesSlides/notesSlide6.xml" Id="R0422a134098040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0532162a1470b" /><Relationship Type="http://schemas.openxmlformats.org/officeDocument/2006/relationships/image" Target="/ppt/media/image8.png" Id="Rc1dc9259db5e4103" /><Relationship Type="http://schemas.openxmlformats.org/officeDocument/2006/relationships/image" Target="/ppt/media/image9.png" Id="R147f441fb43a43d2" /><Relationship Type="http://schemas.openxmlformats.org/officeDocument/2006/relationships/notesSlide" Target="/ppt/notesSlides/notesSlide7.xml" Id="Rd6f02e80016a44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423959ed04063" /><Relationship Type="http://schemas.openxmlformats.org/officeDocument/2006/relationships/image" Target="/ppt/media/image10.png" Id="R70df48d0e65647f7" /><Relationship Type="http://schemas.openxmlformats.org/officeDocument/2006/relationships/image" Target="/ppt/media/image11.png" Id="R1db16a90469e4544" /><Relationship Type="http://schemas.openxmlformats.org/officeDocument/2006/relationships/notesSlide" Target="/ppt/notesSlides/notesSlide8.xml" Id="Rcdcca48570c54f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7d839a098442b" /><Relationship Type="http://schemas.openxmlformats.org/officeDocument/2006/relationships/notesSlide" Target="/ppt/notesSlides/notesSlide9.xml" Id="R85ce4ffc40b8414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58018593c4043" /><Relationship Type="http://schemas.openxmlformats.org/officeDocument/2006/relationships/notesSlide" Target="/ppt/notesSlides/notesSlide10.xml" Id="Ra661e6e4a60f433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17015c6bb4d71" /><Relationship Type="http://schemas.openxmlformats.org/officeDocument/2006/relationships/notesSlide" Target="/ppt/notesSlides/notesSlide11.xml" Id="R5e8026cee19d49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9482ea5094562" /><Relationship Type="http://schemas.openxmlformats.org/officeDocument/2006/relationships/image" Target="/ppt/media/image2.jpeg" Id="R3c0d06d5b9c44b8c" /><Relationship Type="http://schemas.openxmlformats.org/officeDocument/2006/relationships/notesSlide" Target="/ppt/notesSlides/notesSlide12.xml" Id="R67df5537d3c5496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C2E840-807D-4E72-B31D-C752EC34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45FDA2-01CE-4683-9696-A81A810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ED94B-DAB2-4B28-A0B0-FAA23CF2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9883CE-0153-4CB4-B44E-777B1BCC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"/>
            <a:ext cx="47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0048ac94f4eb9"/>
          <a:stretch xmlns:a="http://schemas.openxmlformats.org/drawingml/2006/main"/>
        </p:blipFill>
        <p:spPr>
          <a:xfrm xmlns:a="http://schemas.openxmlformats.org/drawingml/2006/main">
            <a:off x="876300" y="457200"/>
            <a:ext cx="438150" cy="438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76D43-4290-43DB-AFDD-89094479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524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VeriPass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0E9A7-8593-4479-8EC0-269151F5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001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FB0C6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FB0C6"/>
                </a:solidFill>
                <a:latin typeface="Aptos"/>
                <a:ea typeface="Aptos"/>
                <a:cs typeface="Aptos"/>
              </a:rPr>
              <a:t>SOUTENANCE STAGE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48589-B4B9-4D76-9014-EFF17984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85900"/>
            <a:ext cx="5905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VeriPass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87F267-F2DB-410A-A26C-8081F108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6762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 rail KYC que BICEC peut tester maintenant.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AC2B31-F4D3-4384-AE63-E9375318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581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CE6F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CE6F2"/>
                </a:solidFill>
                <a:latin typeface="Aptos"/>
                <a:ea typeface="Aptos"/>
                <a:cs typeface="Aptos"/>
              </a:rPr>
              <a:t>Un MVP fonctionnel pour transformer l'identite client en dossier bancaire controle, auditable et mesurable.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5AE909-3D66-42E1-9743-CF4C0B2C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FB456-4DAD-431F-8876-207B0B5F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FB0C6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FB0C6"/>
                </a:solidFill>
                <a:latin typeface="Aptos"/>
                <a:ea typeface="Aptos"/>
                <a:cs typeface="Aptos"/>
              </a:rPr>
              <a:t>Phrase d'ouverture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5E1BEB-87FE-4678-A585-A6AD2494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05450"/>
            <a:ext cx="647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Je ne viens pas vous montrer du code. Je viens vous montrer une porte d'entree client que la banque peut reprendre en main.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0B6EE8-D900-48F0-A360-D9D1BD23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762000"/>
            <a:ext cx="31432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6"/>
          </a:solidFill>
          <a:ln xmlns:a="http://schemas.openxmlformats.org/drawingml/2006/main" w="9525">
            <a:solidFill>
              <a:srgbClr val="30405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685AC-9A0D-4101-A5DA-B9B13E79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971550"/>
            <a:ext cx="17526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96b601c9d54d9a"/>
          <a:stretch xmlns:a="http://schemas.openxmlformats.org/drawingml/2006/main"/>
        </p:blipFill>
        <p:spPr>
          <a:xfrm xmlns:a="http://schemas.openxmlformats.org/drawingml/2006/main">
            <a:off x="8129954" y="1066800"/>
            <a:ext cx="1494692" cy="32385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9DCD76-9854-40F9-9286-78EB99D8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52550"/>
            <a:ext cx="21907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6565fed74483f"/>
          <a:srcRect xmlns:a="http://schemas.openxmlformats.org/drawingml/2006/main" l="0" t="8798" r="0" b="87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53550" y="1447800"/>
            <a:ext cx="2000250" cy="30480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8BFCE3-90A0-468D-9ACA-57ACA4FA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95875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CEF8DC-75D0-44A8-B418-F6EA3B6A1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19700"/>
            <a:ext cx="2762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Preuve visible: le MVP se lance, se teste et se montre.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457951-D213-4E59-ACDF-6A48AFF3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8B222D-6DAD-42B5-8659-3F83E5F0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8FA1B8"/>
                </a:solidFill>
                <a:latin typeface="Aptos"/>
                <a:ea typeface="Aptos"/>
                <a:cs typeface="Aptos"/>
              </a:rPr>
              <a:t>VeriPass - support executif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3B3718-7148-4F4A-9882-42936DDD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FA1B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171274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354AB5-6624-41BA-90C5-DC4FBA38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1F44BA-7D8C-42BC-8B34-8A26ABC9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751979-AFF6-4E8B-B7C7-B1216A42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POURQUOI MAINTENANT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B2C75-E58C-4405-8794-AC1F8BD7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144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Le marche est deja mobile. La question est: qui controle l'entree bancaire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AC77B-D35E-4EFB-909A-911070C2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809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BICEC a deja une presence digitale avec BI PAY. VeriPass adresse le maillon qui precede tout le reste: prouver, verifier, puis decider.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52620-1444-4FC9-9ED2-9BC12ECF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F66AF8-F0C9-461D-9583-5C7FF43D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2305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65,10%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CD04F-D5AF-4ADC-9E9D-7386B797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2247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du volume des paiements CEMAC concentre au Cameroun selon la BEAC 2024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010BC8-9C25-451D-9F46-F792F0D0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432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82B47-BCE6-438B-9642-B9AA100C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1051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94,34%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5DE7D-C3AE-4296-8A0A-64B41041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43300"/>
            <a:ext cx="2343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des operations CEMAC sont en monnaie electronique selon la BEAC 2024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B1172A-9696-47A2-BA75-C24A006E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432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6EAB94-E2A7-4523-BE8A-3AF3A309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05150"/>
            <a:ext cx="2305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2T$+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F16922-41A2-4B3B-8E18-04C83EAB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43300"/>
            <a:ext cx="2247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ont transite par les wallets mobile money dans le monde en 2025 selon la GSMA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64220-D830-4FBD-8A92-B78C9BA5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914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672769-76D2-4EFB-8C19-FE136A5B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24450"/>
            <a:ext cx="847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Message a dire: les clients apprennent deja a commencer par le mobile; la banque doit garder la preuve avant la promesse.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DB9DE-1472-441D-997B-C88BE186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57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Sources: BEAC, Rapport sur les services de paiement dans la CEMAC 2024; GSMA, State of the Industry Report on Mobile Money 2026; BICEC, page BI PAY.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B83531-3F7F-42CE-95BF-7FF65643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A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1D1061-1EC7-4FBB-932A-3999844E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21EE28-AAAE-4720-97D4-BD41CF4F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B6F6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876447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65928B-2F3A-4759-B464-A3F7E738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BC36CD-9697-4EC2-9D3D-AF611A2F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56E252-0A7E-4211-B992-D0B8B4E8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1D6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1D6"/>
                </a:solidFill>
                <a:latin typeface="Aptos"/>
                <a:ea typeface="Aptos"/>
                <a:cs typeface="Aptos"/>
              </a:rPr>
              <a:t>LA FRICTION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B89EF-D298-435F-9126-6523FACA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7810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Un dossier KYC fragile coute plus cher qu'un parcours lent.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81C26-4112-49D1-AD17-4154D945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723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6F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6F2"/>
                </a:solidFill>
                <a:latin typeface="Aptos"/>
                <a:ea typeface="Aptos"/>
                <a:cs typeface="Aptos"/>
              </a:rPr>
              <a:t>Le probleme n'est pas de numeriser un formulaire. Le probleme est de transformer des pieces, des controles et des decisions en preuve exploitable.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38D2F-0D76-4C7C-8CC4-33DE4E29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08A4B-540F-4CE7-83FF-243038D8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695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203BF7-86B5-4F76-8C46-B1078B72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90385D-1294-4F13-AF35-0C967CCF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deplacement, pieces, relance, attente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05468-004B-46DD-A8AD-252AD690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16230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CD6F01-9962-44EE-B55D-8C4FDE25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162300"/>
            <a:ext cx="1695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5E58C2-2464-47B8-A16E-AFD6F01E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44805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Agence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FA44A4-56CB-414E-BA49-A9E926E5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481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dossier incomplet, ressaisie, suivi manuel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DFDAF6-B3B6-49D6-9F4D-28FA8289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6230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3FBF3C-711A-41A3-9741-08D42220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62300"/>
            <a:ext cx="1695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D0653E-CC2E-41BF-95E7-3ECCD876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44805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Back-office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70E788-CBCC-48CB-A6B5-212081F5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8481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file confuse, exceptions tardives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3506BF-951E-4AAE-A0E2-E7E0C32A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6230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73ECC2-CDA0-4AFB-9B2B-7B355C1F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62300"/>
            <a:ext cx="1695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7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8F1024-25CD-4062-9DDC-D6D1870A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4805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Conformite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A5BDB4-A19C-4437-B5E2-D9F939FD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8481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alerte a traiter avant approbation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B324D-249E-405E-A0B3-494D5B5B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6230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6D2859-A042-4143-94C3-252AD06B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62300"/>
            <a:ext cx="1695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460D22-36BB-4A25-B430-E50A6372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48050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Audit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F7E1C4-6285-45D3-AF95-AB9668DF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481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reconstituer qui a decide quoi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BA8B8-A5E6-48F9-B34A-BFA5016A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00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40DD49-C5BC-462C-BC51-F3327097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33950"/>
            <a:ext cx="7067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E7EEF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E7EEF7"/>
                </a:solidFill>
                <a:latin typeface="Aptos"/>
                <a:ea typeface="Aptos"/>
                <a:cs typeface="Aptos"/>
              </a:rPr>
              <a:t>La banque ne peut pas choisir entre vitesse et controle.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A1EEB3-A69F-4C40-A6E2-64B05209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625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79DA05-EDF7-4325-B778-67841438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95900"/>
            <a:ext cx="7067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E7EEF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E7EEF7"/>
                </a:solidFill>
                <a:latin typeface="Aptos"/>
                <a:ea typeface="Aptos"/>
                <a:cs typeface="Aptos"/>
              </a:rPr>
              <a:t>Elle doit rendre les deux visibles avant la decision humaine.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C2B1E2-A661-4208-819D-2B26DB52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838700"/>
            <a:ext cx="1790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6"/>
          </a:solidFill>
          <a:ln xmlns:a="http://schemas.openxmlformats.org/drawingml/2006/main" w="9525">
            <a:solidFill>
              <a:srgbClr val="30405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747CBB-6AC7-4830-9CE2-E6777C6E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0292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9FB0C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FB0C6"/>
                </a:solidFill>
                <a:latin typeface="Aptos"/>
                <a:ea typeface="Aptos"/>
                <a:cs typeface="Aptos"/>
              </a:rPr>
              <a:t>Ce que VeriPass change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ED6DFF-6BBB-4C55-8989-AE2FB492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29590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 dossier devient une preuve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C3CC57-D04A-4A22-882A-CF608A0D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914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91A4BA"/>
                </a:solidFill>
                <a:latin typeface="Aptos"/>
                <a:ea typeface="Aptos"/>
                <a:cs typeface="Aptos"/>
              </a:defRPr>
            </a:pPr>
            <a:r>
              <a:rPr sz="578" b="0">
                <a:solidFill>
                  <a:srgbClr val="91A4BA"/>
                </a:solidFill>
                <a:latin typeface="Aptos"/>
                <a:ea typeface="Aptos"/>
                <a:cs typeface="Aptos"/>
              </a:rPr>
              <a:t>Sources: BICEC, pieces d'ouverture compte cheque; World Bank ID4D Cameroon; FATF, increased monitoring, 13 fevrier 2026.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9EFB63-70A9-4231-A894-886A2EF6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8EA133-A520-4016-8C3F-75A5D7B9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8FA1B8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8DA2C9-81D5-4663-9F0C-1462E12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FA1B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553179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75679B-3D88-438E-AB86-5C5113E4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57914-B6A6-4AD1-B9A5-AF90EAD7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7B9AE8-13B0-46B0-9247-AF6FB3E2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CE QUI A ETE LIVRE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D98B1-4960-40EB-BFCF-CFC05FBE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096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Le stage a transforme une intuition en MVP bancaire testable.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54617-8D8B-4F9F-A315-772485BE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43100"/>
            <a:ext cx="7620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Pas une promesse de production. Une preuve fonctionnelle qui permet de tester, corriger et decider avec les equipes.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A86AB-FFD1-4478-A167-AD4E7519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1714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DF0077-380E-46A1-B55E-4B69D313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A8801B-2894-4966-AB6D-B315163C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3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302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393133-724F-4AFE-9391-A1ACFE13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Client mobile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54D56B-6712-4B4F-8053-82A8AB8E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1371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OTP, CNI, OCR, liveness, consentement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A0C8D-3BFB-4801-B92E-350EAA82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52850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E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77F90E-240A-4E5C-AA26-EBF5C028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43250"/>
            <a:ext cx="1714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24B91C-8FBB-4A77-83F6-EAF5FFAF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4325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46598-182E-43C3-8CB9-502E6FDF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37185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952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6952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2C97B0-5348-4646-9547-B47B4584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6766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Dossier structure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772A5A-530C-4435-A98A-1D092AC6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000500"/>
            <a:ext cx="1371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preuves, statuts, documents, historique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292B8D-C593-498E-985A-C6562AB4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52850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E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ED9455-0136-4321-8BDE-600C4DAA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43250"/>
            <a:ext cx="1714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70681A-0A99-4AB8-854F-7DD7E678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4325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31D6E2-AD42-4CE8-B6A1-342A151D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7185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9B9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9B9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2B9C79-DF06-4113-8829-FEAB7BDE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6766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38CA37-AC6B-4FF8-9003-634C6E6A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00500"/>
            <a:ext cx="1371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humaine: file agent, correction, complement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4D1C8D-5689-4598-AC57-2D4F4DF5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52850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E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9FEE48-4AC6-466F-9114-BA383814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1714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CE9C6A-96DB-488D-A568-3FC08F05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7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F80971-9EFB-437D-B535-2077A2D3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7185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7D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57D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0E53AD-CD3E-447A-B114-291DA56F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766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Controle risque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B79925-3286-460D-9BA7-DE2AC8CD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000500"/>
            <a:ext cx="1371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AML, biometrie, blocage si alerte ouverte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383FE4-6598-4BB0-8907-DC04B237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752850"/>
            <a:ext cx="52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E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F9F2E4-1E30-40E4-A71F-DD56E0F8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43250"/>
            <a:ext cx="1714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79EFC4-6280-4682-AD25-652069C4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4325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32C39B-C0EF-40E3-B420-E1CF0F12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37185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E7D4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EA3C61-FF19-4D3B-93E2-68CED876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6766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Pilotage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E18DE6-8BE0-4FDA-A685-4C3CC3BFF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1371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audit, command center, analytics, KPI pilote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50A6B4-9CC2-4AFB-B3FF-12AB4387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6255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056C3D-E344-444B-8A16-4567CDA1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14950"/>
            <a:ext cx="866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retenir: le MVP ne remplace pas le jugement de la banque; il prepare de meilleures preuves avant que ce jugement soit rendu.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8A30E6-128F-423A-B4C0-DEE9DF72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A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464C30-B328-416C-84B6-4BEF7852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F847E2-40CB-471C-97E9-25FA784F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B6F6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654487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A66678-4B5F-4442-8353-DCD6C8A7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7BDA1-4606-495C-AAB9-1937B919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85EB8-3978-4A0B-8B83-E2E8E227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PREUVE CLIENT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B983E0-492D-428B-B2D1-06837C87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7239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Le client avance vite. BICEC garde le cadre.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5DFA9-200C-4182-8096-5CFF5B43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669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 parcours montre une PWA accessible et un scope volontairement borne: CNI Cameroun d'abord, autres documents desactives tant qu'ils ne sont pas prouves.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62E37C-B7B5-4C9E-8BF8-A8A3809E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9812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3ceae449a040a8"/>
          <a:stretch xmlns:a="http://schemas.openxmlformats.org/drawingml/2006/main"/>
        </p:blipFill>
        <p:spPr>
          <a:xfrm xmlns:a="http://schemas.openxmlformats.org/drawingml/2006/main">
            <a:off x="972182" y="2857500"/>
            <a:ext cx="1408436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3E106-240B-4331-9BBA-E37E3584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47950"/>
            <a:ext cx="28765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b62b14c0a4de1"/>
          <a:srcRect xmlns:a="http://schemas.openxmlformats.org/drawingml/2006/main" l="0" t="18167" r="0" b="181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8500" y="2743200"/>
            <a:ext cx="2686050" cy="31623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9D501-935C-4CA8-9ED3-6B612D9C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3905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5a68b951f44f1e"/>
          <a:stretch xmlns:a="http://schemas.openxmlformats.org/drawingml/2006/main"/>
        </p:blipFill>
        <p:spPr>
          <a:xfrm xmlns:a="http://schemas.openxmlformats.org/drawingml/2006/main">
            <a:off x="8039213" y="2971800"/>
            <a:ext cx="1047524" cy="22669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EC18B5-4132-4500-B912-0691F9DE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9334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Ce que tu dis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93D4C-A37C-41B0-A3D9-5BB03EFE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238250"/>
            <a:ext cx="2190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192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1923"/>
                </a:solidFill>
                <a:latin typeface="Aptos"/>
                <a:ea typeface="Aptos"/>
                <a:cs typeface="Aptos"/>
              </a:rPr>
              <a:t>Ici, le point fort n'est pas seulement que l'ecran existe. Le point fort est que BICEC peut cadrer ce qu'elle accepte de tester, avant d'elargir le perimetre.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48320-F645-458A-8E8D-9A132DE3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57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Preuves internes: captures produit mobile et demo scope CNI, dossier marketing-presentation-bicec-2026-06-02/05_preuve_produit__*.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F5EEC1-6B11-4D2C-8059-3CE6C9CE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A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C1DC8A-CE5B-4577-B962-EFBC7308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BD58E7-35D7-4E93-A47F-5B46CA2C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B6F6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133524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D7A10C-C990-4FBB-8A1E-19EEC9B8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1837A8-562E-4E5A-A39B-6E6ABE3F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1637D-5114-4E8E-A59A-F76884A0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PREUVE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E4AD2-5128-4FC2-B112-049F8A2D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7810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Jean ne recoit plus des fragments. Il recoit un dossier.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34F7BD-5104-41C1-9EF9-C4D750CE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66900"/>
            <a:ext cx="723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 valeur operationnelle n'est pas de supprimer l'humain. C'est de lui donner un dossier lisible, priorise et defendable.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34402-27B1-4ECF-97B9-1C019BE0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191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8c4430c9f54222"/>
          <a:stretch xmlns:a="http://schemas.openxmlformats.org/drawingml/2006/main"/>
        </p:blipFill>
        <p:spPr>
          <a:xfrm xmlns:a="http://schemas.openxmlformats.org/drawingml/2006/main">
            <a:off x="833967" y="2857500"/>
            <a:ext cx="3894667" cy="2190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765C0-3D22-4C1F-8B60-B3B3E0F4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33650"/>
            <a:ext cx="45720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d75d10943f426f"/>
          <a:srcRect xmlns:a="http://schemas.openxmlformats.org/drawingml/2006/main" l="0" t="34981" r="0" b="349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14950" y="2628900"/>
            <a:ext cx="4381500" cy="27813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104766-2444-44EB-9365-81485799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5785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B21D42-5823-40F7-B7FF-BA2E36FA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772150"/>
            <a:ext cx="838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Promesse metier: moins de ressaisie, plus de discernement, une decision que l'on peut expliquer.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91BE7-7785-4595-B2B3-2026C77F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57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Preuves internes: backoffice Jean, file de validation, dossier approuve, happy path API live approuve le 26/05/2026.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8A12B0-2478-4F30-AFE8-69C012CB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A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EB1BFA-A33D-4115-B852-19631E60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051DF5-164F-463A-940F-439A8313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B6F6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120882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5B034A-44B0-4DBA-8F21-6FE47133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1C8F2-5CC3-41B0-86FB-55B639B2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EEAEA-3F2C-470B-9766-79041A90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1D6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1D6"/>
                </a:solidFill>
                <a:latin typeface="Aptos"/>
                <a:ea typeface="Aptos"/>
                <a:cs typeface="Aptos"/>
              </a:rPr>
              <a:t>PREUVE CONFORMITE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DFADF9-440A-42A9-A3B4-11E7667F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7334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 vitesse n'a pas le droit de contourner le risque.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F516E-AFAF-46F0-B27E-E79BF508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7429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6F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6F2"/>
                </a:solidFill>
                <a:latin typeface="Aptos"/>
                <a:ea typeface="Aptos"/>
                <a:cs typeface="Aptos"/>
              </a:rPr>
              <a:t>Le MVP montre un garde-fou simple a comprendre: une alerte AML ouverte bloque l'approbation. C'est le bon message pour Thomas et pour l'audit.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C2940-53F9-4BE7-A66E-3A9E3EF5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4286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dc9259db5e4103"/>
          <a:srcRect xmlns:a="http://schemas.openxmlformats.org/drawingml/2006/main" l="0" t="34206" r="0" b="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" y="3143250"/>
            <a:ext cx="4095750" cy="2247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A1EB9-FB4D-401B-A8CE-D91A021A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857500"/>
            <a:ext cx="48577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f441fb43a43d2"/>
          <a:srcRect xmlns:a="http://schemas.openxmlformats.org/drawingml/2006/main" l="0" t="34257" r="0" b="342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95950" y="2952750"/>
            <a:ext cx="4667250" cy="2571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61C88-00FF-4DAA-91F2-5E6CAD8A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753100"/>
            <a:ext cx="927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80BBA8-B798-4A6F-9EEC-3216325D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8674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Message a dire: VeriPass vend la croissance avec controle, pas la vitesse contre la conformite.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61EB04-29FC-4028-B77B-DD1440FE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91A4BA"/>
                </a:solidFill>
                <a:latin typeface="Aptos"/>
                <a:ea typeface="Aptos"/>
                <a:cs typeface="Aptos"/>
              </a:defRPr>
            </a:pPr>
            <a:r>
              <a:rPr sz="578" b="0">
                <a:solidFill>
                  <a:srgbClr val="91A4BA"/>
                </a:solidFill>
                <a:latin typeface="Aptos"/>
                <a:ea typeface="Aptos"/>
                <a:cs typeface="Aptos"/>
              </a:rPr>
              <a:t>Preuves internes: demo conformite AML du 28/05/2026, etapes 08 a 10; FATF, Cameroon increased monitoring, 13/02/2026.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919F94-8B64-4BBA-985F-88AF43AF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7C618F-BE3C-4C23-ADDA-6779C816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8FA1B8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36EDAB-ABC6-4B6C-B0DB-10514CBA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FA1B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397992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72EA20-3A7E-42A1-835E-0756C130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850A8D-8AFC-4E41-8A1F-6C607000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6726E-ACE2-4F6F-AB15-CC7CFEF2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PREUVE PILOTAGE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68532-C7F6-40EB-AB89-1986F226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7239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Ce qui etait disperse devient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9D477-B446-4B13-B30F-71A6C8BD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0500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Sylvie voit la charge. Thomas voit les alertes. L'audit peut reconstituer les decisions. C'est la difference entre une application et un rail bancaire.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FC54F6-58D4-41A5-B92C-73252033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191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df48d0e65647f7"/>
          <a:stretch xmlns:a="http://schemas.openxmlformats.org/drawingml/2006/main"/>
        </p:blipFill>
        <p:spPr>
          <a:xfrm xmlns:a="http://schemas.openxmlformats.org/drawingml/2006/main">
            <a:off x="781050" y="3015109"/>
            <a:ext cx="4000500" cy="225653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7E421-1529-42A7-A117-2AEAFDED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43200"/>
            <a:ext cx="4191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3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16a90469e4544"/>
          <a:srcRect xmlns:a="http://schemas.openxmlformats.org/drawingml/2006/main" l="0" t="3042" r="0" b="30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91150" y="2838450"/>
            <a:ext cx="4000500" cy="23812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D4D386-9066-4AFD-AD16-88EA3901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28950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6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30AA1-4C91-4518-9304-E1867455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200400"/>
            <a:ext cx="819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930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302A"/>
                </a:solidFill>
                <a:latin typeface="Aptos"/>
                <a:ea typeface="Aptos"/>
                <a:cs typeface="Aptos"/>
              </a:rPr>
              <a:t>Risque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978379-A519-49A1-B167-6D264548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733800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3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1B3BC-7CC9-4A10-85AF-59A509AD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905250"/>
            <a:ext cx="819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9B6B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B6B1B"/>
                </a:solidFill>
                <a:latin typeface="Aptos"/>
                <a:ea typeface="Aptos"/>
                <a:cs typeface="Aptos"/>
              </a:rPr>
              <a:t>Charge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189DD-02C2-438E-B1DC-2A2FE343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438650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45422C-DBB5-4F9B-B22F-21E0630C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610100"/>
            <a:ext cx="819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9B9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9B97"/>
                </a:solidFill>
                <a:latin typeface="Aptos"/>
                <a:ea typeface="Aptos"/>
                <a:cs typeface="Aptos"/>
              </a:rPr>
              <a:t>Preuve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2F855A-0DC7-4AE4-8B90-CE3DAC4D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57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Preuves internes: captures command center, analytics, audit COBAC et rapport demo.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5CB3EE-C625-4B43-A480-D86C9BA9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A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29C23D-58C8-4E90-8287-A615173C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E00D33-DB5E-46BC-A25B-B06F3A27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B6F6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923227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98D22A-066C-4C6F-AD9B-D83CD4D6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69BA46-EE20-4758-98B7-5ED9A712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3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844934-B116-45E9-BD27-AB019BE9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BETA INTERNE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19B79-4F62-47CC-9BF1-6DA28C61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Le tunnel Cloudflare sert a apprendre, pas a pretendre etre en production.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C1709-242B-454C-AE62-C378037C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Tant que ta machine reste connectee, les responsables peuvent tester la PWA et le back-office. C'est suffisant pour une beta encadree, pas pour un deploiement cible.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CA13B-408A-485E-B397-F433BD2C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9526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EB0044-30E5-4F94-851A-A56E6156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0024D5-F794-42A1-A515-2F7D5BC0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85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Responsables BICEC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D4090-605A-47FD-A2F1-8F5A46BF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tests internes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82AA1-60BF-4A5C-A6F0-146CF5F8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905250"/>
            <a:ext cx="7524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E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CA0D0E-6E4A-41EE-9C58-A6691570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33750"/>
            <a:ext cx="19526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0A5AF9-39B8-4A0B-B87C-CFD4F0CA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337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FB3EC2-CC58-4427-B5D4-99E5B1A4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6385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Tunnel Cloudflare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759B19-A73C-4868-A948-E6B6E972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386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acces controle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5E46D0-7B37-4A42-90ED-91390666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905250"/>
            <a:ext cx="7524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E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1DAB82-2DBE-4A38-924A-2A52B2DA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19526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C877EA-E761-496E-82A3-4217D484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1A97A-1315-40F5-B376-ABE96405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385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MVP VeriPass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1478FF-721E-427B-8E88-D0D2F60A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386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mobile + back-office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DE739F-E88A-4C9C-96F0-57E239BE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905250"/>
            <a:ext cx="7524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EA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070CE4-E943-4344-9F78-49D0EDBF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33750"/>
            <a:ext cx="19526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D1DC39-3962-4AF9-8023-72B9ED79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337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9C0F63-5D55-4954-B59D-9E74762D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385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Retours equipes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23426C-551E-4FF9-AA6B-D886835A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386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risques, parcours, KPI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B0F128-DD26-462B-9529-EF969DED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219700"/>
            <a:ext cx="8524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87BC25-C3C9-46F4-B868-D0173882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53050"/>
            <a:ext cx="7810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Ce que l'on demande: ouvrir l'usage a quelques referents, observer, corriger, puis decider sur preuves.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D7E04A-25FC-42A1-B287-2B9CA788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A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86A67F-1C2E-4423-A6F9-1122DAFB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B2E6BB-9F1D-401F-9D6A-B3BF31D4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B6F6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1049304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931EC5-D9E8-4988-ACD4-CC599543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5195A5-C024-4C3A-9EBA-3D0D86CB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14F7A-A06D-44BC-A75A-8BF07EA6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1D6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1D6"/>
                </a:solidFill>
                <a:latin typeface="Aptos"/>
                <a:ea typeface="Aptos"/>
                <a:cs typeface="Aptos"/>
              </a:rPr>
              <a:t>PHASE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0F46E8-D439-4F8E-AF61-DB909123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7429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Transformer le MVP en dispositif bancaire eprouve.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AC0BD-AFE5-4E8E-94E0-F70F92EC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6F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6F2"/>
                </a:solidFill>
                <a:latin typeface="Aptos"/>
                <a:ea typeface="Aptos"/>
                <a:cs typeface="Aptos"/>
              </a:rPr>
              <a:t>La suite ne doit pas etre une liste de features. Elle doit etre une validation croisee: metier, conformite, SI, operations et donnees.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9CEB48-F7A0-4A90-8413-A39693A7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2781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4443F-51E2-4617-BC97-6DE13780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2781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CC0197-14BA-4700-837A-F236F311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BD4EE3-2B4A-40AE-B2B1-EA63BCFB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62325"/>
            <a:ext cx="685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VALIDER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414D71-E29D-4F54-A753-A3926A93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Metier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544BF-6A20-48A4-9A0E-4E42FD48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2333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scenarios reels, irritants agence, parcours client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2DA59-19EF-44F3-B276-90F06762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2781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3E77F-AC9A-4932-9E19-153CA649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2781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239194-5EB0-43F7-A147-E54B30DA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3008A7-28D4-4FF5-AC7F-977665A6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62325"/>
            <a:ext cx="685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VALIDER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C3F4B1-62FA-41ED-A9AC-78073E29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195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Conformite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84A399-6413-4A96-A2B1-DC40E2CF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333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AML/CFT, conservation, preuves, decisions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5DB717-81D4-46DE-8E9B-4CBC318D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05150"/>
            <a:ext cx="2781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67B64B-F073-43E0-B457-807AE59F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05150"/>
            <a:ext cx="2781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3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996A65-0E7A-4446-BE28-81C536C5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956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3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DCE6D5-D667-4806-9B4E-E7118B74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362325"/>
            <a:ext cx="685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VALIDER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443A07-4C58-46D1-B4E0-54E7BE7D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195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 / Securite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73A476-559F-437D-A86D-12C6D32C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2333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durcissement, acces, hebergement cible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393B13-C877-4153-9B28-A0A50BDF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2781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5FB639-DDE0-48EF-9C08-30FF7DE0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2781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868A4F-F0AB-48FB-92E0-12AFAEE1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7680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3A27DB-3FB5-4BE5-8BE6-E41E85B8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43475"/>
            <a:ext cx="685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VALIDER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94DC72-CEB1-4939-A160-0DF3EFD1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006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Operations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69B249-CC8C-41B3-ABD7-EC7833A1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86400"/>
            <a:ext cx="2333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files, SLA, roles, support, procedures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FB16D4-A53B-41DB-88CF-9D01F643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86300"/>
            <a:ext cx="2781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2E567E-79CF-4D77-8953-D4126611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86300"/>
            <a:ext cx="2781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30F0F7-FA25-4486-8370-98080820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7680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7F4585-9EB5-4B50-AAF6-648448E5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43475"/>
            <a:ext cx="685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VALIDER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D7FB39-B930-4646-8EA1-031FD54F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2006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Data / ROI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E6B46F-CC8E-416D-B91D-C95122E8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486400"/>
            <a:ext cx="2333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B9C6D8"/>
                </a:solidFill>
                <a:latin typeface="Aptos"/>
                <a:ea typeface="Aptos"/>
                <a:cs typeface="Aptos"/>
              </a:rPr>
              <a:t>baseline, KPI pilote, cout par dossier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B1A05E-D86F-4846-96E0-F03C7B4F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7625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6"/>
          </a:solidFill>
          <a:ln xmlns:a="http://schemas.openxmlformats.org/drawingml/2006/main" w="9525">
            <a:solidFill>
              <a:srgbClr val="30405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7A7750-D63A-4282-9FA6-B5EFB58D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33950"/>
            <a:ext cx="1619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9FB0C6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FB0C6"/>
                </a:solidFill>
                <a:latin typeface="Aptos"/>
                <a:ea typeface="Aptos"/>
                <a:cs typeface="Aptos"/>
              </a:rPr>
              <a:t>Sortie attendue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474A10-BBDE-4E13-AAC8-0872D854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1625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go / no-go / rebuild / buy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63D377-6F7E-4691-9472-5A18DAA6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9C653D-6732-4BCD-A4F0-392598E8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8FA1B8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016927-D08D-4B7E-A674-88D7B7AA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FA1B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5563411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E94F08-EF61-4C18-AF66-288F4B73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3CC403-9F57-4BE5-89AA-8D9E8B58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89362D-F6FB-45AC-A18E-7986270C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BUSINESS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B4C816-8866-48D7-A2AF-C047F2A9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7239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Ne pas maquiller le ROI. Le mesurer.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E985D4-CA11-4E6A-8ADB-74CF8064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 bon business case ne vient pas d'un chiffre invente. Il vient d'un pilote qui mesure les variables BICEC.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C7713-F4EE-4A12-A75A-F5BE808A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5C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439656-9DDD-40FE-BBAC-7FF3B28E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AB7114-39ED-4C03-BE63-3717C379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242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Rework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DE38B-89C3-46BD-AFAC-34672023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52750"/>
            <a:ext cx="590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8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287B0-EFFB-4B27-945E-98D1C5FA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242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192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1923"/>
                </a:solidFill>
                <a:latin typeface="Aptos"/>
                <a:ea typeface="Aptos"/>
                <a:cs typeface="Aptos"/>
              </a:rPr>
              <a:t>dossiers/mois x minutes economisees x cout horaire / 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4AB85-E7B4-4FC3-A4E4-5B62B0D5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7190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5C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B0464E-201B-4114-A768-F7B2B683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71900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3C25B0-0540-4E60-8D34-8E57A5E1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4335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Conversion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A70CD7-4467-4751-BA2F-C6B9CF9C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71900"/>
            <a:ext cx="590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8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802E9D-1781-419B-B658-E6FFA062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433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192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1923"/>
                </a:solidFill>
                <a:latin typeface="Aptos"/>
                <a:ea typeface="Aptos"/>
                <a:cs typeface="Aptos"/>
              </a:rPr>
              <a:t>prospects additionnels convertis x valeur moyenne client actif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6873F2-7858-4B6B-94C3-BEF5D74C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910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5C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A11486-43C8-411A-983A-BFB9346D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91050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CF857D-8C29-402A-95AB-F0FC14FD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Conformite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8E4B14-1A56-4C75-AE39-9CCC2DD6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91050"/>
            <a:ext cx="590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8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DAC597-362F-4409-BA8F-567432CE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192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1923"/>
                </a:solidFill>
                <a:latin typeface="Aptos"/>
                <a:ea typeface="Aptos"/>
                <a:cs typeface="Aptos"/>
              </a:rPr>
              <a:t>dossiers incomplets evites x cout de reprise ou incident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B1EB37-58D0-4449-BEE7-4B85BCA1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76300"/>
            <a:ext cx="2286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D53033-829D-4F0F-9091-31EF6257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104900"/>
            <a:ext cx="1676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9FB0C6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FB0C6"/>
                </a:solidFill>
                <a:latin typeface="Aptos"/>
                <a:ea typeface="Aptos"/>
                <a:cs typeface="Aptos"/>
              </a:rPr>
              <a:t>Phrase a dire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F3380E-72BF-47BF-A2B0-C795E57A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352550"/>
            <a:ext cx="1790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Je ne veux pas maquiller le business case. Le pilote sert justement a mesurer ces variables avec les chiffres BICEC.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D81B04-CFFF-451F-AC19-21EE81FF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57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Benchmarks prudents: Fenergo 2025 signale que 70% des institutions interrogees ont perdu des clients a cause d'un onboarding lent; a ne pas traiter comme chiffre BICEC.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10EB99-4A15-4A6A-AA5E-AF3425D3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AB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5FE1A8-7954-41AD-AD0F-30B33CE1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B6F61"/>
                </a:solidFill>
                <a:latin typeface="Aptos"/>
                <a:ea typeface="Aptos"/>
                <a:cs typeface="Aptos"/>
              </a:rPr>
              <a:t>VeriPass - rail KYC souverain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B1A9F7-BC78-4D8A-ACF8-4158012F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7B6F6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B6F6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347460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375283-314F-465B-87FE-8CC86346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63FDA1-818C-4D39-8861-1FB5584C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6998D-8445-4213-94E2-A0B6C4C6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DB2F6-5B70-4287-BE9D-4A26D1E1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"/>
            <a:ext cx="47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d06d5b9c44b8c"/>
          <a:stretch xmlns:a="http://schemas.openxmlformats.org/drawingml/2006/main"/>
        </p:blipFill>
        <p:spPr>
          <a:xfrm xmlns:a="http://schemas.openxmlformats.org/drawingml/2006/main">
            <a:off x="876300" y="457200"/>
            <a:ext cx="438150" cy="438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C6EAAF-33CC-477F-B81D-B817E4D4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524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VeriPass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38476-F41B-4495-847D-4415A958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90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158C1D-CF46-45EA-8E1D-FC4EF888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14300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1D6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1D6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8FF7C5-8583-4913-949B-0DCF6D6D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43050"/>
            <a:ext cx="6858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Donnez a BICEC le droit de mesurer son avance.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8C66E-5D00-4914-BB18-65E8AC5F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CE6F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CE6F2"/>
                </a:solidFill>
                <a:latin typeface="Aptos"/>
                <a:ea typeface="Aptos"/>
                <a:cs typeface="Aptos"/>
              </a:rPr>
              <a:t>La demande n'est pas un deploiement national. La demande est une beta interne sponsorisee, mesuree et encadree.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7ACCB-3B19-49F3-A6C6-A618F6F9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18859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EBE28F-5107-4A30-BB32-2CDC0379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1885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3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71B2DB-BF52-448D-9C2E-F68299FB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3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302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FD510B-E800-4A11-BE94-7FDCBD42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Nommer un sponsor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91B56-C2A5-477E-9CF8-F4D606B3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101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B9C6D8"/>
                </a:solidFill>
                <a:latin typeface="Aptos"/>
                <a:ea typeface="Aptos"/>
                <a:cs typeface="Aptos"/>
              </a:rPr>
              <a:t>metier + conformite + SI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215987-FC4B-46E2-9046-9AA9B9C1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71950"/>
            <a:ext cx="18859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84CADE-C640-478E-B0E0-550B49D5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71950"/>
            <a:ext cx="1885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5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9D8827-8C42-48E9-88C6-5AFA308C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005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952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6952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EC2A9D-D199-4B14-BCED-9B62F320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7053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Autoriser la beta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0F759A-DD53-4D53-B46A-848C1964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0101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B9C6D8"/>
                </a:solidFill>
                <a:latin typeface="Aptos"/>
                <a:ea typeface="Aptos"/>
                <a:cs typeface="Aptos"/>
              </a:rPr>
              <a:t>acces encadre au MVP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2BE279-95CC-490A-9C22-B50788C3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171950"/>
            <a:ext cx="18859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2E3381-CB97-41F1-8874-EDB88A00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171950"/>
            <a:ext cx="1885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9B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8CD0DB-4964-433C-B00B-29A81030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4005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9B9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9B9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EFE5C0-4262-4CC3-B606-A40FB12A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7053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Collecter la baseline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2A7E93-9CB4-4C37-A81F-08F52C96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0101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B9C6D8"/>
                </a:solidFill>
                <a:latin typeface="Aptos"/>
                <a:ea typeface="Aptos"/>
                <a:cs typeface="Aptos"/>
              </a:rPr>
              <a:t>delais, rework, abandon, cout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D0397E-5BE5-47E7-994F-96892BC0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71950"/>
            <a:ext cx="18859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E1D7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697F5C-BCEC-4097-A7C4-223859E2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71950"/>
            <a:ext cx="1885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5252A9-815A-482A-B1B1-6D327F02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4005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D4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E7D4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41CEC8-B027-4466-B59F-0EF4F1B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053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Decider sur faits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716E6F-E8B3-430C-9B4E-D279F3E5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0101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B9C6D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B9C6D8"/>
                </a:solidFill>
                <a:latin typeface="Aptos"/>
                <a:ea typeface="Aptos"/>
                <a:cs typeface="Aptos"/>
              </a:rPr>
              <a:t>go / no-go / phase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96D6D1-2C3A-4379-8F38-14796DDE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25730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15F1E1-A9AF-4B8D-9E12-E0CF3B32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581150"/>
            <a:ext cx="1524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Fermeture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93F07D-9E62-4E84-9A33-4DA243CC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41923"/>
                </a:solidFill>
                <a:latin typeface="Aptos Display"/>
                <a:ea typeface="Aptos Display"/>
                <a:cs typeface="Aptos Display"/>
              </a:rPr>
              <a:t>N'achetez pas une promesse.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957A0C-354E-4236-A826-2E50EF1F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1924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Achetez la capacite de tester avant que la porte client soit prise ailleurs.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F6AEF7-736F-4CFA-8DE0-14E0E2F3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F1572F-B8DF-43B2-AA2C-61AA403C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8FA1B8"/>
                </a:solidFill>
                <a:latin typeface="Aptos"/>
                <a:ea typeface="Aptos"/>
                <a:cs typeface="Aptos"/>
              </a:rPr>
              <a:t>VeriPass - decision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5B97FE-EB79-4EC6-88EF-DF657960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8FA1B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FA1B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056688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2026-06-02T12:05:22.0200000Z</dcterms:created>
  <dcterms:modified xsi:type="dcterms:W3CDTF">2026-06-02T12:05:22.0200000Z</dcterms:modified>
</coreProperties>
</file>