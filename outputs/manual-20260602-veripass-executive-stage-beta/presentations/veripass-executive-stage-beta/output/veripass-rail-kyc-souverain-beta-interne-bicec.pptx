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154cc25ced4eb5" /><Relationship Type="http://schemas.openxmlformats.org/officeDocument/2006/relationships/extended-properties" Target="/docProps/app.xml" Id="R3552b23816074b51" /><Relationship Type="http://schemas.openxmlformats.org/officeDocument/2006/relationships/officeDocument" Target="/ppt/presentation.xml" Id="Rbd538f00e77e47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dfe561fc2a46e0"/>
  </p:sldMasterIdLst>
  <p:notesMasterIdLst>
    <p:notesMasterId xmlns:r="http://schemas.openxmlformats.org/officeDocument/2006/relationships" r:id="R9271456aa75e4ad5"/>
  </p:notesMasterIdLst>
  <p:sldIdLst>
    <p:sldId xmlns:r="http://schemas.openxmlformats.org/officeDocument/2006/relationships" id="256" r:id="Rc18b86211a67462e"/>
    <p:sldId xmlns:r="http://schemas.openxmlformats.org/officeDocument/2006/relationships" id="257" r:id="Rce2c3ccb05374d01"/>
    <p:sldId xmlns:r="http://schemas.openxmlformats.org/officeDocument/2006/relationships" id="258" r:id="R412b3acdb6c04284"/>
    <p:sldId xmlns:r="http://schemas.openxmlformats.org/officeDocument/2006/relationships" id="259" r:id="Ra499b2d589ba49fb"/>
    <p:sldId xmlns:r="http://schemas.openxmlformats.org/officeDocument/2006/relationships" id="260" r:id="Ra2c2af4149c84087"/>
    <p:sldId xmlns:r="http://schemas.openxmlformats.org/officeDocument/2006/relationships" id="261" r:id="Rbe99f8b1e0d64153"/>
    <p:sldId xmlns:r="http://schemas.openxmlformats.org/officeDocument/2006/relationships" id="262" r:id="R2625a394777e4b80"/>
    <p:sldId xmlns:r="http://schemas.openxmlformats.org/officeDocument/2006/relationships" id="263" r:id="R6f4b51f1e382485b"/>
    <p:sldId xmlns:r="http://schemas.openxmlformats.org/officeDocument/2006/relationships" id="264" r:id="Rff15d29f688848de"/>
    <p:sldId xmlns:r="http://schemas.openxmlformats.org/officeDocument/2006/relationships" id="265" r:id="R0e001f90a51a435d"/>
    <p:sldId xmlns:r="http://schemas.openxmlformats.org/officeDocument/2006/relationships" id="266" r:id="R6ed13713e4e04388"/>
    <p:sldId xmlns:r="http://schemas.openxmlformats.org/officeDocument/2006/relationships" id="267" r:id="Rd4d5598d2517449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be1d4cced14c8a" /><Relationship Type="http://schemas.openxmlformats.org/officeDocument/2006/relationships/slideMaster" Target="/ppt/slideMasters/slideMaster1.xml" Id="R0adfe561fc2a46e0" /><Relationship Type="http://schemas.openxmlformats.org/officeDocument/2006/relationships/notesMaster" Target="/ppt/notesMasters/notesMaster1.xml" Id="R9271456aa75e4ad5" /><Relationship Type="http://schemas.openxmlformats.org/officeDocument/2006/relationships/presProps" Target="/ppt/presProps.xml" Id="R688f18a93a6d4f29" /><Relationship Type="http://schemas.openxmlformats.org/officeDocument/2006/relationships/viewProps" Target="/ppt/viewProps.xml" Id="Rc80aad24deb64b99" /><Relationship Type="http://schemas.openxmlformats.org/officeDocument/2006/relationships/tableStyles" Target="/ppt/tableStyles.xml" Id="R96a9e54ef69d4c95" /><Relationship Type="http://schemas.openxmlformats.org/officeDocument/2006/relationships/slide" Target="/ppt/slides/slide1.xml" Id="Rc18b86211a67462e" /><Relationship Type="http://schemas.openxmlformats.org/officeDocument/2006/relationships/slide" Target="/ppt/slides/slide2.xml" Id="Rce2c3ccb05374d01" /><Relationship Type="http://schemas.openxmlformats.org/officeDocument/2006/relationships/slide" Target="/ppt/slides/slide3.xml" Id="R412b3acdb6c04284" /><Relationship Type="http://schemas.openxmlformats.org/officeDocument/2006/relationships/slide" Target="/ppt/slides/slide4.xml" Id="Ra499b2d589ba49fb" /><Relationship Type="http://schemas.openxmlformats.org/officeDocument/2006/relationships/slide" Target="/ppt/slides/slide5.xml" Id="Ra2c2af4149c84087" /><Relationship Type="http://schemas.openxmlformats.org/officeDocument/2006/relationships/slide" Target="/ppt/slides/slide6.xml" Id="Rbe99f8b1e0d64153" /><Relationship Type="http://schemas.openxmlformats.org/officeDocument/2006/relationships/slide" Target="/ppt/slides/slide7.xml" Id="R2625a394777e4b80" /><Relationship Type="http://schemas.openxmlformats.org/officeDocument/2006/relationships/slide" Target="/ppt/slides/slide8.xml" Id="R6f4b51f1e382485b" /><Relationship Type="http://schemas.openxmlformats.org/officeDocument/2006/relationships/slide" Target="/ppt/slides/slide9.xml" Id="Rff15d29f688848de" /><Relationship Type="http://schemas.openxmlformats.org/officeDocument/2006/relationships/slide" Target="/ppt/slides/slide10.xml" Id="R0e001f90a51a435d" /><Relationship Type="http://schemas.openxmlformats.org/officeDocument/2006/relationships/slide" Target="/ppt/slides/slide11.xml" Id="R6ed13713e4e04388" /><Relationship Type="http://schemas.openxmlformats.org/officeDocument/2006/relationships/slide" Target="/ppt/slides/slide12.xml" Id="Rd4d5598d251744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6629e8baab4f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1acd6bdeab420d" /><Relationship Type="http://schemas.openxmlformats.org/officeDocument/2006/relationships/notesMaster" Target="/ppt/notesMasters/notesMaster1.xml" Id="Re8d72e90402f40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16013704784151" /><Relationship Type="http://schemas.openxmlformats.org/officeDocument/2006/relationships/notesMaster" Target="/ppt/notesMasters/notesMaster1.xml" Id="R30293aad1f4a4f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7d382f2ea442bb" /><Relationship Type="http://schemas.openxmlformats.org/officeDocument/2006/relationships/notesMaster" Target="/ppt/notesMasters/notesMaster1.xml" Id="R94e3cf953b8649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b05a4806a64121" /><Relationship Type="http://schemas.openxmlformats.org/officeDocument/2006/relationships/notesMaster" Target="/ppt/notesMasters/notesMaster1.xml" Id="R7610ec3e498945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14451c8c204a23" /><Relationship Type="http://schemas.openxmlformats.org/officeDocument/2006/relationships/notesMaster" Target="/ppt/notesMasters/notesMaster1.xml" Id="R118a39b550ea41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79c23d087942cd" /><Relationship Type="http://schemas.openxmlformats.org/officeDocument/2006/relationships/notesMaster" Target="/ppt/notesMasters/notesMaster1.xml" Id="Ra232fca1120c42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1d4c71c74e45e8" /><Relationship Type="http://schemas.openxmlformats.org/officeDocument/2006/relationships/notesMaster" Target="/ppt/notesMasters/notesMaster1.xml" Id="R0a3b3d7dfec142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173745d12746a6" /><Relationship Type="http://schemas.openxmlformats.org/officeDocument/2006/relationships/notesMaster" Target="/ppt/notesMasters/notesMaster1.xml" Id="R02c43466ae304d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c5cd791092452a" /><Relationship Type="http://schemas.openxmlformats.org/officeDocument/2006/relationships/notesMaster" Target="/ppt/notesMasters/notesMaster1.xml" Id="Rddab8032ee8246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8f33a334004e55" /><Relationship Type="http://schemas.openxmlformats.org/officeDocument/2006/relationships/notesMaster" Target="/ppt/notesMasters/notesMaster1.xml" Id="R84251e24ca0a4d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556e355b1f4b2a" /><Relationship Type="http://schemas.openxmlformats.org/officeDocument/2006/relationships/notesMaster" Target="/ppt/notesMasters/notesMaster1.xml" Id="R7a0327e737bc40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e1a3cfe4e64de5" /><Relationship Type="http://schemas.openxmlformats.org/officeDocument/2006/relationships/notesMaster" Target="/ppt/notesMasters/notesMaster1.xml" Id="Refc1bf223eac4e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eca46cef3e4b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5c0c7a91d147ce" /><Relationship Type="http://schemas.openxmlformats.org/officeDocument/2006/relationships/slideLayout" Target="/ppt/slideLayouts/slideLayout1.xml" Id="R4e411cadf33d4a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411cadf33d4a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6d22f702e4b89" /><Relationship Type="http://schemas.openxmlformats.org/officeDocument/2006/relationships/image" Target="/ppt/media/image.jpeg" Id="R57b809177f374b2e" /><Relationship Type="http://schemas.openxmlformats.org/officeDocument/2006/relationships/image" Target="/ppt/media/image.png" Id="R595a11dbf9d84d19" /><Relationship Type="http://schemas.openxmlformats.org/officeDocument/2006/relationships/image" Target="/ppt/media/image2.png" Id="Rcbe2922c5c064c65" /><Relationship Type="http://schemas.openxmlformats.org/officeDocument/2006/relationships/notesSlide" Target="/ppt/notesSlides/notesSlide1.xml" Id="Rd395343ee38d4c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6708723b54691" /><Relationship Type="http://schemas.openxmlformats.org/officeDocument/2006/relationships/notesSlide" Target="/ppt/notesSlides/notesSlide2.xml" Id="Rd592ba4a3ab24c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dd9f5a78e4aa8" /><Relationship Type="http://schemas.openxmlformats.org/officeDocument/2006/relationships/notesSlide" Target="/ppt/notesSlides/notesSlide3.xml" Id="R8b2ae9dc6f5e41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aa478e34b4554" /><Relationship Type="http://schemas.openxmlformats.org/officeDocument/2006/relationships/notesSlide" Target="/ppt/notesSlides/notesSlide4.xml" Id="R07711fba9de34f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6b85e67d1411f" /><Relationship Type="http://schemas.openxmlformats.org/officeDocument/2006/relationships/image" Target="/ppt/media/image3.png" Id="Rff61c09eaa6c4e25" /><Relationship Type="http://schemas.openxmlformats.org/officeDocument/2006/relationships/image" Target="/ppt/media/image4.png" Id="Rfb619f392075422f" /><Relationship Type="http://schemas.openxmlformats.org/officeDocument/2006/relationships/image" Target="/ppt/media/image5.png" Id="R3d20e6b4ad1c43f6" /><Relationship Type="http://schemas.openxmlformats.org/officeDocument/2006/relationships/notesSlide" Target="/ppt/notesSlides/notesSlide5.xml" Id="R3d8e8d39d11345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2c5de175c4b7e" /><Relationship Type="http://schemas.openxmlformats.org/officeDocument/2006/relationships/image" Target="/ppt/media/image6.png" Id="R64480600c23544fb" /><Relationship Type="http://schemas.openxmlformats.org/officeDocument/2006/relationships/image" Target="/ppt/media/image7.png" Id="Rfd6c85f8c71744c7" /><Relationship Type="http://schemas.openxmlformats.org/officeDocument/2006/relationships/notesSlide" Target="/ppt/notesSlides/notesSlide6.xml" Id="R79d556b9d14e4b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8f3aabd104365" /><Relationship Type="http://schemas.openxmlformats.org/officeDocument/2006/relationships/image" Target="/ppt/media/image8.png" Id="Re36a351add254a4c" /><Relationship Type="http://schemas.openxmlformats.org/officeDocument/2006/relationships/image" Target="/ppt/media/image9.png" Id="Rb1ea34e8faa1435f" /><Relationship Type="http://schemas.openxmlformats.org/officeDocument/2006/relationships/notesSlide" Target="/ppt/notesSlides/notesSlide7.xml" Id="R08c9bd638dca4c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387f58e3949aa" /><Relationship Type="http://schemas.openxmlformats.org/officeDocument/2006/relationships/image" Target="/ppt/media/image10.png" Id="R209f6acd64794910" /><Relationship Type="http://schemas.openxmlformats.org/officeDocument/2006/relationships/image" Target="/ppt/media/image11.png" Id="R82318584227d444d" /><Relationship Type="http://schemas.openxmlformats.org/officeDocument/2006/relationships/notesSlide" Target="/ppt/notesSlides/notesSlide8.xml" Id="R0597bf13455f46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fef10a8ca4cb1" /><Relationship Type="http://schemas.openxmlformats.org/officeDocument/2006/relationships/notesSlide" Target="/ppt/notesSlides/notesSlide9.xml" Id="Rd03493069c4f42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69514060f4243" /><Relationship Type="http://schemas.openxmlformats.org/officeDocument/2006/relationships/notesSlide" Target="/ppt/notesSlides/notesSlide10.xml" Id="R5852bbf8f1db49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cdd2fdc4a487b" /><Relationship Type="http://schemas.openxmlformats.org/officeDocument/2006/relationships/notesSlide" Target="/ppt/notesSlides/notesSlide11.xml" Id="R4228f22e9b5c43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30de2e096419f" /><Relationship Type="http://schemas.openxmlformats.org/officeDocument/2006/relationships/image" Target="/ppt/media/image2.jpeg" Id="R47aaee10252f4735" /><Relationship Type="http://schemas.openxmlformats.org/officeDocument/2006/relationships/notesSlide" Target="/ppt/notesSlides/notesSlide12.xml" Id="Rd56e5411633044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90A4F7-0872-47D6-AD3A-5B982635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C4867-30FF-45D5-886F-9D033A5C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EA277-4E23-4027-98F7-47B57460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7AC31-FC10-448C-8A1E-185FACA3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809177f374b2e"/>
          <a:stretch xmlns:a="http://schemas.openxmlformats.org/drawingml/2006/main"/>
        </p:blipFill>
        <p:spPr>
          <a:xfrm xmlns:a="http://schemas.openxmlformats.org/drawingml/2006/main">
            <a:off x="876300" y="4572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5848E-62CE-4C28-8066-379ACF3E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24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VeriPass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7ED34-A70F-4394-B020-0AE5AF11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FB0C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FB0C6"/>
                </a:solidFill>
                <a:latin typeface="Aptos"/>
                <a:ea typeface="Aptos"/>
                <a:cs typeface="Aptos"/>
              </a:rPr>
              <a:t>SOUTENANCE STAGE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65AD5-6C22-4E82-A627-AAD34DB5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VeriPass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5B99F-0C52-4B16-AED2-18CEE597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6762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socle de connaissance client que BICEC peut tester maintenant.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D1BED-CC17-4771-9D93-99CF2CE2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81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Une version fonctionnelle pour transformer l'identite client en dossier bancaire controle, auditable et mesurable.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A749E-CFF3-4F5A-9335-43594D75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A75C5-0493-445C-935C-21D756BF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FB0C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FB0C6"/>
                </a:solidFill>
                <a:latin typeface="Aptos"/>
                <a:ea typeface="Aptos"/>
                <a:cs typeface="Aptos"/>
              </a:rPr>
              <a:t>Phrase d'ouverture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C7F03-63C4-48F3-869F-654AE9B4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647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Je ne viens pas vous montrer du code. Je viens vous montrer une porte d'entree client que la banque peut reprendre en main.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7C9E1-279C-4F16-8D62-CFA8BAF8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62000"/>
            <a:ext cx="3143250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6"/>
          </a:solidFill>
          <a:ln xmlns:a="http://schemas.openxmlformats.org/drawingml/2006/main" w="9525">
            <a:solidFill>
              <a:srgbClr val="3040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D818F-8C99-4EB7-8C5E-45D36468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71550"/>
            <a:ext cx="17526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a11dbf9d84d19"/>
          <a:stretch xmlns:a="http://schemas.openxmlformats.org/drawingml/2006/main"/>
        </p:blipFill>
        <p:spPr>
          <a:xfrm xmlns:a="http://schemas.openxmlformats.org/drawingml/2006/main">
            <a:off x="8129954" y="1066800"/>
            <a:ext cx="1494692" cy="32385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65BC3-203F-43BB-AAB0-126E1352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352550"/>
            <a:ext cx="2190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2922c5c064c65"/>
          <a:srcRect xmlns:a="http://schemas.openxmlformats.org/drawingml/2006/main" l="0" t="8798" r="0" b="87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3550" y="1447800"/>
            <a:ext cx="2000250" cy="30480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833753-F91D-4A4C-B16F-E941CBB8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202FC-743A-47A4-913D-BC67EB0F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970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Preuve visible: elle se lance, se teste et se montre.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365C0-A7CF-4656-B7DF-9AEC647B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A51F19-4088-40A4-8407-DDB9B16A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8"/>
                </a:solidFill>
                <a:latin typeface="Aptos"/>
                <a:ea typeface="Aptos"/>
                <a:cs typeface="Aptos"/>
              </a:rPr>
              <a:t>VeriPass - support de direction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B069AA-34B5-4D4C-A907-5E6489CD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397634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8642C7-4850-4371-B43D-B749B0C0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3444F-B9DB-4F4E-806E-FC306475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ED096-6212-4ACB-B76D-F268BACB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POURQUOI MAINTENANT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5F2A1-FEE4-45A4-86EA-6526103C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14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Le marche est deja mobile. La question est: qui controle l'entree bancaire 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D95CC-49BD-4295-9E52-B031BB52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BICEC a deja une presence digitale avec BI PAY. VeriPass adresse le maillon qui precede tout le reste: prouver, verifier, puis decider.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3B0DF-A0DE-4A52-BCA9-DCC09F87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DFEA6-6E52-4252-B7A3-B3889E1E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65,10%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53B43-8457-4E9C-ADE8-67CDA91D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du volume des paiements CEMAC concentre au Cameroun selon la BEAC 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5311C-2489-4378-ACD9-D1226129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3408F-3E9B-4D90-973B-B063AC27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05150"/>
            <a:ext cx="2400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94,34%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C9EFE-B3A3-4A79-9651-B85D5C2F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4330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des operations CEMAC sont en monnaie electronique selon la BEAC 2024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223AE-9D06-4A05-8A4C-60DE89B4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432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C3201-0A9C-40D3-AAF8-DF4DE0A2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05150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2T$+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307AA-0600-4707-B0E1-49D5F632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43300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ont transite par les portefeuilles de paiement mobile dans le monde en 2025 selon la GSMA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D5141-257F-4EB1-B4FA-62986189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9DEB13-F609-49D1-8B12-C170DD6A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2445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 a dire: les clients apprennent deja a commencer par le mobile; la banque doit garder la preuve avant la promesse.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7EC43-4501-4472-AB05-CEBCD248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7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Sources: BEAC, Rapport sur les services de paiement dans la CEMAC 2024; GSMA, State of the Industry Report on Mobile Money 2026; BICEC, page BI PAY.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44ACB3-B2DF-4BC0-B859-3B110F61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D1A930-1936-4C50-8603-CF7B4511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connaissance client souveraine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A76E74-D665-4062-AA74-59633653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9807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4517E9-C9A8-4E63-98FD-68D21F3B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ECB63-B358-49AA-9AD9-459E7A73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93683-7182-48DA-9E5B-BF779325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1D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1D6"/>
                </a:solidFill>
                <a:latin typeface="Aptos"/>
                <a:ea typeface="Aptos"/>
                <a:cs typeface="Aptos"/>
              </a:rPr>
              <a:t>LA FRICTION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F0FE4-A780-43B3-BAF9-2E9B8BA2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81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 dossier client fragile coute plus cher qu'un parcours lent.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AB698-33F6-4496-94C7-9406D9CA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Le probleme n'est pas de numeriser un formulaire. Le probleme est de transformer des pieces, des controles et des decisions en preuve exploitable.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17A69-AF71-4758-8377-AB999EBF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1E050-37FB-49B1-9F89-2D9F1E36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695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42DC1-5767-4D76-BA73-DFBAF746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DCCF0-416E-43CD-AB1A-1AC77FB0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deplacement, pieces, relance, attente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9C096-C26D-4477-8EF6-257D878F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6230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86549-4405-4810-B967-7D2EFC37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62300"/>
            <a:ext cx="1695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9973C-3612-4C89-8FD2-6D00A21C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480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24E9F-C9A1-4A70-9753-81B826C5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481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dossier incomplet, ressaisie, suivi manuel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26D05-F1DD-4992-9482-83B8C5F2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6230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7F607-6F09-4C3C-94CF-0786007D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62300"/>
            <a:ext cx="1695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542F73-5EA3-4923-A223-630C36B9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480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Back-office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F8DCD-9B0A-4334-9CAA-B086599A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481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file confuse, exceptions tardives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FDA26-4FFB-416B-A239-3EAF49CB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6230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42E79-2201-40D8-B7F1-47BFF090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62300"/>
            <a:ext cx="1695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458224-577E-4DB8-8FB0-0EB4CE37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480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Conformite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2BC34F-60E6-411F-BFB4-4D3477C0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481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alerte a traiter avant approbation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585E7A-F7D6-4B9E-A795-0C916E15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6230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466C3F-1E92-4E2F-92B9-781B8A1C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62300"/>
            <a:ext cx="1695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0CB75-988D-4A7A-A879-45BAEB63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480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Audit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867071-366D-4389-B56A-8330F41F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481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reconstituer qui a decide quoi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90E970-4A5F-4083-ADF0-ED060A88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00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DB0881-3105-4933-A548-F14CD407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33950"/>
            <a:ext cx="706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7EEF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E7EEF7"/>
                </a:solidFill>
                <a:latin typeface="Aptos"/>
                <a:ea typeface="Aptos"/>
                <a:cs typeface="Aptos"/>
              </a:rPr>
              <a:t>La banque ne peut pas choisir entre vitesse et controle.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6A5F00-4FA3-4B04-A559-BDA514F0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62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093B7C-4C31-40D2-A099-F5D4979E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95900"/>
            <a:ext cx="706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7EEF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E7EEF7"/>
                </a:solidFill>
                <a:latin typeface="Aptos"/>
                <a:ea typeface="Aptos"/>
                <a:cs typeface="Aptos"/>
              </a:rPr>
              <a:t>Elle doit rendre les deux visibles avant la decision humaine.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A1918B-2ED4-40BF-BFD2-C1806B89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38700"/>
            <a:ext cx="1790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6"/>
          </a:solidFill>
          <a:ln xmlns:a="http://schemas.openxmlformats.org/drawingml/2006/main" w="9525">
            <a:solidFill>
              <a:srgbClr val="30405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B7EFFE-1A0D-438C-97A8-7D7FCE4E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292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FB0C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FB0C6"/>
                </a:solidFill>
                <a:latin typeface="Aptos"/>
                <a:ea typeface="Aptos"/>
                <a:cs typeface="Aptos"/>
              </a:rPr>
              <a:t>Ce que VeriPass change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B3C9CA-C3AB-4BBB-B7EE-28F980B7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95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 dossier devient une preuve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C6C965-789F-4CFD-A754-A4B491D8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91A4BA"/>
                </a:solidFill>
                <a:latin typeface="Aptos"/>
                <a:ea typeface="Aptos"/>
                <a:cs typeface="Aptos"/>
              </a:defRPr>
            </a:pPr>
            <a:r>
              <a:rPr sz="578" b="0">
                <a:solidFill>
                  <a:srgbClr val="91A4BA"/>
                </a:solidFill>
                <a:latin typeface="Aptos"/>
                <a:ea typeface="Aptos"/>
                <a:cs typeface="Aptos"/>
              </a:rPr>
              <a:t>Sources: BICEC, pieces d'ouverture compte cheque; World Bank ID4D Cameroon; FATF, increased monitoring, 13 fevrier 2026.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E406EB-F323-4E3E-AD4D-770021EC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A3E699-B3C4-4118-9DBC-93EB499D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8"/>
                </a:solidFill>
                <a:latin typeface="Aptos"/>
                <a:ea typeface="Aptos"/>
                <a:cs typeface="Aptos"/>
              </a:rPr>
              <a:t>VeriPass - connaissance client souveraine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1DF32A-EEE1-40DC-BF0E-59A6EBC7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911078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9AD4BA-CCB7-4F48-90C2-F3129F56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9B966-44A9-45E3-B98B-2D695E41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C9869-9AB6-4B08-815D-F70023E9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CE QUI A ETE LIVRE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E6CA3-75DD-43C8-B2B5-8BDC0633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Le stage a transforme une intuition en version bancaire testable.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A9C8F-95C6-4D46-B1CB-232E429C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Pas une promesse de production. Une preuve fonctionnelle qui permet de tester, corriger et decider avec les equipes.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9E093-EDC3-4C59-8E6E-69FF6FA5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714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91A54-A12B-4225-AB33-62D140D3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7A38C-69BB-40BC-9307-72D8E221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3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302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C93AB-5CD1-41EE-96B7-C0ACCFF3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Client mobile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13FD0-B19B-4943-8CCB-5DCE836C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code SMS, CNI, lecture des pieces, presence, consentement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6A0BE-1E0B-425E-B77F-BC4C73DE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5285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FCBE2-2FFD-4604-85D1-C52C6F61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43250"/>
            <a:ext cx="1714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91022-FCA9-48E7-8147-2F942C7F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432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0CB89-0DC3-4C5A-AB51-A9642543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371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95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952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CD2EA-02AF-4C85-8DB1-94C58712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6766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Dossier 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1A25B-DC74-4BD6-8AFB-AFDF109E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0005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preuves, statuts, documents, historique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4164B-BE4B-4D4F-A19F-3DF6EDD5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5285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951066-B738-458B-BE35-F29C61D5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43250"/>
            <a:ext cx="1714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1564E8-273E-4F81-9AF5-CB65C312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432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F0352-02B0-4A01-B945-BA98B89E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71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9B9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9B9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E0AB00-627E-44B8-837F-6BF0C3B4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766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05DAB1-5F92-46AB-81FC-00FA525F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005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humaine: revue agent, correction, complement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1EA7B6-574E-42C8-BCA7-F30CD4DE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5285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B08490-E756-4444-B5B4-74F4E3BB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1714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CAAC9C-F4A2-4F55-80DC-AFCD62C0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DB8589-E96E-471C-AC5A-DA2C727C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71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57D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557D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A9B495-9FC1-47CD-9CE4-D1012FFA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766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Controle risque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F685FC-D5E4-43D2-8994-C456E5EB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0005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LCB-FT, biometrie, blocage si alerte ouverte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C4D09A-1E07-4E7A-93E6-9FB7A0BD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5285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DAE500-1256-4FDC-BC7C-CA2BD7E0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714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479B7F-CB6C-458A-B5C3-B9206DF5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7EB2F6-5FC8-4A1F-9104-BA4F11E9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71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4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93E1CC-AE74-4B15-98EE-0A7C8D33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766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Pilotage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8036E4-4A6B-4BAD-8CBD-69F3360A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005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audit, centre de pilotage, indicateurs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44CE3D-A4E3-4B7B-814A-02FC140C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2687A6-79B2-4FCD-A0B4-3189F809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14950"/>
            <a:ext cx="866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retenir: la version fonctionnelle ne remplace pas le jugement de la banque; elle prepare de meilleures preuves avant ce jugement.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905CB2-B91B-4BDD-A0D6-89B43FE5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F8B5D1-0881-48E4-A0EE-F114DA97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connaissance client souveraine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B5A9D9-EFDB-4E46-9E90-21ACB2A1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106335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55DB76-5645-4171-BFF8-805F1AD3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982FE-E2AC-4A61-B2AD-2410DCC6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482B1-B101-4D93-9FA3-B636CF1C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PREUVE CLIENT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F9677-CBF5-4CFC-B823-D6C7C84E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Le client avance vite. BICEC garde le cadre.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3EB43-361F-4EF2-B5A1-423F3CEF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85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parcours montre une application web mobile accessible et un perimetre volontairement borne: CNI Cameroun d'abord, autres documents desactives tant qu'ils ne sont pas prouves.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6DBEA-1F29-48C0-A5C5-859B96E5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981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1c09eaa6c4e25"/>
          <a:stretch xmlns:a="http://schemas.openxmlformats.org/drawingml/2006/main"/>
        </p:blipFill>
        <p:spPr>
          <a:xfrm xmlns:a="http://schemas.openxmlformats.org/drawingml/2006/main">
            <a:off x="972182" y="2857500"/>
            <a:ext cx="1408436" cy="304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0C79D-60F4-4A72-86E2-7E3DE56C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28765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19f392075422f"/>
          <a:srcRect xmlns:a="http://schemas.openxmlformats.org/drawingml/2006/main" l="0" t="18167" r="0" b="181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0" y="2743200"/>
            <a:ext cx="2686050" cy="31623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0BFB5-2AED-472C-A21D-2427598D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6550"/>
            <a:ext cx="3905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0e6b4ad1c43f6"/>
          <a:stretch xmlns:a="http://schemas.openxmlformats.org/drawingml/2006/main"/>
        </p:blipFill>
        <p:spPr>
          <a:xfrm xmlns:a="http://schemas.openxmlformats.org/drawingml/2006/main">
            <a:off x="8039213" y="2971800"/>
            <a:ext cx="1047524" cy="22669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62450-86DE-465A-B800-A6400F34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93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Ce que tu dis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DF0BA-1B55-447A-AAE0-0A99149F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382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92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1923"/>
                </a:solidFill>
                <a:latin typeface="Aptos"/>
                <a:ea typeface="Aptos"/>
                <a:cs typeface="Aptos"/>
              </a:rPr>
              <a:t>Ici, le point fort n'est pas seulement que l'ecran existe. Le point fort est que BICEC peut cadrer ce qu'elle accepte de tester, avant d'elargir le perimetre.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08FC9-C12E-4957-87AB-41B3FC70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7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Preuves internes: captures produit mobile et demo perimetre CNI, dossier marketing-presentation-bicec-2026-06-02/05_preuve_produit__*.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7063F-F2FC-4BF1-834A-28F15DF5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B6365-CFEB-400E-95A0-67F67C8B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connaissance client souveraine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EFFD8E-6332-40F3-88C9-4E5F6769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31655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242708-5992-464F-8252-1E5B1BEC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60104-0BAE-4DE0-AEEB-E626321F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FD236-0CE9-4D09-B0E5-5492B452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PREUVE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1EC41-ACCB-4DBB-A597-6C0437C8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Jean ne recoit plus des fragments. Il recoit un dossier.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21456-BD80-444A-8A83-CAD04FF9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valeur operationnelle n'est pas de supprimer l'humain. C'est de lui donner un dossier lisible, priorise et defendable.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BBE97-7291-4263-AFF2-5882723F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191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80600c23544fb"/>
          <a:stretch xmlns:a="http://schemas.openxmlformats.org/drawingml/2006/main"/>
        </p:blipFill>
        <p:spPr>
          <a:xfrm xmlns:a="http://schemas.openxmlformats.org/drawingml/2006/main">
            <a:off x="833967" y="2857500"/>
            <a:ext cx="3894667" cy="2190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5F88C-08EB-4D35-9AE2-466B51AC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33650"/>
            <a:ext cx="45720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c85f8c71744c7"/>
          <a:srcRect xmlns:a="http://schemas.openxmlformats.org/drawingml/2006/main" l="0" t="34981" r="0" b="349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14950" y="2628900"/>
            <a:ext cx="4381500" cy="27813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CDD38-3219-44A0-B01F-E6FDABF9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5785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9B207-08E5-4B9F-8838-C8AD1869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721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Promesse metier: moins de ressaisie, plus de discernement, une decision que l'on peut expliquer.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8EACD-D1ED-4F65-8E22-5AACFA11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7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Preuves internes: espace agent Jean, file de validation, dossier approuve, parcours API de bout en bout approuve le 26/05/2026.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410C6-A60B-432E-8CA5-870129E8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8C396-042F-4E9F-847F-7B9EF435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connaissance client souveraine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DE1CD-C626-4858-8A35-8ADEA93D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04813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436420-FE79-4394-9B14-3A599934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FAB14-73C1-4B9C-A5C2-4FBE489F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6D98B-4DDF-40CC-90A9-D4D6FD03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1D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1D6"/>
                </a:solidFill>
                <a:latin typeface="Aptos"/>
                <a:ea typeface="Aptos"/>
                <a:cs typeface="Aptos"/>
              </a:rPr>
              <a:t>PREUVE CONFORMITE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1E050-9B6A-4934-90F3-F7FE9BDA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334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vitesse n'a pas le droit de contourner le risque.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00C65-589A-4F40-A939-AF200905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La version fonctionnelle montre un garde-fou simple a comprendre: une alerte LCB-FT ouverte bloque l'approbation. C'est le bon message pour Thomas et pour l'audit.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089D6-6125-48CA-BF81-02A78AB8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42862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a351add254a4c"/>
          <a:srcRect xmlns:a="http://schemas.openxmlformats.org/drawingml/2006/main" l="0" t="34206" r="0" b="342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3143250"/>
            <a:ext cx="4095750" cy="2247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C7947-AE77-4743-A803-D79BD457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57500"/>
            <a:ext cx="4857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a34e8faa1435f"/>
          <a:srcRect xmlns:a="http://schemas.openxmlformats.org/drawingml/2006/main" l="0" t="34257" r="0" b="342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950" y="2952750"/>
            <a:ext cx="4667250" cy="2571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72721-8FCB-475E-A7DC-3B3979D3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753100"/>
            <a:ext cx="927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15815-14DC-4640-8D96-99EFB7B9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674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 a dire: VeriPass vend la croissance avec controle, pas la vitesse contre la conformite.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00E33-5609-4ACC-85F5-9C2D3EE4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91A4BA"/>
                </a:solidFill>
                <a:latin typeface="Aptos"/>
                <a:ea typeface="Aptos"/>
                <a:cs typeface="Aptos"/>
              </a:defRPr>
            </a:pPr>
            <a:r>
              <a:rPr sz="578" b="0">
                <a:solidFill>
                  <a:srgbClr val="91A4BA"/>
                </a:solidFill>
                <a:latin typeface="Aptos"/>
                <a:ea typeface="Aptos"/>
                <a:cs typeface="Aptos"/>
              </a:rPr>
              <a:t>Preuves internes: demo conformite LCB-FT du 28/05/2026, etapes 08 a 10; GAFI, Cameroun sous surveillance accrue, 13/02/2026.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7CC9A-21B3-40B1-9A83-21859642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C3669-64D4-4162-9C34-ECD20678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8"/>
                </a:solidFill>
                <a:latin typeface="Aptos"/>
                <a:ea typeface="Aptos"/>
                <a:cs typeface="Aptos"/>
              </a:rPr>
              <a:t>VeriPass - connaissance client souveraine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18ABD-1E4D-436E-BF88-F02B47AA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458729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A961B7-4A90-4987-A38D-4558412B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E16D9-D37A-46F5-9EB5-5A346280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A0DDA-F898-4606-95F0-F69BC7FE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PREUVE PILOTAGE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E6EDC-044C-43CA-BD95-5E5078C8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Ce qui etait disperse devient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9828F-A257-4C7E-B2BD-26DB330B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Sylvie voit la charge. Thomas voit les alertes. L'audit peut reconstituer les decisions. C'est la difference entre une application et un dispositif bancaire.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A11CE-4CB8-4419-BEF2-6BA0E0DD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191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f6acd64794910"/>
          <a:stretch xmlns:a="http://schemas.openxmlformats.org/drawingml/2006/main"/>
        </p:blipFill>
        <p:spPr>
          <a:xfrm xmlns:a="http://schemas.openxmlformats.org/drawingml/2006/main">
            <a:off x="781050" y="3015109"/>
            <a:ext cx="4000500" cy="225653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3A29E-E190-4511-9C38-87A271D9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43200"/>
            <a:ext cx="4191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18584227d444d"/>
          <a:srcRect xmlns:a="http://schemas.openxmlformats.org/drawingml/2006/main" l="0" t="3042" r="0" b="30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1150" y="2838450"/>
            <a:ext cx="4000500" cy="2381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4BC9B-0224-4AC4-9C14-4E5334D5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289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D3943-3014-4013-A0DD-495CA17B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0040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3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302A"/>
                </a:solidFill>
                <a:latin typeface="Aptos"/>
                <a:ea typeface="Aptos"/>
                <a:cs typeface="Aptos"/>
              </a:rPr>
              <a:t>Risque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B44C6-D80E-4C4E-A440-331C902C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3380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3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2460F-171B-44ED-86FA-5841D5C2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0525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B6B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B6B1B"/>
                </a:solidFill>
                <a:latin typeface="Aptos"/>
                <a:ea typeface="Aptos"/>
                <a:cs typeface="Aptos"/>
              </a:rPr>
              <a:t>Charge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3C2BB-B6FD-412A-8638-466A8C94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386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F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6901F-3958-4F94-A8CF-FD480833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1010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9B9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9B97"/>
                </a:solidFill>
                <a:latin typeface="Aptos"/>
                <a:ea typeface="Aptos"/>
                <a:cs typeface="Aptos"/>
              </a:rPr>
              <a:t>Preuve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69D2F-8831-4CA4-8268-4422E634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7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Preuves internes: captures centre de pilotage, indicateurs, audit COBAC et rapport demo.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F4387-EEEF-4627-9C9D-46BDB9A2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64C253-9719-4B59-AA9B-FF0E1A5C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connaissance client souveraine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9A9DA8-3227-44BF-842B-B827C9F6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920425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FC2FC8-5FA2-47C6-9F28-DDDCFDE1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D393A-6E01-46E0-B97C-EF750AA5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9322A-D543-4516-8DC0-C76D8FE1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BETA INTERNE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F8C88-26DF-48D0-B664-8DC824CA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Le tunnel Cloudflare sert a apprendre, pas a pretendre etre en production.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9693D-01E7-47A2-8598-3DB4A4E1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Tant que ta machine reste connectee, les responsables peuvent tester l'application mobile et l'espace agents. C'est suffisant pour une phase d'essai encadree, pas pour un deploiement cible.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91776-CC2B-4719-84EE-EC0A8B5C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952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3C545-549A-4955-95D5-D03DE190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2F483-CDA1-4DE5-958E-588E69CD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Responsables BICEC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ACC8D-29C6-4377-BA0F-92C1AC85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tests internes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F79AE-751C-486A-A5C3-1650F346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05250"/>
            <a:ext cx="752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93D2B-8DB5-4BD1-8DF7-01EA293C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33750"/>
            <a:ext cx="1952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2E919-7A8D-4541-A392-5C60BA53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3375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966AB-B041-47A8-A817-540B8514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385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Tunnel Cloudflare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6139F4-96F2-47D4-B9A9-C312E742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38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acces controle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E8A85-32A1-4E8F-94B9-22DDC1C1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905250"/>
            <a:ext cx="752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8E464B-676F-46A2-AA06-A75FCB64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1952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14DADC-07D9-4A2A-B39E-66C47697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75822-0052-4B3A-A100-15FAC164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Version VeriPass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7AD742-684D-448F-A217-629D9A48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mobile + espace agents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F7B2D-ABBD-4C0E-A729-3C617E90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905250"/>
            <a:ext cx="752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BBB20-85BD-40B8-AF64-15E9DA52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1952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2260D-CA46-43AC-AC4D-34166AFD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B7654B-9A3E-4E58-9D66-24A1C71E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385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Retours equipes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969CDF-EEB0-42D9-BC1B-9FBC5074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38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risques, parcours, indicateurs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8E2749-B837-4110-9BA9-DABDC60F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19700"/>
            <a:ext cx="8524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40B70B-EF45-432F-B427-E1ED3D4A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530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 que l'on demande: ouvrir l'usage a quelques referents, observer, corriger, puis decider sur preuves.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6C120E-4243-47D3-A612-E894E72B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A0E910-78AA-4EB2-B4EA-A910F0AB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connaissance client souveraine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9E730E-EB13-4CA3-B31F-489A1FBF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349226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D6921F-60AB-4808-B222-B06EE6B3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E0706-50B9-4072-9D69-84B49B24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CF3A1-15E5-4B05-8185-FC4138E8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1D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1D6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A620B-F951-455B-85CC-2885EA31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810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Transformer la version fonctionnelle en dispositif bancaire eprouve.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7E8DD-983F-4237-9B3E-0F5E3EED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762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La suite ne doit pas etre une liste de fonctionnalites. Elle doit etre une validation croisee: metier, conformite, SI, operations et donnees.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AFFD8-858B-4AAC-83AF-27E6EEB6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43032-F7A0-4911-8FDE-234FC79E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781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42442-F7A5-4CA0-A4DF-30A36622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210EC-AD13-47EB-9EE2-09908CA5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62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VALIDER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742F2-F172-45FB-92A3-23E427F5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Metier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D3CE7-475E-4064-993B-7D435628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scenarios reels, irritants agence, parcours client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78ADD-FEBD-4BFA-9144-BE1AC265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0515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762D8-55E9-4C6A-9495-0DD95DE6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05150"/>
            <a:ext cx="2781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0E5BC-1380-4D9B-AFBA-B37C06EC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0A446-0EEA-4F9E-B1B8-57F929FB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62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VALIDER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F62A0-E19F-40AB-9F56-BED55210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195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Conformite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88727-7058-4251-B065-2D85D2AC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0525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LCB-FT, conservation, preuves, decisions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0CA76-9340-4ED5-B17B-AABC422B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CFDE1-32B0-41A7-923E-9DAB1180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2781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E52E1-EC65-42F7-B3ED-310B04EB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956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069F1A-42CE-44FE-AB19-35AA158A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62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VALIDER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BAD3C-8FE4-4349-8BFE-2D3FAA5B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 / Securite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A0FD43-8F8E-40C0-BF68-CB60931E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durcissement, acces, hebergement cible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E27A38-E34E-4ADD-A024-23DD5542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CA99A7-8C21-4A7D-B5F3-1B3A4FC4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2781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8FFD2D-C07C-4089-BC1A-6ED353B4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768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6552A1-736F-4086-A188-D67215F7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4347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VALIDER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860A6A-5621-46FD-BE87-3762825B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00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2999C0-28F1-4806-B93B-B45ABFD9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864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files, delais cibles, roles, appui, procedures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E2E2CE-F598-4126-BD7A-E3274597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86300"/>
            <a:ext cx="2781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A2578E-C85F-4E75-B453-242D4199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86300"/>
            <a:ext cx="2781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77D887-CF52-4AEC-9F57-20DD009E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768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86585A-D962-4510-AFEA-69192082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4347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VALIDER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99B52A-59B2-4816-B230-98D70865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00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Donnees / valeur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CEACF1-8D85-446A-B82D-AC906BE4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864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etat initial, indicateurs pilote, cout par dossier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D16E26-102D-46D5-A8C8-B311F572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625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6"/>
          </a:solidFill>
          <a:ln xmlns:a="http://schemas.openxmlformats.org/drawingml/2006/main" w="9525">
            <a:solidFill>
              <a:srgbClr val="30405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41DBEA-A7F8-4007-AC1A-4F4ADFCF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339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FB0C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FB0C6"/>
                </a:solidFill>
                <a:latin typeface="Aptos"/>
                <a:ea typeface="Aptos"/>
                <a:cs typeface="Aptos"/>
              </a:rPr>
              <a:t>Sortie attendue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7B4D8E-E678-42EF-B8F5-BC212996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435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continuer / arreter / refondre / acheter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35DA88-E9C4-4EEB-9DBE-BE38B29E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D6DB30-E30A-4825-BEE7-5012EC14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8"/>
                </a:solidFill>
                <a:latin typeface="Aptos"/>
                <a:ea typeface="Aptos"/>
                <a:cs typeface="Aptos"/>
              </a:rPr>
              <a:t>VeriPass - connaissance client souveraine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CAA72C-8B02-44F0-BA3A-443704BA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46671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773B28-3879-46DB-A878-04D96668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87C89-EAA6-413B-BC9E-3DDFBC22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5828C-3862-4821-9DD8-5CC30726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DOSSIER ECONOMIQUE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08C6E-CBE0-49CE-B6DD-E6098040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666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Ne pas maquiller les gains. Les mesurer.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0E3A5-FC68-480B-B69B-AAD68B40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retour sur investissement ne vient pas d'un chiffre invente. Il vient d'un pilote qui mesure les variables BICEC.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9BA15-F443-4472-B3CE-031FE4AD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5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BE4B4-F8E2-4177-BA50-57BBCC25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5EB1D-EB0D-4F5B-9263-ADAA227E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Reprises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BAFAC-278C-4465-8454-692931AB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D227E-19DF-4DF2-B54B-8568207B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24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92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1923"/>
                </a:solidFill>
                <a:latin typeface="Aptos"/>
                <a:ea typeface="Aptos"/>
                <a:cs typeface="Aptos"/>
              </a:rPr>
              <a:t>dossiers/mois x minutes economisees x cout horaire / 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26984-B45C-4303-A5E1-E185CFE9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5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C1164-60B3-4D2F-8367-EC55E032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5E7F0-DFA7-4437-A3A8-6D1B13AA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Transformation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9B2A7-33A3-418C-AD21-151D3C22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7190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1EA1C-306C-463E-B1DD-65B6F02B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433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92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1923"/>
                </a:solidFill>
                <a:latin typeface="Aptos"/>
                <a:ea typeface="Aptos"/>
                <a:cs typeface="Aptos"/>
              </a:rPr>
              <a:t>clients potentiels convertis x valeur moyenne client actif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A4E1D-B88E-4DF3-B252-2D8B04E1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5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7325F-0A94-495F-845C-706804F8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45EEEE-87E2-48DF-8DD0-3C734F75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Conformite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2FA87-6391-4CC0-80D5-FA31F6A8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9105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6BE8B0-B57A-4CA6-A011-241BE4A5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92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1923"/>
                </a:solidFill>
                <a:latin typeface="Aptos"/>
                <a:ea typeface="Aptos"/>
                <a:cs typeface="Aptos"/>
              </a:rPr>
              <a:t>dossiers incomplets evites x cout de reprise ou incident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38D268-0D20-4624-850B-23AF9F04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7630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82E5B2-4D1F-4B6C-9177-54172DB2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104900"/>
            <a:ext cx="1676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FB0C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FB0C6"/>
                </a:solidFill>
                <a:latin typeface="Aptos"/>
                <a:ea typeface="Aptos"/>
                <a:cs typeface="Aptos"/>
              </a:rPr>
              <a:t>Phrase a dire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68CCC2-DCF6-4C79-B0A4-6A2C97D9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52550"/>
            <a:ext cx="1790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Je ne veux pas maquiller le dossier economique. Le pilote sert justement a mesurer ces variables avec les chiffres BICEC.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C3A9FE-B94F-455F-9A12-FC1F85B2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7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Repere prudent: Fenergo 2025 signale que 70% des institutions interrogees ont perdu des clients a cause d'une entree en relation lente; a ne pas traiter comme chiffre BICEC.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48CA76-B7CE-4B76-A63C-12C7395F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77854-F623-4C9B-A4FE-D476F42F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VeriPass - connaissance client souveraine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43F40D-709D-48D4-886E-394C6FF1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B6F6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8052919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6D19C0-FCE2-4A9B-9F04-24402154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482DB-7374-44BB-8614-E46D6889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4A7E0-5278-4132-ABB4-C56A09F8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0F9EC-3A27-4124-A5D0-2538CD86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aee10252f4735"/>
          <a:stretch xmlns:a="http://schemas.openxmlformats.org/drawingml/2006/main"/>
        </p:blipFill>
        <p:spPr>
          <a:xfrm xmlns:a="http://schemas.openxmlformats.org/drawingml/2006/main">
            <a:off x="876300" y="4572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B4DD3-8671-485A-A5E4-E7C4C34E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24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VeriPass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F932A-6421-491B-A472-E76EE3C6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90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9C709-5545-4317-9A6C-B4179F15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1430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1D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1D6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E4B3C-5152-45F6-AA85-C68C00DE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Donnez a BICEC le droit de mesurer son avance.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EF981-61CB-4E4E-9517-E540B2C3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6F2"/>
                </a:solidFill>
                <a:latin typeface="Aptos"/>
                <a:ea typeface="Aptos"/>
                <a:cs typeface="Aptos"/>
              </a:rPr>
              <a:t>La demande n'est pas un deploiement national. La demande est une phase d'essai interne portee, mesuree et encadree.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E960F2-CD71-4B16-AD99-7057ECDA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188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674D9-0133-4DCD-8819-19B09903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C025C-5F99-4751-8FB6-6F9B49AC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3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302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32EF3-0FA0-4C31-AA76-D6B008BC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Nommer un porteur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41C08-EE6F-4DFF-862D-65CC31C0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B9C6D8"/>
                </a:solidFill>
                <a:latin typeface="Aptos"/>
                <a:ea typeface="Aptos"/>
                <a:cs typeface="Aptos"/>
              </a:rPr>
              <a:t>metier + conformite + 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70A1AB-90C8-48F7-A3D7-859FF831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71950"/>
            <a:ext cx="188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4FD88-3C34-4CCA-AABF-7243391F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719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5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2E6DF-071E-44DF-9D94-887FD280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005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95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952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20F4F0-A870-4275-863C-6E100F7A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05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Autoriser l'essai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55BC0C-FAB2-4775-9A3F-FEC70508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10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B9C6D8"/>
                </a:solidFill>
                <a:latin typeface="Aptos"/>
                <a:ea typeface="Aptos"/>
                <a:cs typeface="Aptos"/>
              </a:rPr>
              <a:t>acces encadre a la version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4BDD66-CB54-42EE-AD59-515995C0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71950"/>
            <a:ext cx="188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111A37-6BF9-4D29-A143-1CCD04C1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719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F701A7-7E47-4B86-949F-0DBFF2C1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005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9B9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9B9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810977-7794-4B8D-A062-CF50FABC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05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Mesurer l'etat initial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CCAF4E-2C5B-4666-878B-758707AE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10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B9C6D8"/>
                </a:solidFill>
                <a:latin typeface="Aptos"/>
                <a:ea typeface="Aptos"/>
                <a:cs typeface="Aptos"/>
              </a:rPr>
              <a:t>delais, reprises, abandon, cout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CB0838-370F-4EE1-8098-3B741E67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188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FEEE00-5780-48B6-81F5-29D2E712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588858-D08A-40C0-94EF-9FD5A68E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005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4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2AD651-2935-4E50-8C8B-F99B7C24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05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Decider sur faits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0069E4-94C6-4745-AD57-286A027B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10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B9C6D8"/>
                </a:solidFill>
                <a:latin typeface="Aptos"/>
                <a:ea typeface="Aptos"/>
                <a:cs typeface="Aptos"/>
              </a:rPr>
              <a:t>continuer / arreter / phase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B50520-664A-42D1-A11D-9CC9D72A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573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251EBE-5B9F-486C-9F22-3257E7BC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8115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Fermeture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FB9EA9-BD79-492A-807C-4916DB8A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1923"/>
                </a:solidFill>
                <a:latin typeface="Aptos Display"/>
                <a:ea typeface="Aptos Display"/>
                <a:cs typeface="Aptos Display"/>
              </a:rPr>
              <a:t>N'achetez pas une promesse.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217D9F-DEC1-4A3A-BEE4-F14D9A37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Achetez la capacite de tester avant que la porte client soit prise ailleurs.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ABB82A-ADF8-4A47-8277-63F58545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27434E-61CC-43D3-A353-934A5519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8"/>
                </a:solidFill>
                <a:latin typeface="Aptos"/>
                <a:ea typeface="Aptos"/>
                <a:cs typeface="Aptos"/>
              </a:rPr>
              <a:t>VeriPass - decision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F57804-E994-4786-AD57-9AB91043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77494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2026-06-03T10:44:12.5930000Z</dcterms:created>
  <dcterms:modified xsi:type="dcterms:W3CDTF">2026-06-03T10:44:12.5940000Z</dcterms:modified>
</coreProperties>
</file>