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03ea1714836463d" /><Relationship Type="http://schemas.openxmlformats.org/officeDocument/2006/relationships/extended-properties" Target="/docProps/app.xml" Id="R64ec50ec0db14b91" /><Relationship Type="http://schemas.openxmlformats.org/officeDocument/2006/relationships/officeDocument" Target="/ppt/presentation.xml" Id="R149fc399ab84433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c23eff139554d3b"/>
  </p:sldMasterIdLst>
  <p:notesMasterIdLst>
    <p:notesMasterId xmlns:r="http://schemas.openxmlformats.org/officeDocument/2006/relationships" r:id="R35ee7a72c6084c9c"/>
  </p:notesMasterIdLst>
  <p:sldIdLst>
    <p:sldId xmlns:r="http://schemas.openxmlformats.org/officeDocument/2006/relationships" id="256" r:id="R435e3a967c634c9c"/>
    <p:sldId xmlns:r="http://schemas.openxmlformats.org/officeDocument/2006/relationships" id="257" r:id="Rb61fa5a912484b58"/>
    <p:sldId xmlns:r="http://schemas.openxmlformats.org/officeDocument/2006/relationships" id="258" r:id="R349dc4994cb94651"/>
    <p:sldId xmlns:r="http://schemas.openxmlformats.org/officeDocument/2006/relationships" id="259" r:id="Rdeaaad73da944d1f"/>
    <p:sldId xmlns:r="http://schemas.openxmlformats.org/officeDocument/2006/relationships" id="260" r:id="R1b25d32559d74080"/>
    <p:sldId xmlns:r="http://schemas.openxmlformats.org/officeDocument/2006/relationships" id="261" r:id="R8dc4a1f4970548f4"/>
    <p:sldId xmlns:r="http://schemas.openxmlformats.org/officeDocument/2006/relationships" id="262" r:id="R38e895ed51d54403"/>
    <p:sldId xmlns:r="http://schemas.openxmlformats.org/officeDocument/2006/relationships" id="263" r:id="Rb99540d3d681421f"/>
    <p:sldId xmlns:r="http://schemas.openxmlformats.org/officeDocument/2006/relationships" id="264" r:id="R4a8fd2887c464722"/>
    <p:sldId xmlns:r="http://schemas.openxmlformats.org/officeDocument/2006/relationships" id="265" r:id="R6452a76013f242dd"/>
    <p:sldId xmlns:r="http://schemas.openxmlformats.org/officeDocument/2006/relationships" id="266" r:id="Rad16b83893ee44bf"/>
    <p:sldId xmlns:r="http://schemas.openxmlformats.org/officeDocument/2006/relationships" id="267" r:id="Ref79b08ec6b145b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23eff139554d3b" /><Relationship Type="http://schemas.openxmlformats.org/officeDocument/2006/relationships/theme" Target="/ppt/theme/theme1.xml" Id="R9a58bcdd09c54511" /><Relationship Type="http://schemas.openxmlformats.org/officeDocument/2006/relationships/notesMaster" Target="/ppt/notesMasters/notesMaster1.xml" Id="R35ee7a72c6084c9c" /><Relationship Type="http://schemas.openxmlformats.org/officeDocument/2006/relationships/presProps" Target="/ppt/presProps.xml" Id="Rd655b9b7be6b43b6" /><Relationship Type="http://schemas.openxmlformats.org/officeDocument/2006/relationships/viewProps" Target="/ppt/viewProps.xml" Id="R0184baae9ff24e26" /><Relationship Type="http://schemas.openxmlformats.org/officeDocument/2006/relationships/tableStyles" Target="/ppt/tableStyles.xml" Id="R44b7bb97739f4d02" /><Relationship Type="http://schemas.openxmlformats.org/officeDocument/2006/relationships/slide" Target="/ppt/slides/slide1.xml" Id="R435e3a967c634c9c" /><Relationship Type="http://schemas.openxmlformats.org/officeDocument/2006/relationships/slide" Target="/ppt/slides/slide2.xml" Id="Rb61fa5a912484b58" /><Relationship Type="http://schemas.openxmlformats.org/officeDocument/2006/relationships/slide" Target="/ppt/slides/slide3.xml" Id="R349dc4994cb94651" /><Relationship Type="http://schemas.openxmlformats.org/officeDocument/2006/relationships/slide" Target="/ppt/slides/slide4.xml" Id="Rdeaaad73da944d1f" /><Relationship Type="http://schemas.openxmlformats.org/officeDocument/2006/relationships/slide" Target="/ppt/slides/slide5.xml" Id="R1b25d32559d74080" /><Relationship Type="http://schemas.openxmlformats.org/officeDocument/2006/relationships/slide" Target="/ppt/slides/slide6.xml" Id="R8dc4a1f4970548f4" /><Relationship Type="http://schemas.openxmlformats.org/officeDocument/2006/relationships/slide" Target="/ppt/slides/slide7.xml" Id="R38e895ed51d54403" /><Relationship Type="http://schemas.openxmlformats.org/officeDocument/2006/relationships/slide" Target="/ppt/slides/slide8.xml" Id="Rb99540d3d681421f" /><Relationship Type="http://schemas.openxmlformats.org/officeDocument/2006/relationships/slide" Target="/ppt/slides/slide9.xml" Id="R4a8fd2887c464722" /><Relationship Type="http://schemas.openxmlformats.org/officeDocument/2006/relationships/slide" Target="/ppt/slides/slide10.xml" Id="R6452a76013f242dd" /><Relationship Type="http://schemas.openxmlformats.org/officeDocument/2006/relationships/slide" Target="/ppt/slides/slide11.xml" Id="Rad16b83893ee44bf" /><Relationship Type="http://schemas.openxmlformats.org/officeDocument/2006/relationships/slide" Target="/ppt/slides/slide12.xml" Id="Ref79b08ec6b145b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6f8a87cfab804cb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63ccc71cdb546e5" /><Relationship Type="http://schemas.openxmlformats.org/officeDocument/2006/relationships/notesMaster" Target="/ppt/notesMasters/notesMaster1.xml" Id="R71fdd0a3d8aa490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4b6cd9f9d454d62" /><Relationship Type="http://schemas.openxmlformats.org/officeDocument/2006/relationships/notesMaster" Target="/ppt/notesMasters/notesMaster1.xml" Id="Rc72136e0af5f437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9ba65f9c12d4dc4" /><Relationship Type="http://schemas.openxmlformats.org/officeDocument/2006/relationships/notesMaster" Target="/ppt/notesMasters/notesMaster1.xml" Id="R9ea9e8c5678440e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e29072d4ce64307" /><Relationship Type="http://schemas.openxmlformats.org/officeDocument/2006/relationships/notesMaster" Target="/ppt/notesMasters/notesMaster1.xml" Id="Rac645568564f4e3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ec723b29da34b17" /><Relationship Type="http://schemas.openxmlformats.org/officeDocument/2006/relationships/notesMaster" Target="/ppt/notesMasters/notesMaster1.xml" Id="R9467a9b2b8bd407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3050125be6c47e3" /><Relationship Type="http://schemas.openxmlformats.org/officeDocument/2006/relationships/notesMaster" Target="/ppt/notesMasters/notesMaster1.xml" Id="Rb1ab29744f4f45b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ecd8a896bea44e0" /><Relationship Type="http://schemas.openxmlformats.org/officeDocument/2006/relationships/notesMaster" Target="/ppt/notesMasters/notesMaster1.xml" Id="R9295044fc423479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2993d9b2a2347d1" /><Relationship Type="http://schemas.openxmlformats.org/officeDocument/2006/relationships/notesMaster" Target="/ppt/notesMasters/notesMaster1.xml" Id="Rb04af0a85f564a7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3c5b85cdffb4a6d" /><Relationship Type="http://schemas.openxmlformats.org/officeDocument/2006/relationships/notesMaster" Target="/ppt/notesMasters/notesMaster1.xml" Id="R3d0f12b2f3444ad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035169b8b274c1e" /><Relationship Type="http://schemas.openxmlformats.org/officeDocument/2006/relationships/notesMaster" Target="/ppt/notesMasters/notesMaster1.xml" Id="R400e21330d6046d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342a9f69017418d" /><Relationship Type="http://schemas.openxmlformats.org/officeDocument/2006/relationships/notesMaster" Target="/ppt/notesMasters/notesMaster1.xml" Id="R388c38d2f2574bd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86f51f069e24a0e" /><Relationship Type="http://schemas.openxmlformats.org/officeDocument/2006/relationships/notesMaster" Target="/ppt/notesMasters/notesMaster1.xml" Id="R7211b1391f7f461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28701401504911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06a1c831ec984e69" /><Relationship Type="http://schemas.openxmlformats.org/officeDocument/2006/relationships/slideLayout" Target="/ppt/slideLayouts/slideLayout2.xml" Id="R83a5cd75884f413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3a5cd75884f413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f6e8e73907e49a9" /><Relationship Type="http://schemas.openxmlformats.org/officeDocument/2006/relationships/image" Target="/ppt/media/image.jpeg" Id="R6a77fcbed5d34072" /><Relationship Type="http://schemas.openxmlformats.org/officeDocument/2006/relationships/image" Target="/ppt/media/image.png" Id="R3dd49c42e8234e57" /><Relationship Type="http://schemas.openxmlformats.org/officeDocument/2006/relationships/image" Target="/ppt/media/image2.png" Id="R1466d69f80d34a06" /><Relationship Type="http://schemas.openxmlformats.org/officeDocument/2006/relationships/notesSlide" Target="/ppt/notesSlides/notesSlide1.xml" Id="R112bd518a6fd44b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142880985e54bf7" /><Relationship Type="http://schemas.openxmlformats.org/officeDocument/2006/relationships/notesSlide" Target="/ppt/notesSlides/notesSlide2.xml" Id="Rd75868336d0b4e1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356606c4b864c8b" /><Relationship Type="http://schemas.openxmlformats.org/officeDocument/2006/relationships/notesSlide" Target="/ppt/notesSlides/notesSlide3.xml" Id="Re461f7617fe34cc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2903fe13e0e4128" /><Relationship Type="http://schemas.openxmlformats.org/officeDocument/2006/relationships/notesSlide" Target="/ppt/notesSlides/notesSlide4.xml" Id="Ra794cf11033f4cc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3d229a8309e4c57" /><Relationship Type="http://schemas.openxmlformats.org/officeDocument/2006/relationships/notesSlide" Target="/ppt/notesSlides/notesSlide5.xml" Id="Rdb4de12d4d774b8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dc38588402b4169" /><Relationship Type="http://schemas.openxmlformats.org/officeDocument/2006/relationships/notesSlide" Target="/ppt/notesSlides/notesSlide6.xml" Id="Rbd5487160e9140d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3e4f5425093425d" /><Relationship Type="http://schemas.openxmlformats.org/officeDocument/2006/relationships/notesSlide" Target="/ppt/notesSlides/notesSlide7.xml" Id="R0746734ab0ee444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c14af700f014ae9" /><Relationship Type="http://schemas.openxmlformats.org/officeDocument/2006/relationships/notesSlide" Target="/ppt/notesSlides/notesSlide8.xml" Id="Rc888838066384a2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8714e3111ac4f2a" /><Relationship Type="http://schemas.openxmlformats.org/officeDocument/2006/relationships/image" Target="/ppt/media/image3.png" Id="Rc1c14645d9d0410b" /><Relationship Type="http://schemas.openxmlformats.org/officeDocument/2006/relationships/image" Target="/ppt/media/image4.png" Id="Rdcb2627723b14b50" /><Relationship Type="http://schemas.openxmlformats.org/officeDocument/2006/relationships/image" Target="/ppt/media/image5.png" Id="R71e9c47867f34ad9" /><Relationship Type="http://schemas.openxmlformats.org/officeDocument/2006/relationships/notesSlide" Target="/ppt/notesSlides/notesSlide9.xml" Id="R73ff356a3f2846a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e2e60adcf8645ae" /><Relationship Type="http://schemas.openxmlformats.org/officeDocument/2006/relationships/notesSlide" Target="/ppt/notesSlides/notesSlide10.xml" Id="R460e47b0dbb8411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f6622104dc54b46" /><Relationship Type="http://schemas.openxmlformats.org/officeDocument/2006/relationships/notesSlide" Target="/ppt/notesSlides/notesSlide11.xml" Id="R29d81e7817b94f8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50c7305763b43d1" /><Relationship Type="http://schemas.openxmlformats.org/officeDocument/2006/relationships/image" Target="/ppt/media/image2.jpeg" Id="Rbc3b150da23748a1" /><Relationship Type="http://schemas.openxmlformats.org/officeDocument/2006/relationships/notesSlide" Target="/ppt/notesSlides/notesSlide12.xml" Id="Rdd16fb4c36f246d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12E37C-6336-49AF-BE51-E396386AA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D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9C120E-5269-4764-A869-F8C4469FC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D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C12C7E-7A3A-4CC7-ACC4-4A6C7C962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19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3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9DE916-B238-4B1F-919B-42C3CB157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B6B6C9-6BF3-414E-89AF-9EE9DDD7F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77fcbed5d34072"/>
          <a:stretch xmlns:a="http://schemas.openxmlformats.org/drawingml/2006/main"/>
        </p:blipFill>
        <p:spPr>
          <a:xfrm xmlns:a="http://schemas.openxmlformats.org/drawingml/2006/main">
            <a:off x="800100" y="45720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CF96B3-6F7F-4B3E-AD39-3D2523889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524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VeriPass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31F0EA-9731-44F5-8F5F-46EFE1F01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001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9AA8BA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9AA8BA"/>
                </a:solidFill>
                <a:latin typeface="Aptos"/>
                <a:ea typeface="Aptos"/>
                <a:cs typeface="Aptos"/>
              </a:rPr>
              <a:t>STRATEGIC BUY-IN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F6028B-0574-4AE9-ACFF-6DA394893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62100"/>
            <a:ext cx="6191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Ne laissez pas la porte d'entree du client a quelqu'un d'autre.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413592-DC20-4BAC-9779-AE60ECBF1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19550"/>
            <a:ext cx="5429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6ECF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6ECF4"/>
                </a:solidFill>
                <a:latin typeface="Aptos"/>
                <a:ea typeface="Aptos"/>
                <a:cs typeface="Aptos"/>
              </a:rPr>
              <a:t>VeriPass n'est pas un logiciel a presenter. C'est une option pour posseder le premier geste client avant que le marche ne le normalise ailleurs.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3307A5-7412-4BCF-BD7A-9FB31F23F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05400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E8F72C-7989-4E06-AA96-4BA653E07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53050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9AA8BA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9AA8BA"/>
                </a:solidFill>
                <a:latin typeface="Aptos"/>
                <a:ea typeface="Aptos"/>
                <a:cs typeface="Aptos"/>
              </a:rPr>
              <a:t>La question a leur laisser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93CF34-FD85-48C5-8677-96CE513DD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38800"/>
            <a:ext cx="495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Qui controle l'identite controle la relation.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F3306A-C044-4CF5-9286-00BC4EC4C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723900"/>
            <a:ext cx="40957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F31"/>
          </a:solidFill>
          <a:ln xmlns:a="http://schemas.openxmlformats.org/drawingml/2006/main" w="9525">
            <a:solidFill>
              <a:srgbClr val="2D3A5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ED0557-849B-43E5-BA50-7A722D7B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904875"/>
            <a:ext cx="2286000" cy="436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d49c42e8234e57"/>
          <a:srcRect xmlns:a="http://schemas.openxmlformats.org/drawingml/2006/main" l="0" t="4002" r="0" b="40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77125" y="1000125"/>
            <a:ext cx="2095500" cy="417195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D0DAD2-BB10-4985-B239-D71748C2B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362075"/>
            <a:ext cx="2152650" cy="3409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66d69f80d34a06"/>
          <a:srcRect xmlns:a="http://schemas.openxmlformats.org/drawingml/2006/main" l="0" t="5636" r="0" b="56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53550" y="1457325"/>
            <a:ext cx="1962150" cy="321945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710E47-7649-496B-9CBF-E509E7492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429250"/>
            <a:ext cx="3333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3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487E47-8977-4BA3-A1B0-D96EED489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54355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 bataille commence avant l'agence.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83C88A-309C-4BAF-89C5-276E3A953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24E850-4A0A-4D19-ADCD-1F12AD0E8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8FA1B7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8FA1B7"/>
                </a:solidFill>
                <a:latin typeface="Aptos"/>
                <a:ea typeface="Aptos"/>
                <a:cs typeface="Aptos"/>
              </a:rPr>
              <a:t>VeriPass - strategic buy-in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927F1B-12F1-4636-BE67-064CE6A88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FA1B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FA1B7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8856481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26F6B5-D6FA-42A9-86ED-5391F2D79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9B35A7-934C-49FE-8073-E8800F17A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3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2ED05F-5331-4568-8FAC-4C9619532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LE VRAI TERRAIN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F813E1-FDC3-456C-BF52-8C0EB0B1F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8096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rPr>
              <a:t>Le KYC n'est plus une formalite. C'est le premier metre de la relation bancaire.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D6C141-A960-4765-A2FB-549005E44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025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Le client donne son identite, son consentement et son attention. Ce moment decide qui devient naturel dans son telephone.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54CC1A-9F17-41ED-B197-D8A13D45A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23431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9C35A4-1E00-4C88-A742-32B578A8E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23431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3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B88493-4CF4-4A4C-AB72-BF8982300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95650"/>
            <a:ext cx="514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5342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D5342B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451B30-D6DA-4088-8ABC-5C3C75112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3380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rPr>
              <a:t>Premier contact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20D28A-38D1-47E6-9F8A-29240BD39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24350"/>
            <a:ext cx="1771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Le client choisit ou il commence.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4A0527-8F2E-46ED-BB1F-AA5078900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48000"/>
            <a:ext cx="23431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035392-BCF9-4209-BF66-7AB002CBF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48000"/>
            <a:ext cx="23431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5F6B0A-6513-42BD-A80A-2CA974F12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95650"/>
            <a:ext cx="514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79A2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D79A2B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45DE51-0822-47D8-BA62-605D6451C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3380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rPr>
              <a:t>Premiere preuve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54DAD0-B48B-4269-A72D-9B3F633A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24350"/>
            <a:ext cx="1771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La banque apprend avant le guichet.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4CAAAC-0DC9-4903-932A-70494D3D2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48000"/>
            <a:ext cx="23431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765B95-4AB4-45E8-83B8-9A2F08CCF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48000"/>
            <a:ext cx="23431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9E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138DD7-7BFC-4413-A724-E4C11D2C2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95650"/>
            <a:ext cx="514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9E9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69E9A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7509E1-C63A-48EA-AF9A-34A50540D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3380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rPr>
              <a:t>Premier consentement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014253-2946-4A0E-A911-2CA81A9ED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324350"/>
            <a:ext cx="1771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La relation devient exploitable.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408192-5B5B-4257-BDF1-D8BB2D80A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048000"/>
            <a:ext cx="23431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F93A23-121A-477F-B308-4F57BCB51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048000"/>
            <a:ext cx="23431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A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AA7356-D87E-47BA-9E9D-AC6AE2769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295650"/>
            <a:ext cx="514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B7A45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B7A45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EBDF14-A159-40AE-B66C-762FAEB64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73380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rPr>
              <a:t>Premiere vente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F40F2C-8C45-46EA-8A88-FE2C113BC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324350"/>
            <a:ext cx="1771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BI PAY, cartes, epargne, credit.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596511-7734-4907-BE14-01A183DA6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219700"/>
            <a:ext cx="9944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DD386B-3E25-4D82-9EE8-30CF5C9EB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353050"/>
            <a:ext cx="914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Si BICEC ne possede pas ce moment, quelqu'un d'autre entrainera le client a commencer ailleurs.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65123B-41D3-4CD6-8EC9-1851617E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CB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4BECFAE-1C4B-477C-9C9B-ECC393E1F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VeriPass strategic buy-in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1143F5-9922-4B76-8200-06F9714DA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1431028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282714-438E-4DDF-AA5C-66678356A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1C9150-B251-4E4E-A821-7B50F797A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3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4A580F-960C-4BF7-AECF-E63F574BF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SIGNAL MONDIAL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2A1B65-61A9-4EE7-A94C-46667B343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78105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rPr>
              <a:t>Le mobile n'est plus un canal. C'est l'infrastructure d'acquisition.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95F6CF-1313-4E31-BBCB-BDFDF18AC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24050"/>
            <a:ext cx="8191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La question pour une banque n'est plus si le client ira sur mobile. La question est: qui aura le premier parcours digne de confiance 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E1AC00-1AA9-48B7-953E-5EF0CE9A5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3429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6F47A1-2925-422E-BEFE-F8E7C7A70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47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3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B8F64A-CDAD-47A0-8F21-CA997D641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28975"/>
            <a:ext cx="2686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rPr>
              <a:t>USD 2T+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95482F-D43D-4989-97E5-A66D4A8C5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57600"/>
            <a:ext cx="2628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transites via mobile money en 2025 selon GSMA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6C7746-1E19-4CC1-B4C2-1E33A8990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895600"/>
            <a:ext cx="3429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461405-E363-4A52-BB0E-68F6CD06F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257550"/>
            <a:ext cx="47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9250B8-6A1F-4B10-82AE-83E8D1A9A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228975"/>
            <a:ext cx="2686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rPr>
              <a:t>2.3B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6FFAFC-C70D-42B8-B2CC-195289ABB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657600"/>
            <a:ext cx="2628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comptes mobile money enregistres en 2025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696DE2-B903-4CE6-A827-4EE73ABBB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95600"/>
            <a:ext cx="3429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B47324-578C-49CE-9B2A-CEA0691E6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257550"/>
            <a:ext cx="47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9E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9D4DA0-5724-4ED1-98F6-FC05120DB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28975"/>
            <a:ext cx="2686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rPr>
              <a:t>40%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291D29-3326-42A9-8E32-D78D59987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657600"/>
            <a:ext cx="2628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adultes en pays a revenu faible/intermediaire ayant epargne en 2024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8FF3B3-22BD-41FD-AA7A-E538EDE9A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14950"/>
            <a:ext cx="10382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6665A3-F39B-4C48-BC52-CF95B88C6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438775"/>
            <a:ext cx="981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Le marche transforme le telephone en porte bancaire. Le KYC doit devenir cette porte, pas rester un dossier papier numerise.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D25548-F44F-4511-8F2B-667C02486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7B6F61"/>
                </a:solidFill>
                <a:latin typeface="Aptos"/>
                <a:ea typeface="Aptos"/>
                <a:cs typeface="Aptos"/>
              </a:defRPr>
            </a:pPr>
            <a:r>
              <a:rPr sz="585" b="0">
                <a:solidFill>
                  <a:srgbClr val="7B6F61"/>
                </a:solidFill>
                <a:latin typeface="Aptos"/>
                <a:ea typeface="Aptos"/>
                <a:cs typeface="Aptos"/>
              </a:rPr>
              <a:t>Sources: GSMA State of the Industry Report on Mobile Money 2026; World Bank Global Findex 2025.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3CED98-A6E2-4EC0-AC99-7FCCA478F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CB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2EF6E9-72A7-4FC2-93C5-6C33076D0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VeriPass strategic buy-in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505150-4572-4FA2-9C33-3CC842CE5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9506874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AA6CBE-0162-4BBE-9FBD-9506E7392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21995C-BEE5-4253-98D6-5C7187F19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3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4791E4-CEE1-4B75-ADCE-C94FF8338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SIGNAL CAMEROUN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26A6F8-C15A-4149-96AF-3B77DE465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rPr>
              <a:t>La bataille ne se prepare pas. Elle est deja en vitrine.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01EA8E-47A5-4E14-B31C-19C365834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8001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Il ne faut pas convaincre BICEC avec ses propres chiffres. Il faut montrer que le client, lui, compare deja les promesses d'entree.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1DB725-894A-4297-9282-946D15CFB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18859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68C937-3101-43E2-9A54-230200EAC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1885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3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E33DEF-09CF-4C70-9FC9-12F247AC9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194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rPr>
              <a:t>BGFI Cameroun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B3F6EC-06A1-4751-BCD5-177DD9547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95700"/>
            <a:ext cx="1466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Onboarding web. Upload pieces. App Banking/Money.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8B9B65-1FE7-4CE9-9F13-B154CDC3A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914650"/>
            <a:ext cx="18859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AE0588-3ACD-422A-A36B-29361C214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914650"/>
            <a:ext cx="1885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C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92EF50-FE53-415A-AE45-B041C12D2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2194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rPr>
              <a:t>Ecobank Xpress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4553DF-27A4-4BD7-9559-50F74928C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695700"/>
            <a:ext cx="1466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Compte mobile. Pas de file. Pas de references.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3F7499-A030-466F-AE33-843E519A3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914650"/>
            <a:ext cx="18859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D7D42F-524F-451B-939E-A14B8C00F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914650"/>
            <a:ext cx="1885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212DD4-2C26-4BF5-B5BB-52F534D03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2194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rPr>
              <a:t>Neero / Ecobank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9BAD27-8530-41DA-AE12-D1C63E126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695700"/>
            <a:ext cx="1466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3 minutes. 0 agence. 1 piece d'identite.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114A3C-BD8A-4EF7-8147-2836085D3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914650"/>
            <a:ext cx="18859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70F159-D54A-4332-8C5A-C77100B65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914650"/>
            <a:ext cx="1885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9E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95F7BE-D3BA-465C-994A-E08260678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194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rPr>
              <a:t>Orange Money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21B14A-646E-4763-B084-032AF90D6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95700"/>
            <a:ext cx="1466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Selfcare. Identification valide. Ouverture en minutes.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9ADCB1-1CFB-4288-A22C-1B6CC20B1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914650"/>
            <a:ext cx="18859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1CD19D-0A13-448C-89EB-19FC9F5D7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914650"/>
            <a:ext cx="1885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A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4EFCD9-F5CE-4E09-8A30-68E1987A7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2194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rPr>
              <a:t>UBA M2U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302E2F-D366-43B1-93CE-0A2957EBB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695700"/>
            <a:ext cx="1466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Wallet pour clients et non-clients.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4BF7C9-7CAB-4175-9E6D-C754570F2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05400"/>
            <a:ext cx="10191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A048F3-7790-4F2C-AC91-55C61BFD9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76850"/>
            <a:ext cx="9601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Ce n'est pas une guerre de slogans. C'est banque contre banque, wallet contre banque: qui possede le premier geste client 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697A57-A426-47E1-9EC7-034BB66FA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7B6F61"/>
                </a:solidFill>
                <a:latin typeface="Aptos"/>
                <a:ea typeface="Aptos"/>
                <a:cs typeface="Aptos"/>
              </a:defRPr>
            </a:pPr>
            <a:r>
              <a:rPr sz="585" b="0">
                <a:solidFill>
                  <a:srgbClr val="7B6F61"/>
                </a:solidFill>
                <a:latin typeface="Aptos"/>
                <a:ea typeface="Aptos"/>
                <a:cs typeface="Aptos"/>
              </a:rPr>
              <a:t>Sources: BGFIBank Cameroun online onboarding, MyBGFIBANK CM, Ecobank Xpress, Neero Cameroon, Orange Money Cameroun, UBA Cameroon.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7F1E791-1BA9-43E2-8AE5-6C20020AF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CB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B78019-B05B-438D-B9D7-9820D3516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VeriPass strategic buy-in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B8DC84-88AE-41B3-83B1-B55BB5DB1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7860171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938128-4F70-495E-AA03-19775E826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D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75087E-2CCD-4EB2-A5F8-DBA036351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3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DCB467-5546-41C6-AE9F-20117876A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COUT DE L'INACTION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B6B8F7-C6ED-4A6C-AEE1-5BBFD0F0E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7429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Attendre, c'est financer l'habitude des autres.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529103-EAF2-4528-BDAF-11E86469A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62150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Le vrai risque n'est pas seulement de traiter les dossiers plus lentement. Le vrai risque est que le client apprenne a commencer ailleurs.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0BFBEB-A540-4C4B-8C03-96EAC3014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81350"/>
            <a:ext cx="16954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C2B"/>
          </a:solidFill>
          <a:ln xmlns:a="http://schemas.openxmlformats.org/drawingml/2006/main" w="9525">
            <a:solidFill>
              <a:srgbClr val="2C3A5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30A1FB-2D12-4734-B8F2-F6FCA4419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81350"/>
            <a:ext cx="1695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3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5AD05B-805B-4C6B-AA9B-318FA7BD1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4330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Premier contact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541FC6-C857-4169-B2F1-53AC184CA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95750"/>
            <a:ext cx="1257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AA8B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AA8BA"/>
                </a:solidFill>
                <a:latin typeface="Aptos"/>
                <a:ea typeface="Aptos"/>
                <a:cs typeface="Aptos"/>
              </a:rPr>
              <a:t>perdu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BD7A5D-DC54-4BD0-814F-7B662CF00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181350"/>
            <a:ext cx="16954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C2B"/>
          </a:solidFill>
          <a:ln xmlns:a="http://schemas.openxmlformats.org/drawingml/2006/main" w="9525">
            <a:solidFill>
              <a:srgbClr val="2C3A5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6058E9-362A-4F63-BF47-457C823C2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181350"/>
            <a:ext cx="1695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8AE825-4715-4364-9AD8-7369A3339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54330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Donnee d'identite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C0A256-095E-467D-A43E-1169B48F4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095750"/>
            <a:ext cx="1257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AA8B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AA8BA"/>
                </a:solidFill>
                <a:latin typeface="Aptos"/>
                <a:ea typeface="Aptos"/>
                <a:cs typeface="Aptos"/>
              </a:rPr>
              <a:t>apprise ailleurs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F30928-9C3E-49AE-9241-18D76017E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181350"/>
            <a:ext cx="16954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C2B"/>
          </a:solidFill>
          <a:ln xmlns:a="http://schemas.openxmlformats.org/drawingml/2006/main" w="9525">
            <a:solidFill>
              <a:srgbClr val="2C3A5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999A5A-42E1-434A-9C5B-DEF077EAA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181350"/>
            <a:ext cx="1695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3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8DBD4A-AB02-445A-B93D-466A8E9FA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54330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Cross-sell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3DC263-58BD-4668-A141-05A553A8C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095750"/>
            <a:ext cx="1257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AA8B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AA8BA"/>
                </a:solidFill>
                <a:latin typeface="Aptos"/>
                <a:ea typeface="Aptos"/>
                <a:cs typeface="Aptos"/>
              </a:rPr>
              <a:t>retarde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2A354E-F640-458D-9726-EA768B274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181350"/>
            <a:ext cx="16954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C2B"/>
          </a:solidFill>
          <a:ln xmlns:a="http://schemas.openxmlformats.org/drawingml/2006/main" w="9525">
            <a:solidFill>
              <a:srgbClr val="2C3A5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00E7FA-F970-4435-844D-DC2A90C91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181350"/>
            <a:ext cx="1695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E341E6-8E98-415C-8811-FED6F6E11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54330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Courbe KYC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472D7F-70C2-4091-AED5-8799CB256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095750"/>
            <a:ext cx="1257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AA8B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AA8BA"/>
                </a:solidFill>
                <a:latin typeface="Aptos"/>
                <a:ea typeface="Aptos"/>
                <a:cs typeface="Aptos"/>
              </a:rPr>
              <a:t>ratee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ACA4C2-8FA9-46AF-AEEC-8E3ADADBF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181350"/>
            <a:ext cx="16954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C2B"/>
          </a:solidFill>
          <a:ln xmlns:a="http://schemas.openxmlformats.org/drawingml/2006/main" w="9525">
            <a:solidFill>
              <a:srgbClr val="2C3A5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0A9B44-A1FC-411E-AB51-96DE5A37D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181350"/>
            <a:ext cx="1695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3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4AC77E-E74D-4C42-9C6E-5978733A4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54330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Image digitale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908A15-1F92-4E16-8356-66109D2CB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095750"/>
            <a:ext cx="1257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AA8B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AA8BA"/>
                </a:solidFill>
                <a:latin typeface="Aptos"/>
                <a:ea typeface="Aptos"/>
                <a:cs typeface="Aptos"/>
              </a:rPr>
              <a:t>subie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E20B49-792B-4CFD-B39C-46C47D10C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334000"/>
            <a:ext cx="9220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3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147B91-E5E3-44A7-9F51-C00324FC3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57825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Chaque mois sans rail KYC digital est un mois ou le marche enseigne autre chose au client.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A20023-7A33-48C7-895C-F6882FCE5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DD38D8-73D0-4317-AE62-94F091F3A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8FA1B7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8FA1B7"/>
                </a:solidFill>
                <a:latin typeface="Aptos"/>
                <a:ea typeface="Aptos"/>
                <a:cs typeface="Aptos"/>
              </a:rPr>
              <a:t>VeriPass strategic buy-in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45188B-291D-4CBB-A08C-5D219B9C0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FA1B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FA1B7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1339096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07CFD9-400A-4A27-B4EA-33A5C3639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09F91C-646B-44F8-83D6-1526A4348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3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1B3E1F-6182-40BE-B93A-23659B629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OPTION STRATEGIQUE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7BC52A-C241-4F7E-8F15-C9CE97280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8286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defRPr>
            </a:pPr>
            <a:r>
              <a:rPr sz="3075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rPr>
              <a:t>Les grandes opportunites ressemblent d'abord a de petits actifs imparfaits.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0B5482-60CF-4BCB-897E-15165D91E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24050"/>
            <a:ext cx="838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Le piege n'est pas de refuser un produit fini. Le piege est de ne pas reconnaitre assez tot une option qui peut devenir un point d'entree.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F0955C-40AB-407E-AE50-C539D952E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71800"/>
            <a:ext cx="476250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A5B0F0-F0AA-4FB6-885E-FEAF90B75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71800"/>
            <a:ext cx="4762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3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36747F-388C-4138-B1EB-7E05069D6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3375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rPr>
              <a:t>Option manquee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7D1179-01DA-4199-9DF6-E7E859298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90950"/>
            <a:ext cx="371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Yahoo / Google est l'image business classique: ne pas voir assez tot qu'un point d'entree informationnel peut devenir l'actif dominant.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DC228A-5D51-4C36-A7EB-BF264E44C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971800"/>
            <a:ext cx="476250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8BF156-79B1-4418-9257-0AC92E559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971800"/>
            <a:ext cx="4762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A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A9BD7C-014B-40A7-9929-1D392007D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33375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rPr>
              <a:t>Option achetee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ED2DA0-1EAC-4CD6-AD29-6862E7FED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790950"/>
            <a:ext cx="371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SoftBank / Alibaba est l'image inverse: acheter un pari asymetrique avant que le potentiel de plateforme soit evident pour tous.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7A9F65-8FA2-419F-BE6A-669DCF472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219700"/>
            <a:ext cx="8458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394E41-D002-46B1-A9B2-C36C873FD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53050"/>
            <a:ext cx="7810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 question n'est pas: le MVP est-il deja une usine nationale ? La question est: BICEC veut-elle posseder l'option KYC digitale maintenant 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DEF976-9ADA-441C-ACC3-FBB5DBD4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CB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E5E69F-43FF-4695-AD3C-EF28A1CAB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VeriPass strategic buy-in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E6ED99-1CED-4A79-A5CC-600C0842B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783912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170C57-B049-43A3-AE94-B92BF7C21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835F65-99E6-43EA-B052-2CB5E8364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3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AA31F2-B13E-4D44-87EF-823D52683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PARI ASYMETRIQUE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F4EA5A-30A2-4B19-BB38-6F63EEB4F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8572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rPr>
              <a:t>VeriPass donne une option a faible cout d'essai et forte valeur d'apprentissage.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947B85-B95A-4DF1-A19E-B4F25CCDC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24050"/>
            <a:ext cx="838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Le produit n'a pas besoin de tout promettre. Il doit permettre a BICEC de tester vite, apprendre reellement, et verrouiller le bon terrain.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90C1B5-1C67-443A-9D47-F2C058B29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71800"/>
            <a:ext cx="97917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1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81C611-B94F-4E12-8FDF-D8081CED9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71800"/>
            <a:ext cx="48958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2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D0E2A8-3BAD-4ED1-874B-10EB8A45D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71800"/>
            <a:ext cx="48958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69AC0C-970B-48A2-9E10-7703383D8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39090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rPr>
              <a:t>Cout d'essai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F20AEC-4322-442C-AEA0-93381FFB7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848100"/>
            <a:ext cx="342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Un MVP local, auditable, separe du core banking, deja demonstrable en mobile et backoffice.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3E30DF-5A72-4D5D-A071-1A40199F9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390900"/>
            <a:ext cx="3143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rPr>
              <a:t>Valeur d'apprentissage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855FBC-2E12-46DC-AE5B-12EDB15EE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848100"/>
            <a:ext cx="342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Dossiers reels, OCR local, risques, blocages AML, charge agent, points de friction client.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DABC50-B0FF-496F-8A42-2A3DCAAA0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181350"/>
            <a:ext cx="5334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3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8B6480-82AC-4E30-8DF9-8A81B9F05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924300"/>
            <a:ext cx="419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OPTION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528FA3-59E5-4142-B8AE-1AAC48C9E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581650"/>
            <a:ext cx="7848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1C9700-D9B1-4161-BD6A-E17A985E0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581650"/>
            <a:ext cx="78486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0FACE5-AC44-4FAE-8528-2456B94D9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715000"/>
            <a:ext cx="7334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16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161F"/>
                </a:solidFill>
                <a:latin typeface="Aptos"/>
                <a:ea typeface="Aptos"/>
                <a:cs typeface="Aptos"/>
              </a:rPr>
              <a:t>A moindre cout, BICEC ne teste pas seulement une app: elle teste une position de marche.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319BF2-F84E-458B-8D68-7DBB6E74E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CB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9DAC70-192D-49B5-9D37-D60F8A6A1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VeriPass strategic buy-in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9BFF56-8B2D-4C38-8927-DD1DED200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6420232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66F048-3D35-458D-81AD-D7263E1F2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5DCC13-09AF-423F-BA87-8C80E56F2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3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ADDEA0-275E-40C9-871B-1A2C29D53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LA DIFFERENCE BANCAIRE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EC4E9D-434F-48E4-A35F-804BC1AC1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8572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rPr>
              <a:t>La fintech vend la vitesse. La banque doit vendre la vitesse avec controle.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3A3E9A-7594-4E98-AB3A-FEBBC1AAC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24050"/>
            <a:ext cx="742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VeriPass n'est pas une fuite vers le digital. C'est une maniere de rendre le digital bancable.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69B6F6-635A-49B6-80A3-4F112DC9B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14650"/>
            <a:ext cx="31432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8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F11BFD-51E2-4664-A270-FA0604763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95650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D5342B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D5342B"/>
                </a:solidFill>
                <a:latin typeface="Aptos Display"/>
                <a:ea typeface="Aptos Display"/>
                <a:cs typeface="Aptos Display"/>
              </a:rPr>
              <a:t>Vitesse seule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D93F24-6F67-49F1-A286-86C7AF5F8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29050"/>
            <a:ext cx="2190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161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161F"/>
                </a:solidFill>
                <a:latin typeface="Aptos"/>
                <a:ea typeface="Aptos"/>
                <a:cs typeface="Aptos"/>
              </a:rPr>
              <a:t>Risque: ouvrir vite sans preuve suffisante.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087E11-A7AD-4966-93FE-B93EE0451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14650"/>
            <a:ext cx="31432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4D795C-BDDE-49F2-9E00-878C724FD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295650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B7A45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2B7A45"/>
                </a:solidFill>
                <a:latin typeface="Aptos Display"/>
                <a:ea typeface="Aptos Display"/>
                <a:cs typeface="Aptos Display"/>
              </a:rPr>
              <a:t>Controle seul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8AC235-D536-4576-A90A-A3541AEF3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829050"/>
            <a:ext cx="2190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161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161F"/>
                </a:solidFill>
                <a:latin typeface="Aptos"/>
                <a:ea typeface="Aptos"/>
                <a:cs typeface="Aptos"/>
              </a:rPr>
              <a:t>Risque: perdre le client avant la relation.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1EE833-86C2-484C-90BA-C4B24C6A0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667000"/>
            <a:ext cx="3505200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44648E-8FCF-4711-BADE-5013658D1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10515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VeriPass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D8BC87-51BD-42C4-A2A3-2EE710403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76650"/>
            <a:ext cx="266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rapide pour le client, bloquant pour le risque, lisible pour le manager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AFC3FE-3267-40B6-8E0C-712B154B4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4386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2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F5A8B0-8264-41C6-A62C-94F71B463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68630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CNI + liveness + AML + audit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D66F46-7F9C-44F6-B8E1-BCBD56E19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102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3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44BA9A-E2E3-4176-AAB0-293F0BB39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543550"/>
            <a:ext cx="2971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161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4161F"/>
                </a:solidFill>
                <a:latin typeface="Aptos"/>
                <a:ea typeface="Aptos"/>
                <a:cs typeface="Aptos"/>
              </a:rPr>
              <a:t>Decision humaine, pas approbation aveugle.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DB43B4-DC73-487D-AC86-AE571B7C1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6102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FD5509-0E07-4898-9E36-CC582FF69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5543550"/>
            <a:ext cx="2971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161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4161F"/>
                </a:solidFill>
                <a:latin typeface="Aptos"/>
                <a:ea typeface="Aptos"/>
                <a:cs typeface="Aptos"/>
              </a:rPr>
              <a:t>Alerte AML ouverte = approbation bloquee.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AE589B-9907-4135-8E46-9BADB37F6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6102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9E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CF68A7-ECC8-41A6-AF1B-EA1619B26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543550"/>
            <a:ext cx="2686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161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4161F"/>
                </a:solidFill>
                <a:latin typeface="Aptos"/>
                <a:ea typeface="Aptos"/>
                <a:cs typeface="Aptos"/>
              </a:rPr>
              <a:t>Audit et preuves exploitables.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6A64E4-81D1-470B-BD44-C95D970F0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CB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1AEC72-FBDB-42C5-A546-133445EA7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VeriPass strategic buy-in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947BD8-42FE-452B-9A27-3F4BF3609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4991367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AEEBD4-4C13-4CE7-9EB9-9F9C7BDEA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D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A542F3-466A-48E3-A3DC-326477E33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777303-6190-4877-B062-CEC77D5D4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PREUVE MVP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2475DD-68DF-4678-BAAB-9B88BF3BF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048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Ce n'est pas une maquette. Le rail existe deja.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118CB5-E1E8-407F-A6AE-3973653B0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7048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La demo doit montrer une chose simple: BICEC peut voir, juger, bloquer et piloter un dossier KYC digital.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97DA5C-F467-41A4-A0CC-A51AF1141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00350"/>
            <a:ext cx="291465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c14645d9d0410b"/>
          <a:srcRect xmlns:a="http://schemas.openxmlformats.org/drawingml/2006/main" l="0" t="36105" r="0" b="361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" y="2895600"/>
            <a:ext cx="2724150" cy="16383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6FF6A7-EB47-4553-A9B9-5AC5FCDA0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609850"/>
            <a:ext cx="41910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b2627723b14b50"/>
          <a:srcRect xmlns:a="http://schemas.openxmlformats.org/drawingml/2006/main" l="0" t="34378" r="0" b="343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57625" y="2705100"/>
            <a:ext cx="4000500" cy="21717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364801-CB13-4E0A-93BF-4ED43BB81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00350"/>
            <a:ext cx="32385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e9c47867f34ad9"/>
          <a:srcRect xmlns:a="http://schemas.openxmlformats.org/drawingml/2006/main" l="0" t="34643" r="0" b="346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48650" y="2895600"/>
            <a:ext cx="3048000" cy="16383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3AD08D-529B-42E0-9750-C912C30A8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673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C2B"/>
          </a:solidFill>
          <a:ln xmlns:a="http://schemas.openxmlformats.org/drawingml/2006/main" w="9525">
            <a:solidFill>
              <a:srgbClr val="2C3A5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AE4A58-8B12-47A4-8CA2-87001F0D0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8160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Scope net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26492E-34CC-4EA0-8187-037395832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10200"/>
            <a:ext cx="2381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AA8B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AA8BA"/>
                </a:solidFill>
                <a:latin typeface="Aptos"/>
                <a:ea typeface="Aptos"/>
                <a:cs typeface="Aptos"/>
              </a:rPr>
              <a:t>CNI Cameroun seulement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6AA85A-0CDE-4C90-AA97-C0DC82C4D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067300"/>
            <a:ext cx="400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C2B"/>
          </a:solidFill>
          <a:ln xmlns:a="http://schemas.openxmlformats.org/drawingml/2006/main" w="9525">
            <a:solidFill>
              <a:srgbClr val="2C3A5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32823E-F5C4-4D2D-A055-7DCB4370D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5181600"/>
            <a:ext cx="3657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Risque visible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D3F099-5D8E-43A5-BDE2-91D6312A4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5410200"/>
            <a:ext cx="3657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AA8B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AA8BA"/>
                </a:solidFill>
                <a:latin typeface="Aptos"/>
                <a:ea typeface="Aptos"/>
                <a:cs typeface="Aptos"/>
              </a:rPr>
              <a:t>biometrie + AML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CE4B68-8302-48E0-B6D4-B91F1E366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067300"/>
            <a:ext cx="304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C2B"/>
          </a:solidFill>
          <a:ln xmlns:a="http://schemas.openxmlformats.org/drawingml/2006/main" w="9525">
            <a:solidFill>
              <a:srgbClr val="2C3A5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2AF52F-A5BF-46F5-98DF-CD79E0A5E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181600"/>
            <a:ext cx="2705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Controle reel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C3D22B-0772-4210-A1FD-61C3EE473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410200"/>
            <a:ext cx="2705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AA8B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AA8BA"/>
                </a:solidFill>
                <a:latin typeface="Aptos"/>
                <a:ea typeface="Aptos"/>
                <a:cs typeface="Aptos"/>
              </a:rPr>
              <a:t>approbation bloquee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F9321E-A436-462A-973D-F08D6A600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46AB5A-5A28-463D-9AF2-804A2F1FB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8FA1B7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8FA1B7"/>
                </a:solidFill>
                <a:latin typeface="Aptos"/>
                <a:ea typeface="Aptos"/>
                <a:cs typeface="Aptos"/>
              </a:rPr>
              <a:t>VeriPass strategic buy-in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BF800D-8629-482D-B698-F4FDF98D0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FA1B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FA1B7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81309506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C5CC7C-06CD-4A47-BB54-78FCB7D5D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BF8FB2-6801-4AD1-81C5-F53BE2FB2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3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235CBB-9554-497B-A10E-FB1FD273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DEMO VENDEUSE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54B429-E24A-4D47-ACF5-8127A15C0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8572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defRPr>
            </a:pPr>
            <a:r>
              <a:rPr sz="3075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rPr>
              <a:t>La demo ne doit pas montrer des ecrans. Elle doit faire acheter chaque profil.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D7E532-C0AF-44B8-8E1D-1CA2A9BE5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2405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Chaque scene repond a une peur precise: adoption, risque, charge, pilotage, securite.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E21390-CE1E-47C1-AFA1-7D3B83217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14650"/>
            <a:ext cx="10058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29CB65-2AC4-44D3-ADC0-FBB696BE6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14650"/>
            <a:ext cx="1005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6E2974-AB6B-4748-8690-DFA5D6A04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28950"/>
            <a:ext cx="1524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16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161F"/>
                </a:solidFill>
                <a:latin typeface="Aptos"/>
                <a:ea typeface="Aptos"/>
                <a:cs typeface="Aptos"/>
              </a:rPr>
              <a:t>Client / agence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43F40F-A86B-4077-B763-B91D51527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099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16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161F"/>
                </a:solidFill>
                <a:latin typeface="Aptos"/>
                <a:ea typeface="Aptos"/>
                <a:cs typeface="Aptos"/>
              </a:rPr>
              <a:t>Le client commence avant de venir. L'agence recupere un dossier plus pret.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9B86E7-830D-4488-B3B0-B0466CD8E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67100"/>
            <a:ext cx="10058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B21179-2185-4A55-BB35-D75E05F4F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67100"/>
            <a:ext cx="1005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C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DA0BBE-B5A2-44AA-AF7F-703040DBC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81400"/>
            <a:ext cx="1524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16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161F"/>
                </a:solidFill>
                <a:latin typeface="Aptos"/>
                <a:ea typeface="Aptos"/>
                <a:cs typeface="Aptos"/>
              </a:rPr>
              <a:t>Jean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088ADE-F62E-48F1-BCBC-B3E3CFB34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56235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16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161F"/>
                </a:solidFill>
                <a:latin typeface="Aptos"/>
                <a:ea typeface="Aptos"/>
                <a:cs typeface="Aptos"/>
              </a:rPr>
              <a:t>Le validateur juge des preuves, pas une pile confuse.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BB41D3-1193-4B93-AA1A-A93C93296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19550"/>
            <a:ext cx="10058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7367F5-B01C-4901-A302-FD9FA3AED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19550"/>
            <a:ext cx="1005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3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F540B3-829E-4AFA-8C03-02F249A4F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33850"/>
            <a:ext cx="1524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16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161F"/>
                </a:solidFill>
                <a:latin typeface="Aptos"/>
                <a:ea typeface="Aptos"/>
                <a:cs typeface="Aptos"/>
              </a:rPr>
              <a:t>Thomas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AA7670-7C55-4094-9C96-D7CDEC80B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1148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16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161F"/>
                </a:solidFill>
                <a:latin typeface="Aptos"/>
                <a:ea typeface="Aptos"/>
                <a:cs typeface="Aptos"/>
              </a:rPr>
              <a:t>La conformite peut bloquer sans negocier avec la vitesse.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559792-3F4F-4549-8E8A-364B857C9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0"/>
            <a:ext cx="10058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1D50A7-7005-413C-A80D-B86205595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0"/>
            <a:ext cx="1005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9E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C5AD93-E798-494A-8A98-E58F72ADA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86300"/>
            <a:ext cx="1524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16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161F"/>
                </a:solidFill>
                <a:latin typeface="Aptos"/>
                <a:ea typeface="Aptos"/>
                <a:cs typeface="Aptos"/>
              </a:rPr>
              <a:t>Sylvie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9DA3CC-A5A5-4327-9C1E-3FA776DCB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6725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16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161F"/>
                </a:solidFill>
                <a:latin typeface="Aptos"/>
                <a:ea typeface="Aptos"/>
                <a:cs typeface="Aptos"/>
              </a:rPr>
              <a:t>Le management voit la charge et les blocages.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72017F-D0F3-450E-B7B3-4FF1EEE4B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24450"/>
            <a:ext cx="10058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E2B109-2B87-4467-B636-BCE4DBB4D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24450"/>
            <a:ext cx="1005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A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10F721-718E-4FAD-9680-C86100ECD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238750"/>
            <a:ext cx="1524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16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161F"/>
                </a:solidFill>
                <a:latin typeface="Aptos"/>
                <a:ea typeface="Aptos"/>
                <a:cs typeface="Aptos"/>
              </a:rPr>
              <a:t>SI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A1373F-6F58-4676-8FB1-43D12D689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2197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16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161F"/>
                </a:solidFill>
                <a:latin typeface="Aptos"/>
                <a:ea typeface="Aptos"/>
                <a:cs typeface="Aptos"/>
              </a:rPr>
              <a:t>Le pilote reste separe du core, local et auditable.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3E07BC-9F1D-477E-AB3A-224852EC1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92455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A975AF-9638-4C0A-99D3-FC7580BEE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6010275"/>
            <a:ext cx="8858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Regle de pitch: chaque clic doit repondre a 'qu'est-ce que j'y gagne ?'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6B82FE-D7F9-42C7-A49A-FCA3822F0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CB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CA32CD-A4B6-40FA-B724-DCC6A79DC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VeriPass strategic buy-in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B5E0A9F-C857-417D-8249-8FC84D30A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177308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07ABBC-1439-4133-ABB0-C8A4CDFBE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4085E3-3683-4245-8C12-AEC0F6C9F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3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7AEDEF-173E-4699-AD4C-E762A5D3B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DECISION DEMANDEE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43A773-DC6A-4D18-9F51-0792A8043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8667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rPr>
              <a:t>Ne demande pas un deploiement national. Demande le droit de prouver l'avance.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642379-A2C6-4B13-AC55-533910768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2405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Le bon buy-in est un pilote controle, avec metier, conformite et SI autour de la table.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27607C-A6BF-4389-A305-5D6DB219C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30670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5ABB12-1EF2-4DAA-B6A8-8DABFD465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30670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7B3E88-D012-4506-B3C4-1FA4430F6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5280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rPr>
              <a:t>1 sponsor metier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057839-4819-4CD7-8759-EB4EA7B18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10000"/>
            <a:ext cx="228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valider le parcours et les irritants terrain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603B66-E667-42A5-87AB-93A373228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09900"/>
            <a:ext cx="30670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30FC90-E25D-4DDA-BE34-00FE14D76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09900"/>
            <a:ext cx="30670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3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43AF58-D08B-4338-A4DE-6947E9870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35280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rPr>
              <a:t>1 sponsor conformite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63A0BA-1D02-4B15-86BA-1402CD29C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810000"/>
            <a:ext cx="228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valider les blocages, preuves et limites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A6B05E-E8F9-4688-BA3F-B0667E9F6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09900"/>
            <a:ext cx="30670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1A0EDF-1956-43AC-8A16-97AAD2D8D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09900"/>
            <a:ext cx="30670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C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FC0664-E836-49E6-8CC9-7049141AB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5280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rPr>
              <a:t>1 sponsor SI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68E265-958F-48E3-8911-7322C5BC6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10000"/>
            <a:ext cx="228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cadrer securite, hebergement, donnees et handoff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0E8FEC-29DB-4CA5-984F-1A8CB11C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48250"/>
            <a:ext cx="10363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443FE7-73AB-44AE-A04D-C9F8432DC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200650"/>
            <a:ext cx="1714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AA8B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AA8BA"/>
                </a:solidFill>
                <a:latin typeface="Aptos"/>
                <a:ea typeface="Aptos"/>
                <a:cs typeface="Aptos"/>
              </a:rPr>
              <a:t>Sortie attendue du pilote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280A39-B0C6-4BAB-8724-D5FC5DF6B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410200"/>
            <a:ext cx="9467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Des faits BICEC: temps, blocages, dossiers incomplets, risques, adoption, charge agent. Pas des promesses.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06E9AF-7DFC-416B-8935-E17BD27EF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CB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82E04F-BBE7-4118-8A45-A4813CB3C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VeriPass strategic buy-in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78086F-5AA5-45E9-A3DF-1B09A2CC2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82670105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C749EA-E6BB-4E58-BC8A-52E110300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D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DD6EB8-33BD-40F9-89CB-B1FE0C79F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76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3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3b150da23748a1"/>
          <a:stretch xmlns:a="http://schemas.openxmlformats.org/drawingml/2006/main"/>
        </p:blipFill>
        <p:spPr>
          <a:xfrm xmlns:a="http://schemas.openxmlformats.org/drawingml/2006/main">
            <a:off x="781050" y="45720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718F43-6CB7-40E1-B9B7-6509EE020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715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VeriPass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59642A-8EC9-4FB7-9D79-5BB72DF57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66850"/>
            <a:ext cx="8191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N'achetez pas le logiciel. Achetez l'avance.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96C95B-84B1-4E69-A913-7BB3865F6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6ECF4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E6ECF4"/>
                </a:solidFill>
                <a:latin typeface="Aptos Display"/>
                <a:ea typeface="Aptos Display"/>
                <a:cs typeface="Aptos Display"/>
              </a:rPr>
              <a:t>Si BICEC attend que le marche soit evident, l'avance aura deja ete prise par quelqu'un d'autre.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ED21D0-539C-4D8A-A956-7E9DD08C0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7195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353B3B-4EB4-4C71-9939-FB711C6B3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958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AA8B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AA8BA"/>
                </a:solidFill>
                <a:latin typeface="Aptos"/>
                <a:ea typeface="Aptos"/>
                <a:cs typeface="Aptos"/>
              </a:rPr>
              <a:t>Phrase de fermeture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898A11-A0FF-46AF-95FA-45D8F0A2B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19650"/>
            <a:ext cx="8001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"VeriPass est une option deja construite pour tester, apprendre et prendre position. Le risque aujourd'hui n'est pas d'essayer; c'est de laisser le premier geste client a d'autres."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D0714D-E973-4A88-B104-E4F35BB75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466850"/>
            <a:ext cx="20193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87482A-2E1E-4622-9E25-D3A3204AD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466850"/>
            <a:ext cx="20193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4368D8-BEF6-486B-AB38-B864CCFB4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90500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DECISION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8532F6-04F2-4E43-9CB3-33182779C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00300"/>
            <a:ext cx="1428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rPr>
              <a:t>Pilote court, sponsorise, mesure.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0A6BEE-18DD-48D5-B1B5-D8AF8ADCD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695700"/>
            <a:ext cx="1295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8CE7FA-1D38-4275-8220-AF894B6C1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000500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416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161F"/>
                </a:solidFill>
                <a:latin typeface="Aptos"/>
                <a:ea typeface="Aptos"/>
                <a:cs typeface="Aptos"/>
              </a:rPr>
              <a:t>Metier + Conformite + SI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007674-FE58-4319-B376-C09F36310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8AC190-DA13-420D-9260-3D11C5A8D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8FA1B7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8FA1B7"/>
                </a:solidFill>
                <a:latin typeface="Aptos"/>
                <a:ea typeface="Aptos"/>
                <a:cs typeface="Aptos"/>
              </a:rPr>
              <a:t>VeriPass - close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48405D-3AB5-4111-8089-2EEF3851E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FA1B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FA1B7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71206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2026-05-30T22:21:46.6370000Z</dcterms:created>
  <dcterms:modified xsi:type="dcterms:W3CDTF">2026-05-30T22:21:46.6370000Z</dcterms:modified>
</coreProperties>
</file>