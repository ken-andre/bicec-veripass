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ff080c54954336" /><Relationship Type="http://schemas.openxmlformats.org/officeDocument/2006/relationships/extended-properties" Target="/docProps/app.xml" Id="R6615592b49c341c1" /><Relationship Type="http://schemas.openxmlformats.org/officeDocument/2006/relationships/officeDocument" Target="/ppt/presentation.xml" Id="R37f19d39cc3546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123b31901c4399"/>
  </p:sldMasterIdLst>
  <p:notesMasterIdLst>
    <p:notesMasterId xmlns:r="http://schemas.openxmlformats.org/officeDocument/2006/relationships" r:id="R779aa451a7de4f47"/>
  </p:notesMasterIdLst>
  <p:sldIdLst>
    <p:sldId xmlns:r="http://schemas.openxmlformats.org/officeDocument/2006/relationships" id="256" r:id="R3642157ac636430b"/>
    <p:sldId xmlns:r="http://schemas.openxmlformats.org/officeDocument/2006/relationships" id="257" r:id="Rccec41f0a5ef4f5e"/>
    <p:sldId xmlns:r="http://schemas.openxmlformats.org/officeDocument/2006/relationships" id="258" r:id="R80940d02e1504a96"/>
    <p:sldId xmlns:r="http://schemas.openxmlformats.org/officeDocument/2006/relationships" id="259" r:id="R7c4a7c6b0ab44abe"/>
    <p:sldId xmlns:r="http://schemas.openxmlformats.org/officeDocument/2006/relationships" id="260" r:id="Rb607a86582a940a7"/>
    <p:sldId xmlns:r="http://schemas.openxmlformats.org/officeDocument/2006/relationships" id="261" r:id="R9e5298f88bfb45a2"/>
    <p:sldId xmlns:r="http://schemas.openxmlformats.org/officeDocument/2006/relationships" id="262" r:id="Rfd97272c38db42d0"/>
    <p:sldId xmlns:r="http://schemas.openxmlformats.org/officeDocument/2006/relationships" id="263" r:id="Rdf47e0bc7b864532"/>
    <p:sldId xmlns:r="http://schemas.openxmlformats.org/officeDocument/2006/relationships" id="264" r:id="Rbd520465c72345c0"/>
    <p:sldId xmlns:r="http://schemas.openxmlformats.org/officeDocument/2006/relationships" id="265" r:id="Rf436980a35e24cd1"/>
    <p:sldId xmlns:r="http://schemas.openxmlformats.org/officeDocument/2006/relationships" id="266" r:id="Re7273b9bd0164ddb"/>
    <p:sldId xmlns:r="http://schemas.openxmlformats.org/officeDocument/2006/relationships" id="267" r:id="Rbc40e0190cd1404b"/>
    <p:sldId xmlns:r="http://schemas.openxmlformats.org/officeDocument/2006/relationships" id="268" r:id="Ra4c0bca68b954a6b"/>
    <p:sldId xmlns:r="http://schemas.openxmlformats.org/officeDocument/2006/relationships" id="269" r:id="R5d31eb85163f40bf"/>
    <p:sldId xmlns:r="http://schemas.openxmlformats.org/officeDocument/2006/relationships" id="270" r:id="R63d7c6b36b1d4d13"/>
    <p:sldId xmlns:r="http://schemas.openxmlformats.org/officeDocument/2006/relationships" id="271" r:id="R3f63c1ae1bab47f3"/>
    <p:sldId xmlns:r="http://schemas.openxmlformats.org/officeDocument/2006/relationships" id="272" r:id="R10a6d6a6f0d7425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23b31901c4399" /><Relationship Type="http://schemas.openxmlformats.org/officeDocument/2006/relationships/theme" Target="/ppt/theme/theme1.xml" Id="Rc790e38ed3ae487c" /><Relationship Type="http://schemas.openxmlformats.org/officeDocument/2006/relationships/notesMaster" Target="/ppt/notesMasters/notesMaster1.xml" Id="R779aa451a7de4f47" /><Relationship Type="http://schemas.openxmlformats.org/officeDocument/2006/relationships/presProps" Target="/ppt/presProps.xml" Id="R942e94342c80406f" /><Relationship Type="http://schemas.openxmlformats.org/officeDocument/2006/relationships/viewProps" Target="/ppt/viewProps.xml" Id="R51cea04edf004369" /><Relationship Type="http://schemas.openxmlformats.org/officeDocument/2006/relationships/tableStyles" Target="/ppt/tableStyles.xml" Id="R12c02d2ba902476a" /><Relationship Type="http://schemas.openxmlformats.org/officeDocument/2006/relationships/slide" Target="/ppt/slides/slide1.xml" Id="R3642157ac636430b" /><Relationship Type="http://schemas.openxmlformats.org/officeDocument/2006/relationships/slide" Target="/ppt/slides/slide2.xml" Id="Rccec41f0a5ef4f5e" /><Relationship Type="http://schemas.openxmlformats.org/officeDocument/2006/relationships/slide" Target="/ppt/slides/slide3.xml" Id="R80940d02e1504a96" /><Relationship Type="http://schemas.openxmlformats.org/officeDocument/2006/relationships/slide" Target="/ppt/slides/slide4.xml" Id="R7c4a7c6b0ab44abe" /><Relationship Type="http://schemas.openxmlformats.org/officeDocument/2006/relationships/slide" Target="/ppt/slides/slide5.xml" Id="Rb607a86582a940a7" /><Relationship Type="http://schemas.openxmlformats.org/officeDocument/2006/relationships/slide" Target="/ppt/slides/slide6.xml" Id="R9e5298f88bfb45a2" /><Relationship Type="http://schemas.openxmlformats.org/officeDocument/2006/relationships/slide" Target="/ppt/slides/slide7.xml" Id="Rfd97272c38db42d0" /><Relationship Type="http://schemas.openxmlformats.org/officeDocument/2006/relationships/slide" Target="/ppt/slides/slide8.xml" Id="Rdf47e0bc7b864532" /><Relationship Type="http://schemas.openxmlformats.org/officeDocument/2006/relationships/slide" Target="/ppt/slides/slide9.xml" Id="Rbd520465c72345c0" /><Relationship Type="http://schemas.openxmlformats.org/officeDocument/2006/relationships/slide" Target="/ppt/slides/slide10.xml" Id="Rf436980a35e24cd1" /><Relationship Type="http://schemas.openxmlformats.org/officeDocument/2006/relationships/slide" Target="/ppt/slides/slide11.xml" Id="Re7273b9bd0164ddb" /><Relationship Type="http://schemas.openxmlformats.org/officeDocument/2006/relationships/slide" Target="/ppt/slides/slide12.xml" Id="Rbc40e0190cd1404b" /><Relationship Type="http://schemas.openxmlformats.org/officeDocument/2006/relationships/slide" Target="/ppt/slides/slide13.xml" Id="Ra4c0bca68b954a6b" /><Relationship Type="http://schemas.openxmlformats.org/officeDocument/2006/relationships/slide" Target="/ppt/slides/slide14.xml" Id="R5d31eb85163f40bf" /><Relationship Type="http://schemas.openxmlformats.org/officeDocument/2006/relationships/slide" Target="/ppt/slides/slide15.xml" Id="R63d7c6b36b1d4d13" /><Relationship Type="http://schemas.openxmlformats.org/officeDocument/2006/relationships/slide" Target="/ppt/slides/slide16.xml" Id="R3f63c1ae1bab47f3" /><Relationship Type="http://schemas.openxmlformats.org/officeDocument/2006/relationships/slide" Target="/ppt/slides/slide17.xml" Id="R10a6d6a6f0d742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f996346b9d844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8b97b90e30437a" /><Relationship Type="http://schemas.openxmlformats.org/officeDocument/2006/relationships/notesMaster" Target="/ppt/notesMasters/notesMaster1.xml" Id="R837c3a4948ea4e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080b72c3a64343" /><Relationship Type="http://schemas.openxmlformats.org/officeDocument/2006/relationships/notesMaster" Target="/ppt/notesMasters/notesMaster1.xml" Id="R8032f7e470e543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4290f2678d4fad" /><Relationship Type="http://schemas.openxmlformats.org/officeDocument/2006/relationships/notesMaster" Target="/ppt/notesMasters/notesMaster1.xml" Id="R41d7f67697b94a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6cf1cd719940aa" /><Relationship Type="http://schemas.openxmlformats.org/officeDocument/2006/relationships/notesMaster" Target="/ppt/notesMasters/notesMaster1.xml" Id="R128c9021b4be48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ae13529b1f48c4" /><Relationship Type="http://schemas.openxmlformats.org/officeDocument/2006/relationships/notesMaster" Target="/ppt/notesMasters/notesMaster1.xml" Id="R33e0da1c45aa43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0b1a96d828473f" /><Relationship Type="http://schemas.openxmlformats.org/officeDocument/2006/relationships/notesMaster" Target="/ppt/notesMasters/notesMaster1.xml" Id="R5a2eb3ad97e641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b4c362dd7b4723" /><Relationship Type="http://schemas.openxmlformats.org/officeDocument/2006/relationships/notesMaster" Target="/ppt/notesMasters/notesMaster1.xml" Id="R45ad1f61086847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68a4704720482c" /><Relationship Type="http://schemas.openxmlformats.org/officeDocument/2006/relationships/notesMaster" Target="/ppt/notesMasters/notesMaster1.xml" Id="R60a6567683e34e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ababfbbbf64dd6" /><Relationship Type="http://schemas.openxmlformats.org/officeDocument/2006/relationships/notesMaster" Target="/ppt/notesMasters/notesMaster1.xml" Id="Rfd00a21178b34c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fbb6425f0a4498" /><Relationship Type="http://schemas.openxmlformats.org/officeDocument/2006/relationships/notesMaster" Target="/ppt/notesMasters/notesMaster1.xml" Id="Rba6185c2efdc44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ca1a0f74e94c5b" /><Relationship Type="http://schemas.openxmlformats.org/officeDocument/2006/relationships/notesMaster" Target="/ppt/notesMasters/notesMaster1.xml" Id="Reb0f92e738cc4d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332914e3814937" /><Relationship Type="http://schemas.openxmlformats.org/officeDocument/2006/relationships/notesMaster" Target="/ppt/notesMasters/notesMaster1.xml" Id="R98695007c25c47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c0c8ef66cc4838" /><Relationship Type="http://schemas.openxmlformats.org/officeDocument/2006/relationships/notesMaster" Target="/ppt/notesMasters/notesMaster1.xml" Id="R85c249c7c7d8433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c157c62ff945ef" /><Relationship Type="http://schemas.openxmlformats.org/officeDocument/2006/relationships/notesMaster" Target="/ppt/notesMasters/notesMaster1.xml" Id="Rca02807ebe4c44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29d787176e4590" /><Relationship Type="http://schemas.openxmlformats.org/officeDocument/2006/relationships/notesMaster" Target="/ppt/notesMasters/notesMaster1.xml" Id="R9382c5604322444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a95f53e207c4000" /><Relationship Type="http://schemas.openxmlformats.org/officeDocument/2006/relationships/notesMaster" Target="/ppt/notesMasters/notesMaster1.xml" Id="R2adee04a984b4d7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3716a30cfc34607" /><Relationship Type="http://schemas.openxmlformats.org/officeDocument/2006/relationships/notesMaster" Target="/ppt/notesMasters/notesMaster1.xml" Id="Rd90be93164ca4a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352b3e1ba4f4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cea222100c74343" /><Relationship Type="http://schemas.openxmlformats.org/officeDocument/2006/relationships/slideLayout" Target="/ppt/slideLayouts/slideLayout2.xml" Id="R9079bb9a2ca543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79bb9a2ca543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d1a8be64254918" /><Relationship Type="http://schemas.openxmlformats.org/officeDocument/2006/relationships/image" Target="/ppt/media/image.jpeg" Id="R1bfd57ba8ef14c75" /><Relationship Type="http://schemas.openxmlformats.org/officeDocument/2006/relationships/image" Target="/ppt/media/image.png" Id="Rdc231e873c82409c" /><Relationship Type="http://schemas.openxmlformats.org/officeDocument/2006/relationships/image" Target="/ppt/media/image2.png" Id="R5f3e494ba3044cdb" /><Relationship Type="http://schemas.openxmlformats.org/officeDocument/2006/relationships/notesSlide" Target="/ppt/notesSlides/notesSlide1.xml" Id="Rc4bcb2d6b3d745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11e200324f4a57" /><Relationship Type="http://schemas.openxmlformats.org/officeDocument/2006/relationships/notesSlide" Target="/ppt/notesSlides/notesSlide2.xml" Id="Rf8924ef9db5d4e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d0d7dcb0164087" /><Relationship Type="http://schemas.openxmlformats.org/officeDocument/2006/relationships/notesSlide" Target="/ppt/notesSlides/notesSlide3.xml" Id="R4d16b16072c547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50a21a83464b45" /><Relationship Type="http://schemas.openxmlformats.org/officeDocument/2006/relationships/notesSlide" Target="/ppt/notesSlides/notesSlide4.xml" Id="R3ccb132e181b42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dba28f2ad24bd8" /><Relationship Type="http://schemas.openxmlformats.org/officeDocument/2006/relationships/notesSlide" Target="/ppt/notesSlides/notesSlide5.xml" Id="R04a2fdc2a98947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39899b55884e96" /><Relationship Type="http://schemas.openxmlformats.org/officeDocument/2006/relationships/notesSlide" Target="/ppt/notesSlides/notesSlide6.xml" Id="R5bf57f201d3043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1f67637711407f" /><Relationship Type="http://schemas.openxmlformats.org/officeDocument/2006/relationships/notesSlide" Target="/ppt/notesSlides/notesSlide7.xml" Id="Re27c013a65ec4d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4677283ea645af" /><Relationship Type="http://schemas.openxmlformats.org/officeDocument/2006/relationships/notesSlide" Target="/ppt/notesSlides/notesSlide8.xml" Id="Racf00e8eac5448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af3a817ae141f0" /><Relationship Type="http://schemas.openxmlformats.org/officeDocument/2006/relationships/image" Target="/ppt/media/image3.png" Id="R1d4ff54a33214b8c" /><Relationship Type="http://schemas.openxmlformats.org/officeDocument/2006/relationships/image" Target="/ppt/media/image4.png" Id="Rf20a4a72c3014352" /><Relationship Type="http://schemas.openxmlformats.org/officeDocument/2006/relationships/notesSlide" Target="/ppt/notesSlides/notesSlide9.xml" Id="R07d66c4738f043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af49e7077f4ac0" /><Relationship Type="http://schemas.openxmlformats.org/officeDocument/2006/relationships/image" Target="/ppt/media/image5.png" Id="R8adac94cc7284e24" /><Relationship Type="http://schemas.openxmlformats.org/officeDocument/2006/relationships/image" Target="/ppt/media/image6.png" Id="R04200b18ce7b4e27" /><Relationship Type="http://schemas.openxmlformats.org/officeDocument/2006/relationships/notesSlide" Target="/ppt/notesSlides/notesSlide10.xml" Id="Rd0111207d37642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abe72fea214f86" /><Relationship Type="http://schemas.openxmlformats.org/officeDocument/2006/relationships/notesSlide" Target="/ppt/notesSlides/notesSlide11.xml" Id="R434256ccace744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e87a670e9142a4" /><Relationship Type="http://schemas.openxmlformats.org/officeDocument/2006/relationships/image" Target="/ppt/media/image7.png" Id="Rd773ad972a094794" /><Relationship Type="http://schemas.openxmlformats.org/officeDocument/2006/relationships/image" Target="/ppt/media/image8.png" Id="R68bb666149ff498c" /><Relationship Type="http://schemas.openxmlformats.org/officeDocument/2006/relationships/notesSlide" Target="/ppt/notesSlides/notesSlide12.xml" Id="R47781018dad544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bd250e32e74e2a" /><Relationship Type="http://schemas.openxmlformats.org/officeDocument/2006/relationships/image" Target="/ppt/media/image9.png" Id="Raa128c57932d4b36" /><Relationship Type="http://schemas.openxmlformats.org/officeDocument/2006/relationships/notesSlide" Target="/ppt/notesSlides/notesSlide13.xml" Id="R46af54ab140d44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fd2c12db664ad4" /><Relationship Type="http://schemas.openxmlformats.org/officeDocument/2006/relationships/image" Target="/ppt/media/image10.png" Id="Rf931cff28bbf43ba" /><Relationship Type="http://schemas.openxmlformats.org/officeDocument/2006/relationships/notesSlide" Target="/ppt/notesSlides/notesSlide14.xml" Id="R945f8d455ed64f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626f56b05f4be9" /><Relationship Type="http://schemas.openxmlformats.org/officeDocument/2006/relationships/notesSlide" Target="/ppt/notesSlides/notesSlide15.xml" Id="Rec8a1c983c8142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03e91407ff4ef6" /><Relationship Type="http://schemas.openxmlformats.org/officeDocument/2006/relationships/notesSlide" Target="/ppt/notesSlides/notesSlide16.xml" Id="R0f66b3e1ce684c7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3c15135bac4c1e" /><Relationship Type="http://schemas.openxmlformats.org/officeDocument/2006/relationships/image" Target="/ppt/media/image2.jpeg" Id="R49f49d5f3c4e4eb5" /><Relationship Type="http://schemas.openxmlformats.org/officeDocument/2006/relationships/notesSlide" Target="/ppt/notesSlides/notesSlide17.xml" Id="R5e76d140e71d468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1A36B1-C2E1-44A7-98C9-A0788D1C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C6CDB-04A4-4036-9FD0-ECC32E15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E1247-F835-4C51-B546-A650D52B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7A4DE-7B6C-421D-BC63-C351E075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6AF5B-59E1-471F-B262-025AFA9D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d57ba8ef14c75"/>
          <a:stretch xmlns:a="http://schemas.openxmlformats.org/drawingml/2006/main"/>
        </p:blipFill>
        <p:spPr>
          <a:xfrm xmlns:a="http://schemas.openxmlformats.org/drawingml/2006/main">
            <a:off x="819150" y="45720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D1097-3B4D-4BBC-A1B3-F63742F7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VeriPass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7D5DC-F45D-4218-B1E7-4BB92C48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00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RAIL KYC SOUVERAIN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9486F-0DC3-4704-9251-CB880011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6381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BICEC ne doit pas louer sa porte d'entree client.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88265-71D0-4540-92CD-43D442E0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5476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6ECF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6ECF4"/>
                </a:solidFill>
                <a:latin typeface="Aptos"/>
                <a:ea typeface="Aptos"/>
                <a:cs typeface="Aptos"/>
              </a:rPr>
              <a:t>VeriPass transforme l'ouverture de compte en preuve bancaire: capture mobile, controle humain, AML bloquant, audit exploitable.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75BEB-D0EF-41DD-825C-66C2AADF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2FC4E-6A7C-48E9-9F4F-E5EDFEA4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Angle de la reunion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0B527-820F-4BCA-907C-FCB9186D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Acheter l'avance. Pas une dependance.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31C24-3794-491A-BE74-993CC5E7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723900"/>
            <a:ext cx="40957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F31"/>
          </a:solidFill>
          <a:ln xmlns:a="http://schemas.openxmlformats.org/drawingml/2006/main" w="9525">
            <a:solidFill>
              <a:srgbClr val="2D3A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A36C8-3AA9-4555-9415-BFF6D9E6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904875"/>
            <a:ext cx="228600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31e873c82409c"/>
          <a:srcRect xmlns:a="http://schemas.openxmlformats.org/drawingml/2006/main" l="0" t="4002" r="0" b="40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6650" y="1000125"/>
            <a:ext cx="2095500" cy="41719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D60908-C477-4A07-8DBB-9F817216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362075"/>
            <a:ext cx="21526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3e494ba3044cdb"/>
          <a:srcRect xmlns:a="http://schemas.openxmlformats.org/drawingml/2006/main" l="0" t="5636" r="0" b="56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53550" y="1457325"/>
            <a:ext cx="1962150" cy="32194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1E365-4F17-4514-9C53-F971E416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29250"/>
            <a:ext cx="333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5E02A4-8DF7-444A-BF4D-117415BF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5435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bataille commence avant l'agence.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A9EA75-D5EF-4F1D-8138-DF2CF60C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233A4F-C214-47AD-894C-790E87D7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7"/>
                </a:solidFill>
                <a:latin typeface="Aptos"/>
                <a:ea typeface="Aptos"/>
                <a:cs typeface="Aptos"/>
              </a:rPr>
              <a:t>VeriPass - reference-beating deck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BB59FB-2F35-4F37-AD0E-D48D9D39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05396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EAEA5F-F13F-4C80-B94A-54EDDE49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F146B-8228-4FD2-AEB2-8E16C33F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D6114-717D-4F70-8AF3-079B203E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SOMMAIRE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DAD25-3F5F-4AC2-9B36-B3286D31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4 chapitres. 1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03DB8-EB8D-4637-B56F-1FDEE5C1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deck doit mener les parties prenantes a une seule conclusion: BICEC a plus a perdre en attendant qu'en pilotant maintenant.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3795C-BC32-49D7-8BA6-86B6BDC7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2343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E4CB7-CF64-4BDB-9D71-85C6546D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2343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7A04C-4782-4506-8089-15DB70D5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534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5342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934F9-D5D0-4A01-8168-D252956E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Contexte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CE499-A931-4EE9-B77F-CAAF4F9D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mobile et les concurrents prennent l'entree client.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1F1FC-DC55-4907-AD71-4F8EAEE6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2343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B95E5-7558-43E9-A7B4-7E39CC8E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2343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3DA0A3-0D83-4C2F-84F3-4C478469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528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9A2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79A2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6DC6D-7035-4651-823C-93385A19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8290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E0B58A-1897-4666-A067-C6E25A3D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053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structure le rail KYC souverain.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0B4E1-2136-41FB-A712-F1E67956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48000"/>
            <a:ext cx="2343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D7170-0348-44F5-BEFB-D99F99F0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48000"/>
            <a:ext cx="2343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2E10D9-6E4F-41C3-B9E7-7AE4726A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9E9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69E9A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72F673-4F86-4A9B-98EF-70E9F40E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Preuve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560C1C-5062-4BB4-964D-63B5368D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053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Risque, audit et pilotage sont deja demonstrables.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03C217-61ED-4C8F-A3B9-5AD60DE7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48000"/>
            <a:ext cx="2343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ACE561-6077-4F5F-8279-B9B4AE5C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48000"/>
            <a:ext cx="2343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06929D-19DA-43D6-A750-813707EA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5280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7A45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B7A45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BE9265-7D08-4226-BD43-492ED5B5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290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Opportunite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9FA522-F98D-47A4-B14E-48B36A9E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053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Un pilote court transforme l'intuition en donnees.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37BF8A-21D7-46FE-B9D3-6A7017C1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4355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895669-23ED-4C74-A245-42224D70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578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N'achetez pas un logiciel. Achetez une position avant que d'autres la verrouillent.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3DB75A-FC8F-4F9A-B0B3-02996D04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D632AA-245D-4987-91BA-7FA8BD86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352C5E-DC1D-4CBF-8EAD-D27EC530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894274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37045F-0E7A-4A87-9AFC-B838F7E4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9C977-0296-4F96-BFCD-64279639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26561-3A75-44F3-8209-CA900CBA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CHAPITRE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58C88-E33F-483B-BB2A-2AF07D0B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CONTEXTE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8CD61-66FF-4261-8CF5-E2F300D6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096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monde bascule vers le mobile. La bataille locale a deja commence.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6F6B8-6EE6-426E-A8B7-3136A0ED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ECF4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E6ECF4"/>
                </a:solidFill>
                <a:latin typeface="Aptos Display"/>
                <a:ea typeface="Aptos Display"/>
                <a:cs typeface="Aptos Display"/>
              </a:rPr>
              <a:t>Et cette bataille n'est pas technique. Elle porte sur une chose simple: qui controle le premier geste financier du client 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CBCBF-0F67-49F5-9EC5-1BCCE628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352550"/>
            <a:ext cx="2095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F62E4-CD3D-4E1C-A455-0A810343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09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KYC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EDCED-6BB1-4522-B998-BBC9D918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241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n'est plus une formalite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B4D10-E896-45B2-B891-FF64C911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480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45BED-65AA-478A-891B-8998489C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0995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c'est l'entree client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11D53-F5AD-45B2-8F51-0CC98715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B2AF8-61BD-4C38-B43A-3E420D6D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7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62C1EC-EB93-4353-B21F-11F4E4C9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059068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D15E10-5929-4ED0-88EE-1B6CA396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3DCE1-3133-490F-A7C3-F37237D0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AE9D9-BA41-45B9-A038-5AA02AD5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CONTEXTE MARCHE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5DB4A-2768-442B-B1A3-3401B3D4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Le mobile est devenu l'infrastructure d'acquisition. Le Cameroun suit deja.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F3A0C9-1A1E-4AF6-976B-8C9121ED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BICEC n'a pas besoin qu'on lui recite ses chiffres. Elle doit voir que la promesse d'entree digitale est deja vendue au client.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DA43F-4798-4C97-8B46-A62B89CB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0075B-6337-40E8-879C-913DA92B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95575"/>
            <a:ext cx="2305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USD 2T+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AC935-9D9F-4A82-98BF-EA3539B2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2247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mobile money en 2025 selon GSMA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930F2-9643-4E22-B159-C2E6D0F4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C96AC-4444-460D-8FFB-9E86DAE6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95575"/>
            <a:ext cx="2209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2.3B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F9696-18FD-4D2E-A2D3-19AB32C2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24200"/>
            <a:ext cx="2152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comptes mobile money enregistres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24D2D-F303-4EA7-8475-B92EBB1E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D7DA0-04B6-4B2C-A629-4E053503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95575"/>
            <a:ext cx="2400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40%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8258F-1E0E-4EA9-A327-4B484260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adultes ayant epargne en 2024 dans les economies en dev.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1683D-0CCB-48B4-A585-C16B4856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251622-0364-4818-8416-684F5AD1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369C3-AB7C-487A-B563-F3F6460F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BGFI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C403BA-0F96-45CD-B02A-AD0B59C5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Onboarding web + app Banking/Money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FB37A1-19B7-4B55-9863-0BF1FE35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2435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DF1E4A-EC36-439B-9AEA-F3A270EF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243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67D556-2ACA-40A6-B4BD-6943B2EA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29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Ecobank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A90073-8BF1-441D-BD92-20F637DE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53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Xpress Account mobile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A96E5-E868-43BA-8AF0-F35D1524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2435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32BC89-FFF9-48D0-9CF3-B800D0EB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243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6EF647-F4EA-4577-819B-F915628D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29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Orange Money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A84741-1848-45E5-B96B-E4949A5E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53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Onboarding + video 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48FFE0-DDB4-41E7-A135-5E9FACD4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24350"/>
            <a:ext cx="226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F81DA2-DBA8-471D-AE26-B33790E5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243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E9E5DB-F866-4691-A922-50CAF291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29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UBA M2U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B60288-6CD5-4C32-81E2-CC09174A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Wallet clients et non-clients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3C2C85-149A-4694-A41A-C246AD5D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19750"/>
            <a:ext cx="9791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ACF71C-423F-4698-B7D0-48F79658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15000"/>
            <a:ext cx="923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 signal est clair: la porte d'entree digitale ne restera pas vacante.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DC9AF9-BC7A-4632-B930-1F86470A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" b="0">
                <a:solidFill>
                  <a:srgbClr val="7B6F61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7B6F61"/>
                </a:solidFill>
                <a:latin typeface="Aptos"/>
                <a:ea typeface="Aptos"/>
                <a:cs typeface="Aptos"/>
              </a:rPr>
              <a:t>Sources: World Bank Global Findex 2025; GSMA Mobile Money 2026; BGFI, Ecobank, Orange Money, UBA public pages.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B96CDF-DFB0-41CD-BDE6-3D69B400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6D98A4-3EDF-4467-BE70-A2A1F6D5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70F571-C0E5-471D-BCF0-BC0F88E8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348463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DC1394-831C-4A0A-A3A9-44D71FD2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D804A-2D1B-4D0E-8164-A3946529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D9F6E-70C1-41EB-A9C1-137452D7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COUT DE L'INACTION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5D769-7A51-4838-B460-2962160F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752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Attendre, c'est financer l'habitude des autres.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30D22-693B-496D-9887-A43E456F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771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Le vrai risque n'est pas seulement un dossier plus lent. Le vrai risque est que le client apprenne a commencer ailleurs.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7CFAE-1EC4-4D6A-8BF0-C3C4C99E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CB366-EAF3-41D8-9D35-5FFFE1F0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E861B-58B9-4722-83E2-CC6E26DB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Premier contact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13039-2686-44AB-BB78-0A3EAAE2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perdu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EC2D1-986F-4651-8BB5-27EFA611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8135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274C1-DC39-496A-88CF-AC6D7D78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8135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13D0A3-6F3E-4765-A69E-887E0E49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433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Donnee d'identite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27C7C-44A2-4272-AAC7-6DCDCE81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957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apprise ailleurs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B2DA1-F2C7-4571-9277-2C944CB1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8135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E8709-CD25-4497-8C1F-0B97181F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8135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B80DA-4A91-499E-B4C5-44924E85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433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Cross-sell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09D659-CC4F-4771-8AA2-CC76F837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retarde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56AD29-161A-457F-AF92-2FD7BAD3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8135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C6F615-BC02-437F-9F3E-EB61C589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8135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4E5A0D-44C5-4012-834F-78254456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433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Courbe KYC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FD5EB4-A7F3-435D-B848-495D63EF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957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ratee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03915C-B7C4-47D6-B499-195F88C6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8135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EB4DEF-47AF-4C0D-A94A-7F7D8D78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81350"/>
            <a:ext cx="1695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2F3404-BE01-4376-B15C-2F45B53F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433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Image digitale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61A747-9BAA-4802-A346-601AF10D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95750"/>
            <a:ext cx="1257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subie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DC5D3F-191D-4C9C-8D98-3DCD33BC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34000"/>
            <a:ext cx="922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603B2A-4530-420A-A868-B5EF131E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Chaque mois sans rail KYC digital est un mois ou le marche enseigne autre chose au client.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7C2CCE-53FD-445C-A820-2B96EEA6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E230D2-4E5C-476F-B6EC-C1B8587D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7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1E9BBE-7E8D-4BF7-9592-CABC1AD2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218529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94BE15-6521-4840-9EF0-5789B351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839C7-B902-4FFC-A0DD-9EBB1FF2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0E3D7-6BE3-48AD-AABD-8448FDD6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BENCHMARK DIGITALKYC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81A17-CEB1-489D-ABB8-9AD87D59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382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Les plateformes matures ne vendent pas une app. Elles vendent un cycle de vie.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F30B0-98C8-4184-A234-1E8C80C7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PDF de reference montre le vrai langage du marche: modules, orchestration, repository KYC/AML, risk scoring, monitoring, remediation.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5097C-A4F0-4762-904D-EF3E313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286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A96D3-F31A-4B49-AC27-CA13F230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418E9C-776A-4F54-B27B-2FBB86D5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7A6BA-B000-4511-8C1B-2047A45E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ID document, mobile, OCR, liveness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6C3E7-8923-4F7D-92F5-2BAE1B1A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90850"/>
            <a:ext cx="2286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DE16B-2618-4F61-B75B-F16E7875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908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812DB8-8F22-4266-959F-209DB2C9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52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Orchestration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72074-059C-4728-B838-179DEDAC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290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workflow, completeness, decisions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A490B-E6B1-4D21-BBD2-8A46986F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2286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1F5E1-70CB-42DF-9397-0A7F2231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49401A-C329-4BF9-B043-AB7DCB3D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Compliance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E4805-FD19-468F-B8FF-09214A0D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screening, alerts, risk scoring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84009-EC9B-459A-8493-ECFCFEA8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90850"/>
            <a:ext cx="2286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CD6654-0C15-4233-BAA8-F5C51D5C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908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90683E-DD8B-4DA7-A8DF-0BE580F9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52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Lifecycle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38F518-89FC-4AFB-BDBD-96DFEDE8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29050"/>
            <a:ext cx="1619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monitoring, review, remediation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589C2A-9ECA-45E8-A064-8AE5BD44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97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330609-0CD6-478D-A445-6F4E7919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53050"/>
            <a:ext cx="925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VeriPass doit etre vendu comme le premier rail local de ce cycle: souverain, testable, sans acheter d'abord une dependance externe.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FAA9E3-6FF0-4F8B-89C7-37DDDA08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C2F0B9-8B30-4EE4-B58A-980F629B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5D3C6D-C187-4EEF-9BF9-C7969438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753037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432CC5-9E0B-4EA8-A4CE-23CBDCED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3AE0D-9B29-4F2F-9FFC-40501441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330B4-A425-4D82-927D-D74DD443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CHAPITRE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D9D1F-C795-432E-A075-41208437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33D93-D7DA-4582-AA64-EDBB51B3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81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VeriPass reduit la friction client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sans retirer le controle a la banque.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A2D07-6E24-4F44-8560-98DE327F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ECF4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E6ECF4"/>
                </a:solidFill>
                <a:latin typeface="Aptos Display"/>
                <a:ea typeface="Aptos Display"/>
                <a:cs typeface="Aptos Display"/>
              </a:rPr>
              <a:t>Le digital ne remplace pas l'agence. Il prepare un dossier exploitable avant que l'agence ou le backoffice ne perde du temps.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0857D-1DC4-4848-90BB-2EBCA5C7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190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AEF41-234B-49EC-9801-8197B362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383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Client vite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0FF8B-48DF-4551-B932-F4F79BCB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28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82D6D-CE89-4433-9E8B-4AF883E3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242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Banque en controle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5452E-5388-456A-BA53-511448C9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34EAD-9FAD-4650-8CF1-AC05F920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7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C0B85-9545-4870-9260-7E12AC81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052623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A2DF97-0B4D-4776-979A-C550B5F7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8EF53-42F6-4C35-9DCC-015A0AFF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7FA88-296A-46FE-A71E-88F084EF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C54EF-9431-4E87-92AB-2D59FF62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429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Chaque role recoit exactement ce qu'il doit controler.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26AFD-2277-427F-8DF1-A5A5316C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 force commerciale du MVP: une meme preuve circule du client vers les agents, puis devient decision, audit et pilotage.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CB250-F8B4-426C-B452-66D45511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1524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7CEBB-E772-416B-99F7-2AD3C0F2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21E87-E9A5-4277-AB20-75D99A65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Marie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47893-3329-4773-A217-F979A0F2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Capture mobile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B0368-9984-4240-80DA-E8FD8599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861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B4F3E-3932-46DE-B55F-CF3BD078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62300"/>
            <a:ext cx="1524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F46EB-5247-4E0E-B91B-0C41094D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6230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FB227-A0DF-4DCB-B140-123A7AA0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480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API KYC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18EC0-1F79-459D-ACAF-C5B9E54F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9433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Preuves + statuts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EFBBBF-07F2-43C7-AEF7-1D6AF755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861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28190-9EE2-4546-BB1A-3071BE88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62300"/>
            <a:ext cx="1524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F8234-D23C-429F-BD66-9024B090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6230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178039-B3D6-49B5-B214-2CBE53F7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480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OCR / Liveness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B2E666-E372-48C0-BEC1-59160175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433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Extraction + risque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E3D4ED-5C94-491C-8BAB-E15F9EB6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861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74FFB7-E398-4396-8399-F2B87EB1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62300"/>
            <a:ext cx="1524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D5F65C-45BD-4B06-AF7E-0542298E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6230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0D9CA0-C04F-49C7-9211-C9D322B2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480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Jean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509CA9-3DE7-4243-ABA3-8A5172CB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Decision dossier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DB89ED-C701-48FE-A74E-B52CB6EA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861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7BC312-4599-4582-9771-40AC8C10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62300"/>
            <a:ext cx="1524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BDD622-0D6E-4D0E-81EB-79F93CB0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6230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D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F6A61E-F9FA-43A5-88D8-C3330C31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480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Thomas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8B9CB0-C804-45F4-9156-3EB23948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433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AML bloque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9A448E-C79A-4C37-9D98-7A347449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86175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D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9888A1-B994-443C-8688-59D34F0F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62300"/>
            <a:ext cx="1524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1DF2DB-4BE3-4FF6-B0CA-5A4E6008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6230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A0B696-71E3-4060-AC91-3E7F481C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480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Sylvie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86C13E-B695-4761-BE07-F7E4A98E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9433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Pilotage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BAFF9D-4989-4F33-95ED-F307DF34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19700"/>
            <a:ext cx="9220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3AFEF0-C7AB-4A3E-9EC2-11447059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530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 n'est pas un tunnel d'ecrans. C'est une chaine de preuve que chaque acteur peut defendre.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4A1541-A1CD-4A6F-8A76-A5C3B599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3A3B89-F076-4280-AD35-95DE8DBD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F95546-7DFF-42DE-AAD7-CD7E88B5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494515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1BDF31-6FF9-4528-83ED-A246A53C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50B79-84E7-4338-8BCC-33F83913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BE117-DDD8-4F3A-89AD-F5DACEF5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PARCOURS CLIENT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9DE12-DADF-4074-9ADD-1D26AA1C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Le client avance vite. BICEC garde la preuve.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6E832-E8D6-4A20-ACAA-EB3EE10F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Objectif pilote: que le client soumette un dossier propre avant le face-a-face, sans elargir le scope au-dela de la CNI Cameroun.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6F5F4-9609-4C0E-9E7C-ECFF6683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286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ff54a33214b8c"/>
          <a:srcRect xmlns:a="http://schemas.openxmlformats.org/drawingml/2006/main" l="0" t="12193" r="0" b="12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686050"/>
            <a:ext cx="209550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127EE-EB28-47D9-99BB-1A582E44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33700"/>
            <a:ext cx="32385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a4a72c3014352"/>
          <a:srcRect xmlns:a="http://schemas.openxmlformats.org/drawingml/2006/main" l="0" t="35993" r="0" b="359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76600" y="3028950"/>
            <a:ext cx="3048000" cy="1847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083DD-C734-4444-84F1-A547A8EE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24150"/>
            <a:ext cx="3562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6D635-152B-40D4-A918-A19E3CDE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241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E9BC9-8F1C-45D6-93DC-AFE8D9A7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289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OTP + PIN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3CA39-F55C-4170-9F42-6A710DC9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28925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entree securisee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8ACCC-B5AD-4CF4-890B-411677A5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76600"/>
            <a:ext cx="3562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23D76-5F77-4623-8153-20905BFB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766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38EA90-44A7-4978-9A99-E656A8FA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8137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CNI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598AD-6CD5-4A00-A350-F143A19E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81375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recto/verso guide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84014F-37F2-4A47-9A1E-D6EF6D67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29050"/>
            <a:ext cx="3562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D7F57-E281-4C30-82C2-E9BE6880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8290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236B3B-9100-4806-A5E4-2A69E09C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338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OCR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BAD9EF-05EB-4011-9945-7327472F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33825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correction client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066A72-6F96-41EB-B074-22558916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81500"/>
            <a:ext cx="3562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28D7E-A035-4771-98E1-A77847DD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8150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76EED5-6C8B-40F9-9656-5E29BB1D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8627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Liveness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48002-5F7B-4FD6-8076-675FF529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86275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anti-usurpation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A78EDC-AE1C-4304-816B-7ED5CDB1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33950"/>
            <a:ext cx="3562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8690AC-CD8D-4920-8E70-B165822E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339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49B0DA-2D19-4715-B7EF-B7D5B607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38725"/>
            <a:ext cx="1238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Consentement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CF02B4-C1F0-4759-A391-7B41FC96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38725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signature + preuve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580660-C28F-43C2-9633-78DEFAC7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5F37C0-DC70-4915-9240-7407BCE1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82F31E-300C-43BD-98BA-A031550D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9748954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73A848-3641-4300-B1AB-AFD31D25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A3C14-F713-4E23-A2FA-D09357D1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950DC-417D-4DBD-845E-A68AD334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POSTE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DA9A8-39D4-43A0-8DF5-B338374A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Jean valide des preuves. Il ne ressaisit plus une pile.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E7674-26B4-43BD-A204-B7988088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gain n'est pas de supprimer le jugement humain. Le gain est de lui donner un dossier clair, priorise et auditable.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4D9A7-6696-43FB-BDF4-79C1F13E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40957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ac94cc7284e24"/>
          <a:srcRect xmlns:a="http://schemas.openxmlformats.org/drawingml/2006/main" l="1549" t="0" r="15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781300"/>
            <a:ext cx="3905250" cy="2266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BE5E6-2CE1-4A06-81BE-CA854231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55245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00b18ce7b4e27"/>
          <a:srcRect xmlns:a="http://schemas.openxmlformats.org/drawingml/2006/main" l="0" t="34378" r="0" b="343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5900" y="2495550"/>
            <a:ext cx="5334000" cy="28956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CAA23-C70E-479F-B5B7-0843A453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57850"/>
            <a:ext cx="979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13019-F872-44B1-A533-C0AD6425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72150"/>
            <a:ext cx="923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promesse pour l'agent: moins de ressaisie, plus de discernement, une decision defendable.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41A2A-7532-45AE-9FF5-539D936D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9EE20-B7B8-4E0D-9FE0-DAA23645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2BE69-F98A-4246-8930-23594FC1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36320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C4AB73-29A7-41E3-9FC2-61B38997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A6534-57CD-41EB-8595-8918EFB4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7F6EF-1476-4CC6-8048-BA8652E4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CHAPITRE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9CD3B-7673-46BB-9A98-7DF0DFA4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PREUVE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0446C-5689-4AFF-A911-9DD604DB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096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vitesse n'a pas le droit de contourner le risque.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D1004-FA12-4E14-BDF5-4B021629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ECF4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E6ECF4"/>
                </a:solidFill>
                <a:latin typeface="Aptos Display"/>
                <a:ea typeface="Aptos Display"/>
                <a:cs typeface="Aptos Display"/>
              </a:rPr>
              <a:t>VeriPass doit impressionner sur une chose: il sait dire non quand la conformite n'est pas resolue.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A5E3A-D23E-4CF6-8231-3457CFB8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190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CF3BE-F7CA-45BD-85ED-9C010973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Pas de croissance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CCF54-757C-4E0B-BBDD-F4D38114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346E0-03B3-4BEC-A37D-24114593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sans preuve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D17F5-C236-428E-A8E6-6DD4EB06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831E9-0404-4455-A28E-A8F4142B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7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5527D-70EB-4655-84D0-87B4B16E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7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621484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77F948-4355-4FBC-8818-C6F5A323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C29E5-E0D4-4785-9E95-F8653523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45FFA-E326-4384-9BC0-79767ED9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PREUVE CONFORMITE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C3802-C4F5-4A9F-A87B-D8FED21E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Une alerte AML ouverte bloque l'approbation.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547E8-B81B-422A-A649-A9A07ECC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C'est le slide qui rassure Thomas: VeriPass ne vend pas la vitesse contre la conformite. Il les force a cohabiter.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E42F8-0BC6-431C-A5ED-C4517C53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41910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3ad972a094794"/>
          <a:srcRect xmlns:a="http://schemas.openxmlformats.org/drawingml/2006/main" l="0" t="33946" r="0" b="339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2895600"/>
            <a:ext cx="4000500" cy="2247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E12BD-3593-4AF2-9D10-1BEFC2C6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71750"/>
            <a:ext cx="4953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b666149ff498c"/>
          <a:srcRect xmlns:a="http://schemas.openxmlformats.org/drawingml/2006/main" l="0" t="34460" r="0" b="344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4050" y="2667000"/>
            <a:ext cx="4762500" cy="2571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4AA0C-23A3-4FC9-B51B-1092D591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57850"/>
            <a:ext cx="9182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D1694-7A00-4CA2-84AC-EF141892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721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 a dire: la conformite devient un garde-fou de croissance, pas un frein tardif.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15EA8-80A7-47B2-94BB-4906395F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C0A9D-52A8-47C5-A4A9-4878C1E9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7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3A00A5-021E-4CF1-85EB-F700FFD5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182863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E42D52-E452-44BA-A1D2-0B75FC4C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FC388-260F-4A4E-BD9D-0A98A2FB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DC8EF-A0F6-4494-B7AD-9E6789ED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PREUVE AUDIT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6B0B3-D6BC-46C0-A9C4-6493D3A5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Chaque action devient une preuve exploitable.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4D75D-6A9A-4B83-B70B-F81B94FF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benchmark DigitalKYC parle de repository KYC/AML et d'audit trail. Le MVP montre deja cette logique cote BICEC.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789AF-2F0C-46E7-A9FC-D6B346A2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60007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28c57932d4b36"/>
          <a:srcRect xmlns:a="http://schemas.openxmlformats.org/drawingml/2006/main" l="0" t="6288" r="0" b="62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590800"/>
            <a:ext cx="5810250" cy="3219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CDDC2-7B66-41DE-9763-038C60FF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03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3237E-F92D-466D-91D9-FB374353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03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CF2FD-B85E-481E-BE92-1F8EAB52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432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Qui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2792E-9013-40BA-B68E-D67EA286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432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acteur et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A437A-7513-4795-814F-1DB9AEF8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861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6A1C4-797B-4304-98C8-48BF008B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861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62898-6D14-468C-8DE1-A855178B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290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Quoi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58FB09-1B97-470C-A7C7-E02675EE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290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decision/action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D3330-E508-48E6-A0C6-94ECBF82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719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35A18-24A8-4ED9-B9B0-B857C525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719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9E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B0D99-3C31-4923-A5BB-2C12BC14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148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Quand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4649B-AF16-4B82-8EB7-387CE268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148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horodatage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988B2B-ED81-48C0-86F0-027333EA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577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9D1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81E127-79B4-4FDF-8D33-DEA23808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577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D6928-3B4D-4E23-9860-493D6114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006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Pourquoi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5CD076-5C85-47B3-AE52-55D06EF6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006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justification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805AB6-0E87-450E-B91E-C0444BEA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204810-7AE4-4121-A68F-8736816D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701213-9F46-479D-9E29-8EB3FF44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0852903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81F9A5-8F61-48DA-955C-DCB3C7EA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A7404-8A7F-4191-95ED-3124EDD9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BD0C1-1BC4-411B-812C-8B74CC41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PREUVE PILOTAGE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81D5D-9014-4C66-9D36-9B01E948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191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Sylvie ne pilote plus a l'intuition. Elle voit la charge.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E4031-E074-4003-829F-DEFA2443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 valeur management n'est pas un dashboard joli. C'est la capacite de voir ou le parcours bloque et qui doit agir.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297DC-14DA-462E-89EE-B467A904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7429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1cff28bbf43ba"/>
          <a:srcRect xmlns:a="http://schemas.openxmlformats.org/drawingml/2006/main" l="0" t="6845" r="0" b="68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2590800"/>
            <a:ext cx="7239000" cy="3524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0C9EF-83FD-478B-949C-74CC211D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130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8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5DE03-9BE0-4818-9975-D244398A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34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5342B"/>
                </a:solidFill>
                <a:latin typeface="Aptos"/>
                <a:ea typeface="Aptos"/>
                <a:cs typeface="Aptos"/>
              </a:rPr>
              <a:t>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0B610-2A02-4D41-8DE0-4D3EED29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718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61F"/>
                </a:solidFill>
                <a:latin typeface="Aptos"/>
                <a:ea typeface="Aptos"/>
                <a:cs typeface="Aptos"/>
              </a:rPr>
              <a:t>dossiers a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5ECCC-5536-4AD4-9AB8-F3ECFCEC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3855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84B075-3DF0-4371-8124-1C0401F2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100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9A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79A2B"/>
                </a:solidFill>
                <a:latin typeface="Aptos"/>
                <a:ea typeface="Aptos"/>
                <a:cs typeface="Aptos"/>
              </a:rPr>
              <a:t>YELLOW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C3F17-0518-4196-BB1D-1411A5DA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29050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61F"/>
                </a:solidFill>
                <a:latin typeface="Aptos"/>
                <a:ea typeface="Aptos"/>
                <a:cs typeface="Aptos"/>
              </a:rPr>
              <a:t>points a surveiller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9A9B8-FD52-4ECD-9CF1-8C5C03DF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9580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816CE-8466-4B96-8473-05CE198D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672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A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7A45"/>
                </a:solidFill>
                <a:latin typeface="Aptos"/>
                <a:ea typeface="Aptos"/>
                <a:cs typeface="Aptos"/>
              </a:rPr>
              <a:t>GREEN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C68EFD-E8CE-4431-9C74-52CEA90A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686300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4161F"/>
                </a:solidFill>
                <a:latin typeface="Aptos"/>
                <a:ea typeface="Aptos"/>
                <a:cs typeface="Aptos"/>
              </a:rPr>
              <a:t>flux sous controle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76471-6383-447D-A50D-195E946D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F04716-1860-4878-ABF4-CCB487A0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43A2E8-DF81-4A7E-8627-F914FC49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4412242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25B63E-9305-47C1-AF98-66F81AF7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C30EA-3217-4CAD-8051-CA015695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044F3-C032-4AB9-A388-7A94A849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24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CHAPITRE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B5C5F-ADD6-4CFA-B240-3A5FF60C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OPPORTUNITE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D0762-3B20-47D2-A806-B090BFFB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620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 pilote controle peut transformer ce MVP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 decision d'investissement.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BEEE7-FF34-4805-9D74-6F49122E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ECF4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E6ECF4"/>
                </a:solidFill>
                <a:latin typeface="Aptos Display"/>
                <a:ea typeface="Aptos Display"/>
                <a:cs typeface="Aptos Display"/>
              </a:rPr>
              <a:t>Le but n'est pas de promettre un ROI dans le vide. Le but est de produire les donnees BICEC qui rendront le ROI incontestable.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CE85A-230A-4820-BC59-403D406C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66850"/>
            <a:ext cx="2190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C2B"/>
          </a:solidFill>
          <a:ln xmlns:a="http://schemas.openxmlformats.org/drawingml/2006/main" w="9525">
            <a:solidFill>
              <a:srgbClr val="2C3A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B4E5B-2555-44D1-8BDC-278AAB67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20-50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54E63-5B7F-4C80-9C06-34B89AC7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dossiers controles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E8E79-4161-44DB-BDD7-A10FCA14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A7282-71C8-4AC7-B275-0D01B7FF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2-4 semaines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7A4CB-AB7F-429A-BDC8-FD38E872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AC03A-E6B3-4D23-8C60-7787C76F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7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616F44-529A-43F1-89E9-B913A9B2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7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8953478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F4B44E-EBF3-417F-98E4-E204D4EE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41A6F-2828-4360-810B-5493DFA1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EA5A0A-1338-47A7-96A6-E251225B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PILOTE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1EF81-7F3D-42AC-981D-F8197052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Mesurer pour decider, pas deployer pour risquer.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9B902-86BC-481D-88F7-22F0E126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800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bon buy-in: trois sponsors, un perimetre court, et des KPI qui remplacent les opinions par des faits.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36114-E79A-4130-A3D7-705A8ACC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724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96FAC-6B53-41BF-B566-7A282CAC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19400"/>
            <a:ext cx="2724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F8D4D-65D3-4874-9CD9-EBA9717C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Metier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9776F-7302-48C9-9C42-989AD38A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242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parcours et adoption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EC390-F554-40E1-8248-7601DADE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2724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DBA6D-752D-42E9-B544-A666F45F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2724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A3DF2-5A0B-40D4-B5CD-A2A7AFEC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Conformite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A177F-9E32-46C2-B5AE-0160DBFB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risques et blocages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CFECA7-4201-4012-9626-D893D7E4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19400"/>
            <a:ext cx="2724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1D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82C82-2821-4EEA-8B95-12786A97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19400"/>
            <a:ext cx="2724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81B211-D108-4891-BB09-8144A6FE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8AADD1-5A68-48BE-BEDE-9E20D52F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42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securite et hebergement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13D04C-BE43-4248-A181-47FE6DED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386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946F05-7F59-4070-A6B0-E2DE68FE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14850"/>
            <a:ext cx="381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delai prospect -&gt; dossier soumis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DDDE1-C3E8-4D6F-9CCC-8DE0FD3C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577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F9AF9D-94DA-45A2-AE29-C39DEC7A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33950"/>
            <a:ext cx="381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dossier soumis -&gt; 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640E88-0EBE-4B5C-90CA-0838935B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768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79946E-C07E-4C21-A2D5-2B2DF56C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53050"/>
            <a:ext cx="381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taux dossier complet 1er passage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EF3401-3D13-4BC0-9E1C-149555A9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386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7DD117-E0CD-421B-A0BF-4945E402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14850"/>
            <a:ext cx="381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temps agent par dossier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2081E6-7DC6-42D6-AB5E-06A12D4E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577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81818-0CEB-4289-965E-7DAA38D4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33950"/>
            <a:ext cx="381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retours conformite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99D0EC-24F5-40F7-ABDF-8045228A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768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2F019E-B7CA-44AB-9DFD-24323F40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53050"/>
            <a:ext cx="3810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abandon / reprise liveness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81F33C-7896-48B3-9566-8C5420F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626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46C63F-26F5-4B97-B5AF-7F4DCF96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48375"/>
            <a:ext cx="876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Sortie: business case fonde sur les donnees BICEC, pas sur un devis venu d'ailleurs.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D36B57-BD05-465A-90A2-C192C6D6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C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092A0D-0E92-4A15-9840-7298597F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VeriPass strategic buy-in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65D35C-BF9D-4C3B-81C2-75B930B8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0814723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F9C1E5-85BB-4180-B6B3-91D82CE3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2A705-A9BE-4ACF-BC58-E3A2505E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34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49d5f3c4e4eb5"/>
          <a:stretch xmlns:a="http://schemas.openxmlformats.org/drawingml/2006/main"/>
        </p:blipFill>
        <p:spPr>
          <a:xfrm xmlns:a="http://schemas.openxmlformats.org/drawingml/2006/main">
            <a:off x="781050" y="45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C7EB1-6554-4985-ABBF-9F110224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1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VeriPass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A7C7A-E2CB-4F7D-BB3D-FE388682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8191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N'achetez pas un logiciel. Achetez l'avance.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3A156-B892-4B6A-8768-7EB2277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ECF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6ECF4"/>
                </a:solidFill>
                <a:latin typeface="Aptos Display"/>
                <a:ea typeface="Aptos Display"/>
                <a:cs typeface="Aptos Display"/>
              </a:rPr>
              <a:t>Les autres vendent deja l'entree digitale. Les plateformes vendent deja le cycle KYC. BICEC peut encore posseder son rail.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99F3F-663C-40FB-AB0D-283B157B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4362C-0776-4306-9D8F-CB3B08C8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8B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AA8BA"/>
                </a:solidFill>
                <a:latin typeface="Aptos"/>
                <a:ea typeface="Aptos"/>
                <a:cs typeface="Aptos"/>
              </a:rPr>
              <a:t>Phrase de fermeture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9D772-328D-4407-9FFC-0C487A7E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8001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"Je ne vous demande pas d'acheter une promesse. Je vous demande de donner a BICEC le droit de mesurer son avance avant que le marche ne la prenne."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2498A-1A5C-4007-88A0-DFF21105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66850"/>
            <a:ext cx="20193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D2003-CF3B-4E5D-AD11-9732FEC1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66850"/>
            <a:ext cx="2019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6A3F0-D6A3-43C8-BCA4-48D4F4BE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BD794E-BAEA-4FFA-9A4E-4BE55283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00300"/>
            <a:ext cx="142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4161F"/>
                </a:solidFill>
                <a:latin typeface="Aptos Display"/>
                <a:ea typeface="Aptos Display"/>
                <a:cs typeface="Aptos Display"/>
              </a:rPr>
              <a:t>Pilote court, sponsorise, mesure.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0E3E06-6486-49F6-A265-B8F99360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95700"/>
            <a:ext cx="129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34496-034E-440C-A182-BE3B128C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16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161F"/>
                </a:solidFill>
                <a:latin typeface="Aptos"/>
                <a:ea typeface="Aptos"/>
                <a:cs typeface="Aptos"/>
              </a:rPr>
              <a:t>Metier + Conformite + 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7B35A-1E1E-4EA9-8371-505A0574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D7F1F-D71F-4B4F-9689-7BC13145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8FA1B7"/>
                </a:solidFill>
                <a:latin typeface="Aptos"/>
                <a:ea typeface="Aptos"/>
                <a:cs typeface="Aptos"/>
              </a:rPr>
              <a:t>VeriPass - close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AF632A-7F79-4D51-B6B6-DDC01E42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FA1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A1B7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772710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2026-05-31T17:13:32.4650000Z</dcterms:created>
  <dcterms:modified xsi:type="dcterms:W3CDTF">2026-05-31T17:13:32.4650000Z</dcterms:modified>
</coreProperties>
</file>