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e40189626da45d8" /><Relationship Type="http://schemas.openxmlformats.org/officeDocument/2006/relationships/extended-properties" Target="/docProps/app.xml" Id="Rf5af5cbbb27b4713" /><Relationship Type="http://schemas.openxmlformats.org/officeDocument/2006/relationships/officeDocument" Target="/ppt/presentation.xml" Id="R70f9767fa28a494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a307470a53b4ce8"/>
  </p:sldMasterIdLst>
  <p:notesMasterIdLst>
    <p:notesMasterId xmlns:r="http://schemas.openxmlformats.org/officeDocument/2006/relationships" r:id="R16f6dc3935674086"/>
  </p:notesMasterIdLst>
  <p:sldIdLst>
    <p:sldId xmlns:r="http://schemas.openxmlformats.org/officeDocument/2006/relationships" id="256" r:id="Rc6adc2b045df44bf"/>
    <p:sldId xmlns:r="http://schemas.openxmlformats.org/officeDocument/2006/relationships" id="257" r:id="Rb66aa83e10d042bd"/>
    <p:sldId xmlns:r="http://schemas.openxmlformats.org/officeDocument/2006/relationships" id="258" r:id="R4cca7063236b49a0"/>
    <p:sldId xmlns:r="http://schemas.openxmlformats.org/officeDocument/2006/relationships" id="259" r:id="R78840951951d4465"/>
    <p:sldId xmlns:r="http://schemas.openxmlformats.org/officeDocument/2006/relationships" id="260" r:id="R76b0ade9e1774c69"/>
    <p:sldId xmlns:r="http://schemas.openxmlformats.org/officeDocument/2006/relationships" id="261" r:id="R3ae3add2f89642ae"/>
    <p:sldId xmlns:r="http://schemas.openxmlformats.org/officeDocument/2006/relationships" id="262" r:id="Rf4c50e89de114cbf"/>
    <p:sldId xmlns:r="http://schemas.openxmlformats.org/officeDocument/2006/relationships" id="263" r:id="R17b2c3bee0e444a9"/>
    <p:sldId xmlns:r="http://schemas.openxmlformats.org/officeDocument/2006/relationships" id="264" r:id="Rd21c2dfe77e142b0"/>
    <p:sldId xmlns:r="http://schemas.openxmlformats.org/officeDocument/2006/relationships" id="265" r:id="Ra9a4b369e619442e"/>
    <p:sldId xmlns:r="http://schemas.openxmlformats.org/officeDocument/2006/relationships" id="266" r:id="R51e4f5c5b72c40d4"/>
    <p:sldId xmlns:r="http://schemas.openxmlformats.org/officeDocument/2006/relationships" id="267" r:id="Rbe1252935fd74c91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be8829b449746e6" /><Relationship Type="http://schemas.openxmlformats.org/officeDocument/2006/relationships/slideMaster" Target="/ppt/slideMasters/slideMaster1.xml" Id="R2a307470a53b4ce8" /><Relationship Type="http://schemas.openxmlformats.org/officeDocument/2006/relationships/notesMaster" Target="/ppt/notesMasters/notesMaster1.xml" Id="R16f6dc3935674086" /><Relationship Type="http://schemas.openxmlformats.org/officeDocument/2006/relationships/presProps" Target="/ppt/presProps.xml" Id="Rab1de101db0d4a87" /><Relationship Type="http://schemas.openxmlformats.org/officeDocument/2006/relationships/viewProps" Target="/ppt/viewProps.xml" Id="R5104a805331d4935" /><Relationship Type="http://schemas.openxmlformats.org/officeDocument/2006/relationships/tableStyles" Target="/ppt/tableStyles.xml" Id="R394e862347774004" /><Relationship Type="http://schemas.openxmlformats.org/officeDocument/2006/relationships/slide" Target="/ppt/slides/slide1.xml" Id="Rc6adc2b045df44bf" /><Relationship Type="http://schemas.openxmlformats.org/officeDocument/2006/relationships/slide" Target="/ppt/slides/slide2.xml" Id="Rb66aa83e10d042bd" /><Relationship Type="http://schemas.openxmlformats.org/officeDocument/2006/relationships/slide" Target="/ppt/slides/slide3.xml" Id="R4cca7063236b49a0" /><Relationship Type="http://schemas.openxmlformats.org/officeDocument/2006/relationships/slide" Target="/ppt/slides/slide4.xml" Id="R78840951951d4465" /><Relationship Type="http://schemas.openxmlformats.org/officeDocument/2006/relationships/slide" Target="/ppt/slides/slide5.xml" Id="R76b0ade9e1774c69" /><Relationship Type="http://schemas.openxmlformats.org/officeDocument/2006/relationships/slide" Target="/ppt/slides/slide6.xml" Id="R3ae3add2f89642ae" /><Relationship Type="http://schemas.openxmlformats.org/officeDocument/2006/relationships/slide" Target="/ppt/slides/slide7.xml" Id="Rf4c50e89de114cbf" /><Relationship Type="http://schemas.openxmlformats.org/officeDocument/2006/relationships/slide" Target="/ppt/slides/slide8.xml" Id="R17b2c3bee0e444a9" /><Relationship Type="http://schemas.openxmlformats.org/officeDocument/2006/relationships/slide" Target="/ppt/slides/slide9.xml" Id="Rd21c2dfe77e142b0" /><Relationship Type="http://schemas.openxmlformats.org/officeDocument/2006/relationships/slide" Target="/ppt/slides/slide10.xml" Id="Ra9a4b369e619442e" /><Relationship Type="http://schemas.openxmlformats.org/officeDocument/2006/relationships/slide" Target="/ppt/slides/slide11.xml" Id="R51e4f5c5b72c40d4" /><Relationship Type="http://schemas.openxmlformats.org/officeDocument/2006/relationships/slide" Target="/ppt/slides/slide12.xml" Id="Rbe1252935fd74c9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20b7f1ba0bf4f7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5980bdbf7de440a" /><Relationship Type="http://schemas.openxmlformats.org/officeDocument/2006/relationships/notesMaster" Target="/ppt/notesMasters/notesMaster1.xml" Id="Rd203fee188f148e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b9e3377e1ad40a8" /><Relationship Type="http://schemas.openxmlformats.org/officeDocument/2006/relationships/notesMaster" Target="/ppt/notesMasters/notesMaster1.xml" Id="R09917ed6b23f406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989a6419c404073" /><Relationship Type="http://schemas.openxmlformats.org/officeDocument/2006/relationships/notesMaster" Target="/ppt/notesMasters/notesMaster1.xml" Id="Ra5da0ee2afcb4b3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185c15a2e6d4c84" /><Relationship Type="http://schemas.openxmlformats.org/officeDocument/2006/relationships/notesMaster" Target="/ppt/notesMasters/notesMaster1.xml" Id="R7f4d32e26e2145b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32d472f540b4a51" /><Relationship Type="http://schemas.openxmlformats.org/officeDocument/2006/relationships/notesMaster" Target="/ppt/notesMasters/notesMaster1.xml" Id="Re465ddcb77484be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ee5ed3fcb5f44d8" /><Relationship Type="http://schemas.openxmlformats.org/officeDocument/2006/relationships/notesMaster" Target="/ppt/notesMasters/notesMaster1.xml" Id="R644d906568c14c7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4357d95e6a1490a" /><Relationship Type="http://schemas.openxmlformats.org/officeDocument/2006/relationships/notesMaster" Target="/ppt/notesMasters/notesMaster1.xml" Id="Rd10809333cf94f9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2145087c0c4446d" /><Relationship Type="http://schemas.openxmlformats.org/officeDocument/2006/relationships/notesMaster" Target="/ppt/notesMasters/notesMaster1.xml" Id="R4744fa6741804a59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82e9d22fcf214e06" /><Relationship Type="http://schemas.openxmlformats.org/officeDocument/2006/relationships/notesMaster" Target="/ppt/notesMasters/notesMaster1.xml" Id="R7a44a559c7c74954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efd83ff937c647c8" /><Relationship Type="http://schemas.openxmlformats.org/officeDocument/2006/relationships/notesMaster" Target="/ppt/notesMasters/notesMaster1.xml" Id="Rc1c9336f06884176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57b93bba32c04150" /><Relationship Type="http://schemas.openxmlformats.org/officeDocument/2006/relationships/notesMaster" Target="/ppt/notesMasters/notesMaster1.xml" Id="Rd9c9b67232784a9b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8e8d0463b7b54b3b" /><Relationship Type="http://schemas.openxmlformats.org/officeDocument/2006/relationships/notesMaster" Target="/ppt/notesMasters/notesMaster1.xml" Id="Rcde1d0b2c8ca4e1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5188b73dc5c4ae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6445890b1534e16" /><Relationship Type="http://schemas.openxmlformats.org/officeDocument/2006/relationships/slideLayout" Target="/ppt/slideLayouts/slideLayout1.xml" Id="R6950cf8abf4842f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950cf8abf4842f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e3c21ba360c4911" /><Relationship Type="http://schemas.openxmlformats.org/officeDocument/2006/relationships/image" Target="/ppt/media/image.jpeg" Id="R985df1b5288b4e58" /><Relationship Type="http://schemas.openxmlformats.org/officeDocument/2006/relationships/image" Target="/ppt/media/image.png" Id="R1ad9aff555684b00" /><Relationship Type="http://schemas.openxmlformats.org/officeDocument/2006/relationships/image" Target="/ppt/media/image2.png" Id="R0dd7ea097a8046cb" /><Relationship Type="http://schemas.openxmlformats.org/officeDocument/2006/relationships/notesSlide" Target="/ppt/notesSlides/notesSlide1.xml" Id="Rb90156394133477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920a9dc753e4940" /><Relationship Type="http://schemas.openxmlformats.org/officeDocument/2006/relationships/notesSlide" Target="/ppt/notesSlides/notesSlide2.xml" Id="R9b1b2bbf72964e3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61556cb5e104cae" /><Relationship Type="http://schemas.openxmlformats.org/officeDocument/2006/relationships/notesSlide" Target="/ppt/notesSlides/notesSlide3.xml" Id="Ra6bcc03c19bf461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59446b9c5b745bc" /><Relationship Type="http://schemas.openxmlformats.org/officeDocument/2006/relationships/notesSlide" Target="/ppt/notesSlides/notesSlide4.xml" Id="R883f13da10784df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b15b62783f0470d" /><Relationship Type="http://schemas.openxmlformats.org/officeDocument/2006/relationships/notesSlide" Target="/ppt/notesSlides/notesSlide5.xml" Id="R6e242e4753734ea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db2f82c93774821" /><Relationship Type="http://schemas.openxmlformats.org/officeDocument/2006/relationships/image" Target="/ppt/media/image3.png" Id="R507458750a514995" /><Relationship Type="http://schemas.openxmlformats.org/officeDocument/2006/relationships/image" Target="/ppt/media/image4.png" Id="Rd39e5c90224541b6" /><Relationship Type="http://schemas.openxmlformats.org/officeDocument/2006/relationships/image" Target="/ppt/media/image5.png" Id="Ra3873540ea094347" /><Relationship Type="http://schemas.openxmlformats.org/officeDocument/2006/relationships/notesSlide" Target="/ppt/notesSlides/notesSlide6.xml" Id="R76818bc8f7e745f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4e23033a8a54bfb" /><Relationship Type="http://schemas.openxmlformats.org/officeDocument/2006/relationships/image" Target="/ppt/media/image6.png" Id="Rd1c47d5a46d84ba0" /><Relationship Type="http://schemas.openxmlformats.org/officeDocument/2006/relationships/image" Target="/ppt/media/image7.png" Id="R3064c8f73f5747a5" /><Relationship Type="http://schemas.openxmlformats.org/officeDocument/2006/relationships/notesSlide" Target="/ppt/notesSlides/notesSlide7.xml" Id="R21221ac619244b6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24df9e16b54469d" /><Relationship Type="http://schemas.openxmlformats.org/officeDocument/2006/relationships/image" Target="/ppt/media/image8.png" Id="R43eba66bd0fe485c" /><Relationship Type="http://schemas.openxmlformats.org/officeDocument/2006/relationships/image" Target="/ppt/media/image9.png" Id="Rf275c9681a4d4c46" /><Relationship Type="http://schemas.openxmlformats.org/officeDocument/2006/relationships/image" Target="/ppt/media/image10.png" Id="R573f5da1afde4d50" /><Relationship Type="http://schemas.openxmlformats.org/officeDocument/2006/relationships/notesSlide" Target="/ppt/notesSlides/notesSlide8.xml" Id="R8a837478233440d9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748cc15586440b3" /><Relationship Type="http://schemas.openxmlformats.org/officeDocument/2006/relationships/image" Target="/ppt/media/image11.png" Id="R8af0a4ba06fc4fd8" /><Relationship Type="http://schemas.openxmlformats.org/officeDocument/2006/relationships/image" Target="/ppt/media/image12.png" Id="Rcaedf6f85e3b4ccf" /><Relationship Type="http://schemas.openxmlformats.org/officeDocument/2006/relationships/notesSlide" Target="/ppt/notesSlides/notesSlide9.xml" Id="R392a93e560314a4e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497235bf1dd4083" /><Relationship Type="http://schemas.openxmlformats.org/officeDocument/2006/relationships/notesSlide" Target="/ppt/notesSlides/notesSlide10.xml" Id="Rb9e18ac994574342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c1f00b4e701407d" /><Relationship Type="http://schemas.openxmlformats.org/officeDocument/2006/relationships/notesSlide" Target="/ppt/notesSlides/notesSlide11.xml" Id="Rb55112fe8106485a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102fecc32254107" /><Relationship Type="http://schemas.openxmlformats.org/officeDocument/2006/relationships/image" Target="/ppt/media/image2.jpeg" Id="Rf95fd0d6b5a543d5" /><Relationship Type="http://schemas.openxmlformats.org/officeDocument/2006/relationships/notesSlide" Target="/ppt/notesSlides/notesSlide12.xml" Id="R5db326719bb145f9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7600891-05D0-48F2-836F-DFCA3B10A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01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8A2CCE0-C44D-4161-BB83-FB93E5E9C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514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30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E683D13-693A-459B-B4E6-826837508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952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0CAEC30-0505-4614-B03E-3B1679E0B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19100"/>
            <a:ext cx="4762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6364C"/>
            </a:solidFill>
            <a:prstDash val="solid"/>
          </a:ln>
        </p:spPr>
      </p:sp>
      <p:pic>
        <p:nvPicPr>
          <p:cNvPr id="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85df1b5288b4e58"/>
          <a:stretch xmlns:a="http://schemas.openxmlformats.org/drawingml/2006/main"/>
        </p:blipFill>
        <p:spPr>
          <a:xfrm xmlns:a="http://schemas.openxmlformats.org/drawingml/2006/main">
            <a:off x="876300" y="438150"/>
            <a:ext cx="438150" cy="43815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4005AD4-8FE0-4E3C-BEE0-7269C27BB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523875"/>
            <a:ext cx="147637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VeriPass</a:t>
            </a:r>
          </a:p>
        </p:txBody>
      </p:sp>
      <p:sp>
        <p:nvSpPr>
          <p:cNvPr id="7" name="kicker-La décision-marker">
            <a:extLst xmlns:a="http://schemas.openxmlformats.org/drawingml/2006/main">
              <a:ext uri="{FF2B5EF4-FFF2-40B4-BE49-F238E27FC236}">
                <a16:creationId xmlns:a16="http://schemas.microsoft.com/office/drawing/2014/main" id="{24065F31-7EFF-4AA8-AE67-7DA9CBB56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2477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952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kicker-La décision-label">
            <a:extLst xmlns:a="http://schemas.openxmlformats.org/drawingml/2006/main">
              <a:ext uri="{FF2B5EF4-FFF2-40B4-BE49-F238E27FC236}">
                <a16:creationId xmlns:a16="http://schemas.microsoft.com/office/drawing/2014/main" id="{14A78146-FBC5-4A77-B4E6-E0AAC03F7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1200150"/>
            <a:ext cx="5905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AFC1D6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AFC1D6"/>
                </a:solidFill>
                <a:latin typeface="Aptos"/>
                <a:ea typeface="Aptos"/>
                <a:cs typeface="Aptos"/>
              </a:rPr>
              <a:t>LA DÉCISION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7D4108A-AEE2-4425-83D7-EA515C471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581150"/>
            <a:ext cx="685800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37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Transformer le KYC en porte d'entrée digitale contrôlée.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FB79AE8-6E71-4FDD-B2AE-346C3A5B6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162300"/>
            <a:ext cx="6667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DCE6F2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DCE6F2"/>
                </a:solidFill>
                <a:latin typeface="Aptos"/>
                <a:ea typeface="Aptos"/>
                <a:cs typeface="Aptos"/>
              </a:rPr>
              <a:t>VeriPass repositionne le stage comme une base stratégique: un rail KYC souverain, démontrable, auditable et mesurable avant tout engagement de production.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916FB54-FA38-4C8B-8746-3296D32D4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57700"/>
            <a:ext cx="619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41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94D3AE7-A1F9-472F-8DC9-1CB7BC432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724400"/>
            <a:ext cx="2190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9FB0C6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9FB0C6"/>
                </a:solidFill>
                <a:latin typeface="Aptos"/>
                <a:ea typeface="Aptos"/>
                <a:cs typeface="Aptos"/>
              </a:rPr>
              <a:t>CE QUE LE DECK DEMANDE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AFC415A-4F92-4AC4-85D4-BDF13E228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010150"/>
            <a:ext cx="6191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8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Autoriser un pilote contrôlé, pas annoncer un déploiement.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2462277-1186-4964-9A51-0B280D307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723900"/>
            <a:ext cx="3257550" cy="504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2236"/>
          </a:solidFill>
          <a:ln xmlns:a="http://schemas.openxmlformats.org/drawingml/2006/main" w="9525">
            <a:solidFill>
              <a:srgbClr val="304057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0C68F1F-1CE2-4122-8637-61C427868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028700"/>
            <a:ext cx="1638300" cy="3219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CE3"/>
            </a:solidFill>
            <a:prstDash val="solid"/>
          </a:ln>
        </p:spPr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ad9aff555684b00"/>
          <a:stretch xmlns:a="http://schemas.openxmlformats.org/drawingml/2006/main"/>
        </p:blipFill>
        <p:spPr>
          <a:xfrm xmlns:a="http://schemas.openxmlformats.org/drawingml/2006/main">
            <a:off x="8140212" y="1123950"/>
            <a:ext cx="1397977" cy="3028950"/>
          </a:xfrm>
          <a:prstGeom xmlns:a="http://schemas.openxmlformats.org/drawingml/2006/main" prst="rect">
            <a:avLst/>
          </a:prstGeom>
        </p:spPr>
      </p:pic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FDA2F51-4CA7-4323-9BFD-23A3FB8B7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390650"/>
            <a:ext cx="2152650" cy="3067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CE3"/>
            </a:solidFill>
            <a:prstDash val="solid"/>
          </a:ln>
        </p:spPr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dd7ea097a8046cb"/>
          <a:srcRect xmlns:a="http://schemas.openxmlformats.org/drawingml/2006/main" l="0" t="10361" r="0" b="1036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391650" y="1485900"/>
            <a:ext cx="1962150" cy="2876550"/>
          </a:xfrm>
          <a:prstGeom xmlns:a="http://schemas.openxmlformats.org/drawingml/2006/main" prst="rect">
            <a:avLst/>
          </a:prstGeom>
        </p:spPr>
      </p:pic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AEB07D0-67A5-4ACC-804B-CA6978D10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4991100"/>
            <a:ext cx="31432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30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448EE47-D0F6-4610-B056-07C8C5FD9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5133975"/>
            <a:ext cx="27051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Preuve visible: le MVP se lance, se teste et se montre.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A00BACD-8A35-45D7-AAEE-7CC533AE3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990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64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C5DB959-898A-48AF-A836-41CF18568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7429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8FA1B8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8FA1B8"/>
                </a:solidFill>
                <a:latin typeface="Aptos"/>
                <a:ea typeface="Aptos"/>
                <a:cs typeface="Aptos"/>
              </a:rPr>
              <a:t>VeriPass - support exécutif BICEC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26AB626-883F-4E17-A085-583D13148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524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8FA1B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8FA1B8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2013059139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2E2A054-2044-47BD-B56B-478690130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7E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Pourquoi maintenant-marker">
            <a:extLst xmlns:a="http://schemas.openxmlformats.org/drawingml/2006/main">
              <a:ext uri="{FF2B5EF4-FFF2-40B4-BE49-F238E27FC236}">
                <a16:creationId xmlns:a16="http://schemas.microsoft.com/office/drawing/2014/main" id="{305FE40D-FFE2-46E9-83D5-B32641CE3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57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30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Pourquoi maintenant-label">
            <a:extLst xmlns:a="http://schemas.openxmlformats.org/drawingml/2006/main">
              <a:ext uri="{FF2B5EF4-FFF2-40B4-BE49-F238E27FC236}">
                <a16:creationId xmlns:a16="http://schemas.microsoft.com/office/drawing/2014/main" id="{A52DD740-CD4C-42AC-8903-E21E53F52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38150"/>
            <a:ext cx="5905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POURQUOI MAINTENANT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6F07105-EDE7-4F77-848C-D4AE0C26D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89535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41923"/>
                </a:solidFill>
                <a:latin typeface="Aptos Display"/>
                <a:ea typeface="Aptos Display"/>
                <a:cs typeface="Aptos Display"/>
              </a:defRPr>
            </a:pPr>
            <a:r>
              <a:rPr sz="2925" b="1">
                <a:solidFill>
                  <a:srgbClr val="141923"/>
                </a:solidFill>
                <a:latin typeface="Aptos Display"/>
                <a:ea typeface="Aptos Display"/>
                <a:cs typeface="Aptos Display"/>
              </a:rPr>
              <a:t>Les usages mobiles sont installés; l'ouverture digitale reste contrainte par la preuve d'identité.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21EC921-103B-4E87-83C5-0F0334A4D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943100"/>
            <a:ext cx="8382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L'opportunité n'est pas de suivre une mode digitale. Elle est de mieux contrôler l'entrée client au moment où usage mobile, pression conformité et friction d'identité se rencontrent.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0F03CFA-1493-40D0-B86C-4650E61F0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105150"/>
            <a:ext cx="4762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30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B3D723D-989D-4257-A573-C55227DA1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067050"/>
            <a:ext cx="24955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41923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41923"/>
                </a:solidFill>
                <a:latin typeface="Aptos Display"/>
                <a:ea typeface="Aptos Display"/>
                <a:cs typeface="Aptos Display"/>
              </a:rPr>
              <a:t>29,0 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0B7FBFD-7BC5-4A56-BBF4-C62285913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505200"/>
            <a:ext cx="24384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0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780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connexions mobiles actives au Cameroun fin 2025; ce ne sont pas des personnes uniques.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27482B8-5633-4A14-B976-03E401FA7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3105150"/>
            <a:ext cx="4762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9B9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9D9ABD5-E05F-4368-B028-A54E060FC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3067050"/>
            <a:ext cx="24955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41923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41923"/>
                </a:solidFill>
                <a:latin typeface="Aptos Display"/>
                <a:ea typeface="Aptos Display"/>
                <a:cs typeface="Aptos Display"/>
              </a:rPr>
              <a:t>12,6 M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2DB1978-6C31-4BC1-A601-F284516A1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3505200"/>
            <a:ext cx="24384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0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780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internautes estimés au Cameroun fin 2025, soit 41,9 % de pénétration.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68C1797-5FD8-4A53-956A-3872B6EF3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3105150"/>
            <a:ext cx="4762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952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1B059C3-67F7-408C-BC8A-FA158002C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067050"/>
            <a:ext cx="24955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41923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41923"/>
                </a:solidFill>
                <a:latin typeface="Aptos Display"/>
                <a:ea typeface="Aptos Display"/>
                <a:cs typeface="Aptos Display"/>
              </a:rPr>
              <a:t>GAFI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DDFA200-4C02-4802-9463-73AC6E517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3505200"/>
            <a:ext cx="24384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0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780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Cameroun encore sous surveillance accrue au 13 février 2026.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B208E63-CCD5-4604-BEA9-502CD4CBB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762500"/>
            <a:ext cx="27813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E1D7C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96889CE-DEFF-4FF8-B95F-DDCBB8114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762500"/>
            <a:ext cx="27813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37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E05E7A9-5772-4C9F-B399-86D1C8FAE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972050"/>
            <a:ext cx="2438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41923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>
                <a:solidFill>
                  <a:srgbClr val="141923"/>
                </a:solidFill>
                <a:latin typeface="Aptos Display"/>
                <a:ea typeface="Aptos Display"/>
                <a:cs typeface="Aptos Display"/>
              </a:rPr>
              <a:t>Lecture bancaire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FB91578-EE64-46F2-8A7F-34ACDA8A8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5276850"/>
            <a:ext cx="24384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4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4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Le digital avance, mais l'entrée client doit rester gouvernée par la banque.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253C887-5BFE-4994-A34E-3B31A78FF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4762500"/>
            <a:ext cx="27813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E1D7C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88735E1-F927-4195-963F-C524C5520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4762500"/>
            <a:ext cx="27813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D4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4888593-761F-4778-AF4A-AA277D8AD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4972050"/>
            <a:ext cx="2438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41923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>
                <a:solidFill>
                  <a:srgbClr val="141923"/>
                </a:solidFill>
                <a:latin typeface="Aptos Display"/>
                <a:ea typeface="Aptos Display"/>
                <a:cs typeface="Aptos Display"/>
              </a:rPr>
              <a:t>Lecture conformité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D75FB8B-0349-427D-BD72-72059603B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5276850"/>
            <a:ext cx="24384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4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4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Un dossier KYC doit produire des preuves, pas seulement une expérience fluide.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AF79FA4-A5BC-40B8-86AA-9929F8F17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4762500"/>
            <a:ext cx="27813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E1D7C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965DE82-53D4-4EB5-A2B2-8888AAA5A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4762500"/>
            <a:ext cx="27813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30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EBB4134-D9AA-401C-B9A3-9699712F3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4972050"/>
            <a:ext cx="2438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41923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>
                <a:solidFill>
                  <a:srgbClr val="141923"/>
                </a:solidFill>
                <a:latin typeface="Aptos Display"/>
                <a:ea typeface="Aptos Display"/>
                <a:cs typeface="Aptos Display"/>
              </a:rPr>
              <a:t>Lecture inclusion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964E024-BB8C-41FF-9AE0-91F70F1C4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5276850"/>
            <a:ext cx="24384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4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4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Le mobile est large, mais le parcours doit rester sobre et vérifiable.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AA955E6-A811-4952-A356-265CD7917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200400"/>
            <a:ext cx="1143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Contexte, pas ROI BICEC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038E04F-72FE-4824-A526-B1A34B2D9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72200"/>
            <a:ext cx="9525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70" b="0">
                <a:solidFill>
                  <a:srgbClr val="7B6F61"/>
                </a:solidFill>
                <a:latin typeface="Aptos"/>
                <a:ea typeface="Aptos"/>
                <a:cs typeface="Aptos"/>
              </a:defRPr>
            </a:pPr>
            <a:r>
              <a:rPr sz="570" b="0">
                <a:solidFill>
                  <a:srgbClr val="7B6F61"/>
                </a:solidFill>
                <a:latin typeface="Aptos"/>
                <a:ea typeface="Aptos"/>
                <a:cs typeface="Aptos"/>
              </a:rPr>
              <a:t>Sources externes: DataReportal/Kepios, Digital 2026 Cameroon (8 nov. 2025); FATF/GAFI, juridictions sous surveillance accrue (13 fév. 2026); BEAC/DSMP, services de paiement CEMAC 2024.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D0529FE-57D4-4EFB-94F2-163491CFA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990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CAB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5A3FF68-46A0-4817-B747-3E3FD4FDC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7429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7B6F61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7B6F61"/>
                </a:solidFill>
                <a:latin typeface="Aptos"/>
                <a:ea typeface="Aptos"/>
                <a:cs typeface="Aptos"/>
              </a:rPr>
              <a:t>VeriPass - rail KYC souverain BICEC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372CB36-0578-4D59-BD54-9DB833D77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524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7B6F61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7B6F61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2116899516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419C9AF-8C64-489A-ACC2-8EC797BD9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Problème métier-marker">
            <a:extLst xmlns:a="http://schemas.openxmlformats.org/drawingml/2006/main">
              <a:ext uri="{FF2B5EF4-FFF2-40B4-BE49-F238E27FC236}">
                <a16:creationId xmlns:a16="http://schemas.microsoft.com/office/drawing/2014/main" id="{FB3A1552-3142-4432-B3F5-0BFEF13A2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57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30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Problème métier-label">
            <a:extLst xmlns:a="http://schemas.openxmlformats.org/drawingml/2006/main">
              <a:ext uri="{FF2B5EF4-FFF2-40B4-BE49-F238E27FC236}">
                <a16:creationId xmlns:a16="http://schemas.microsoft.com/office/drawing/2014/main" id="{526D706A-3B3C-42FB-A1D3-3C8B4B812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38150"/>
            <a:ext cx="5905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PROBLÈME MÉTIER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E6D9319-5A62-4A73-9485-3D67DD818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89535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41923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141923"/>
                </a:solidFill>
                <a:latin typeface="Aptos Display"/>
                <a:ea typeface="Aptos Display"/>
                <a:cs typeface="Aptos Display"/>
              </a:rPr>
              <a:t>La charge opérationnelle invisible du KYC vient de l'incertitude du dossier.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42887D5-AB53-437E-9102-E56EC506E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943100"/>
            <a:ext cx="80962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Sans chaîne de preuve unifiée, chaque équipe répare un morceau du problème: dossier incomplet, relance client, reprise agent, contrôle tardif, preuve difficile à reconstituer.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444575E-67C6-4150-93CC-ED08FD711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43250"/>
            <a:ext cx="209550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1D7C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4D9C251-4B39-4ED2-9EAC-0A687C7AF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43250"/>
            <a:ext cx="20955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30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8FED306-6655-4A28-8E55-977B8C519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390900"/>
            <a:ext cx="1714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41923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141923"/>
                </a:solidFill>
                <a:latin typeface="Aptos Display"/>
                <a:ea typeface="Aptos Display"/>
                <a:cs typeface="Aptos Display"/>
              </a:rPr>
              <a:t>Entrée client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3A7A615-4675-496F-A5E4-6A4DC413D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752850"/>
            <a:ext cx="17526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6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6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Pièces et informations arrivent en fragments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5894A20-3C9C-4D05-90F4-EBB2F0F98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733800"/>
            <a:ext cx="400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A99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0176735-3DDC-43A5-B5BC-4BF3C7ADE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686175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B9A99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515C1E3-6E64-48AF-9927-2DDF130E5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3143250"/>
            <a:ext cx="209550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1D7C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CF985D4-7E4D-40D0-9B07-2C15BFB46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3143250"/>
            <a:ext cx="20955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952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1323E48-F213-4B31-B5F1-74EC2273E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390900"/>
            <a:ext cx="1714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41923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141923"/>
                </a:solidFill>
                <a:latin typeface="Aptos Display"/>
                <a:ea typeface="Aptos Display"/>
                <a:cs typeface="Aptos Display"/>
              </a:rPr>
              <a:t>Agence / agent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8230470-0B12-4079-9EFE-84705120E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752850"/>
            <a:ext cx="17526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6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6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Ressaisie, relances, compléments, priorités floues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87D18BD-3495-429F-BDD3-14E38D190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3733800"/>
            <a:ext cx="400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A99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43CEDE6-8C60-4E54-A1F0-37C1118DC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686175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B9A99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3005C9E-1757-4BE0-AF94-6A1894BE8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143250"/>
            <a:ext cx="209550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1D7C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C15C04C-1096-41B8-B088-5B8E3F7D1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143250"/>
            <a:ext cx="20955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9B9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04E2301-EB12-472C-BABE-7DFEFA2FC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390900"/>
            <a:ext cx="1714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41923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141923"/>
                </a:solidFill>
                <a:latin typeface="Aptos Display"/>
                <a:ea typeface="Aptos Display"/>
                <a:cs typeface="Aptos Display"/>
              </a:rPr>
              <a:t>Conformité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B6BA491-BF84-4495-AB90-80179D960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752850"/>
            <a:ext cx="17526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6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6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Alerte ou justification parfois trop tardive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C3397D0-B2D4-4ED5-9096-4AC98329F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733800"/>
            <a:ext cx="400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A99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D75A492-8173-4DAA-99E6-B7536C76E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3686175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B9A99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DC2C600-208D-4879-8C09-DCEA78931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3143250"/>
            <a:ext cx="209550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1D7C8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AA314F3-68C9-4987-B986-9D6CAF902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3143250"/>
            <a:ext cx="20955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37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6BB8370-3288-4D27-8CD6-91DE155F0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3390900"/>
            <a:ext cx="1714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41923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141923"/>
                </a:solidFill>
                <a:latin typeface="Aptos Display"/>
                <a:ea typeface="Aptos Display"/>
                <a:cs typeface="Aptos Display"/>
              </a:rPr>
              <a:t>Audit / management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CB6F639-B650-400A-B9C8-7B4F41D7F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3752850"/>
            <a:ext cx="17526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6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6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Reconstituer le dossier demande trop d'effort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E5F1A34-9FC9-4E81-B880-99A6EB517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5105400"/>
            <a:ext cx="8953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B2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26EC411-0248-4AE9-A436-2EE2FE093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5286375"/>
            <a:ext cx="83439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Les chiffres exacts de délai, rework, abandon et charge agent doivent être mesurés avec les données BICEC.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CF304D9-9649-492E-8492-7F49E6E41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72200"/>
            <a:ext cx="9525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70" b="0">
                <a:solidFill>
                  <a:srgbClr val="7B6F61"/>
                </a:solidFill>
                <a:latin typeface="Aptos"/>
                <a:ea typeface="Aptos"/>
                <a:cs typeface="Aptos"/>
              </a:defRPr>
            </a:pPr>
            <a:r>
              <a:rPr sz="570" b="0">
                <a:solidFill>
                  <a:srgbClr val="7B6F61"/>
                </a:solidFill>
                <a:latin typeface="Aptos"/>
                <a:ea typeface="Aptos"/>
                <a:cs typeface="Aptos"/>
              </a:rPr>
              <a:t>Statut: problème métier à quantifier en pilote. Aucun volume, coût ou délai interne BICEC n'est inventé.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125D3DF-B641-4C13-9DC9-F2A29E95D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990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CAB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C5FBE5A-51D5-4117-9091-BFB91844F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7429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7B6F61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7B6F61"/>
                </a:solidFill>
                <a:latin typeface="Aptos"/>
                <a:ea typeface="Aptos"/>
                <a:cs typeface="Aptos"/>
              </a:rPr>
              <a:t>VeriPass - rail KYC souverain BICEC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E3D60EA-45AE-4339-8AD5-67F07C2FB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524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7B6F61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7B6F61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479358762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BF368D3-F02A-4B3E-B0B2-3120D3F18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7E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Réponse VeriPass-marker">
            <a:extLst xmlns:a="http://schemas.openxmlformats.org/drawingml/2006/main">
              <a:ext uri="{FF2B5EF4-FFF2-40B4-BE49-F238E27FC236}">
                <a16:creationId xmlns:a16="http://schemas.microsoft.com/office/drawing/2014/main" id="{227DCEC1-20C3-44C3-B355-DE01D578E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57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9B9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Réponse VeriPass-label">
            <a:extLst xmlns:a="http://schemas.openxmlformats.org/drawingml/2006/main">
              <a:ext uri="{FF2B5EF4-FFF2-40B4-BE49-F238E27FC236}">
                <a16:creationId xmlns:a16="http://schemas.microsoft.com/office/drawing/2014/main" id="{F6E5C5FE-4BFF-42FA-A8DB-1AC4C15FB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38150"/>
            <a:ext cx="5905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RÉPONSE VERIPASS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25FB1DE-91E5-4551-BDB1-437ACE641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87630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41923"/>
                </a:solidFill>
                <a:latin typeface="Aptos Display"/>
                <a:ea typeface="Aptos Display"/>
                <a:cs typeface="Aptos Display"/>
              </a:defRPr>
            </a:pPr>
            <a:r>
              <a:rPr sz="3225" b="1">
                <a:solidFill>
                  <a:srgbClr val="141923"/>
                </a:solidFill>
                <a:latin typeface="Aptos Display"/>
                <a:ea typeface="Aptos Display"/>
                <a:cs typeface="Aptos Display"/>
              </a:rPr>
              <a:t>VeriPass prépare un dossier client structuré avant la décision humaine.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1C04A3B-EDF8-4CCF-BB0E-650D820C3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866900"/>
            <a:ext cx="7810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Le système ne remplace ni la banque, ni l'agent. Il rassemble des preuves mieux structurées, signale les risques et rend la décision plus défendable.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74CB4C5-CC04-4A09-8D71-29F2DE379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28950"/>
            <a:ext cx="200025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1D7C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133C1AA-976E-4865-A2E4-6FE14F9AA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238500"/>
            <a:ext cx="1619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41923"/>
                </a:solidFill>
                <a:latin typeface="Aptos Display"/>
                <a:ea typeface="Aptos Display"/>
                <a:cs typeface="Aptos Display"/>
              </a:defRPr>
            </a:pPr>
            <a:r>
              <a:rPr sz="1575" b="1">
                <a:solidFill>
                  <a:srgbClr val="141923"/>
                </a:solidFill>
                <a:latin typeface="Aptos Display"/>
                <a:ea typeface="Aptos Display"/>
                <a:cs typeface="Aptos Display"/>
              </a:rPr>
              <a:t>Client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FB23AD3-36B2-481A-ACA8-78CB6CDA9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600450"/>
            <a:ext cx="1619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capture guidée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8169788-8ED2-4738-BEA6-A823E6DDA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3505200"/>
            <a:ext cx="400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EC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6961D1F-9C24-43E1-816E-160277F32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3457575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D8CEC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136233C-3DCA-44B0-AED3-E2405B4F5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028950"/>
            <a:ext cx="200025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1D7C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309C8E6-C3C6-47FE-99E9-7FDB36E28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3238500"/>
            <a:ext cx="1619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41923"/>
                </a:solidFill>
                <a:latin typeface="Aptos Display"/>
                <a:ea typeface="Aptos Display"/>
                <a:cs typeface="Aptos Display"/>
              </a:defRPr>
            </a:pPr>
            <a:r>
              <a:rPr sz="1575" b="1">
                <a:solidFill>
                  <a:srgbClr val="141923"/>
                </a:solidFill>
                <a:latin typeface="Aptos Display"/>
                <a:ea typeface="Aptos Display"/>
                <a:cs typeface="Aptos Display"/>
              </a:rPr>
              <a:t>Dossier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87C7313-DDC3-49F0-9C52-5CF7C8A53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3600450"/>
            <a:ext cx="1619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pièces + contrôles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B35CA2B-ACCA-43EA-8281-3629695DE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3505200"/>
            <a:ext cx="400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EC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D5C5A7B-6F10-48ED-B49D-FF22145CF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3457575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D8CEC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0867EBC-5CF2-4355-BE4E-54E2D9346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3028950"/>
            <a:ext cx="200025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1D7C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64C0DFB-4AB9-4DFF-B374-66C479024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3238500"/>
            <a:ext cx="1619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41923"/>
                </a:solidFill>
                <a:latin typeface="Aptos Display"/>
                <a:ea typeface="Aptos Display"/>
                <a:cs typeface="Aptos Display"/>
              </a:defRPr>
            </a:pPr>
            <a:r>
              <a:rPr sz="1575" b="1">
                <a:solidFill>
                  <a:srgbClr val="141923"/>
                </a:solidFill>
                <a:latin typeface="Aptos Display"/>
                <a:ea typeface="Aptos Display"/>
                <a:cs typeface="Aptos Display"/>
              </a:rPr>
              <a:t>Risque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59AB9B1-BECE-4CA1-9199-BD8E636A8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3600450"/>
            <a:ext cx="1619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alertes + statut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5C8DC82-5A92-4DA9-BF0A-1E6DBEA9A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505200"/>
            <a:ext cx="400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30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4E59F79-D0D8-4C59-BC83-41D6865B2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457575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D930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FEB3A1F-05CB-40DC-8371-23ED68E65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3028950"/>
            <a:ext cx="200025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B2E"/>
          </a:solidFill>
          <a:ln xmlns:a="http://schemas.openxmlformats.org/drawingml/2006/main" w="9525">
            <a:solidFill>
              <a:srgbClr val="304057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49B82F4-EA6D-4190-A090-D7012D1E2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238500"/>
            <a:ext cx="1619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5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Banque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1B4F8F2-826E-4869-B796-C551F3956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600450"/>
            <a:ext cx="1619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B9C6D8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B9C6D8"/>
                </a:solidFill>
                <a:latin typeface="Aptos"/>
                <a:ea typeface="Aptos"/>
                <a:cs typeface="Aptos"/>
              </a:rPr>
              <a:t>jugement humain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A5DDA19-8978-4B29-9C0B-47D96FBA2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629150"/>
            <a:ext cx="84772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1D7C8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2072597-5CF2-422D-BE2C-5EE9BC4B4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629150"/>
            <a:ext cx="762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30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596D00A-5F90-4037-8DC3-FADCB6320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4819650"/>
            <a:ext cx="7810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41923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141923"/>
                </a:solidFill>
                <a:latin typeface="Aptos Display"/>
                <a:ea typeface="Aptos Display"/>
                <a:cs typeface="Aptos Display"/>
              </a:rPr>
              <a:t>VeriPass ne remplace pas le jugement de la banque. Il donne à la banque de meilleures preuves avant que le jugement soit rendu.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9E780B5-01D1-4A6C-861C-615137E4C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72200"/>
            <a:ext cx="9525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70" b="0">
                <a:solidFill>
                  <a:srgbClr val="7B6F61"/>
                </a:solidFill>
                <a:latin typeface="Aptos"/>
                <a:ea typeface="Aptos"/>
                <a:cs typeface="Aptos"/>
              </a:defRPr>
            </a:pPr>
            <a:r>
              <a:rPr sz="570" b="0">
                <a:solidFill>
                  <a:srgbClr val="7B6F61"/>
                </a:solidFill>
                <a:latin typeface="Aptos"/>
                <a:ea typeface="Aptos"/>
                <a:cs typeface="Aptos"/>
              </a:rPr>
              <a:t>Sources internes: docs/project-overview.md, lignes 9-13 et 66-75; docs/documentation-authority.md, lignes 15-21.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C203FEC-0456-4AFF-B9AE-D0D8B61F7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990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CAB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0C4ECCB-7A20-4C52-AB93-7149F29C5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7429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7B6F61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7B6F61"/>
                </a:solidFill>
                <a:latin typeface="Aptos"/>
                <a:ea typeface="Aptos"/>
                <a:cs typeface="Aptos"/>
              </a:rPr>
              <a:t>VeriPass - rail KYC souverain BICEC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9047E90-281D-4293-A8E4-EDD2CD1E4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524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7B6F61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7B6F61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747829012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D2082F8-327A-4315-B501-9DD3079E2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Gains responsables-marker">
            <a:extLst xmlns:a="http://schemas.openxmlformats.org/drawingml/2006/main">
              <a:ext uri="{FF2B5EF4-FFF2-40B4-BE49-F238E27FC236}">
                <a16:creationId xmlns:a16="http://schemas.microsoft.com/office/drawing/2014/main" id="{C37FCED3-7F6E-462E-A67C-B16D8CF18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57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952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Gains responsables-label">
            <a:extLst xmlns:a="http://schemas.openxmlformats.org/drawingml/2006/main">
              <a:ext uri="{FF2B5EF4-FFF2-40B4-BE49-F238E27FC236}">
                <a16:creationId xmlns:a16="http://schemas.microsoft.com/office/drawing/2014/main" id="{F11DFABF-3EAD-41B2-86AC-B138FEBB5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38150"/>
            <a:ext cx="5905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GAINS RESPONSABLES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10AC49E-5753-4038-BCED-2C97DA96B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86677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41923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141923"/>
                </a:solidFill>
                <a:latin typeface="Aptos Display"/>
                <a:ea typeface="Aptos Display"/>
                <a:cs typeface="Aptos Display"/>
              </a:rPr>
              <a:t>Chaque responsable retrouve une preuve utile, pas un écran de plus.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F9F0A7B-8DC3-43AF-8824-4BDC6F960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847850"/>
            <a:ext cx="7429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Le même rail KYC sert plusieurs décisions: acquérir, contrôler, opérer, auditer, sécuriser et mesurer.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40F1A94-8296-4E15-A81A-3DDE51FD5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800350"/>
            <a:ext cx="44767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1D7C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D5C2454-4374-47E8-A22F-ABBB02544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800350"/>
            <a:ext cx="66675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30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5AD0552-DFC2-4505-8BBF-4565CEC71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924175"/>
            <a:ext cx="1524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41923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1">
                <a:solidFill>
                  <a:srgbClr val="141923"/>
                </a:solidFill>
                <a:latin typeface="Aptos Display"/>
                <a:ea typeface="Aptos Display"/>
                <a:cs typeface="Aptos Display"/>
              </a:rPr>
              <a:t>Direction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B357DFD-EC2E-4589-9A49-86F819076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2924175"/>
            <a:ext cx="2286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option stratégique testable avant budget lourd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ED0F58C-6787-4744-A569-0A7F0BB09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800350"/>
            <a:ext cx="44767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1D7C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7282B21-25E6-40A2-80AE-B574AA62D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800350"/>
            <a:ext cx="66675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952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38734B9-A495-416B-948C-EBDFFAFC9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924175"/>
            <a:ext cx="1524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41923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1">
                <a:solidFill>
                  <a:srgbClr val="141923"/>
                </a:solidFill>
                <a:latin typeface="Aptos Display"/>
                <a:ea typeface="Aptos Display"/>
                <a:cs typeface="Aptos Display"/>
              </a:rPr>
              <a:t>Réseau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F9CFF2B-C6FC-4EB4-93CF-DD76CD7DA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924175"/>
            <a:ext cx="2286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dossiers mieux préparés avant interaction agence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6F666FD-FA73-4569-A166-189FCC52E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19500"/>
            <a:ext cx="44767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1D7C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43A80E4-3CB3-45A5-87A0-90EB0DD4F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19500"/>
            <a:ext cx="66675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9B9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75333E5-FB52-4CC4-A5DF-6D35F9468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743325"/>
            <a:ext cx="1524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41923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1">
                <a:solidFill>
                  <a:srgbClr val="141923"/>
                </a:solidFill>
                <a:latin typeface="Aptos Display"/>
                <a:ea typeface="Aptos Display"/>
                <a:cs typeface="Aptos Display"/>
              </a:rPr>
              <a:t>Conformité / AML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650843F-2440-4EA1-B10D-E5B35AC9B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3743325"/>
            <a:ext cx="2286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alertes, blocages et justifications traçables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B42CAA6-F4AD-4028-821A-1AAE41A72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619500"/>
            <a:ext cx="44767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1D7C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7E437EE-70F0-498E-8630-B6D91FBE6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619500"/>
            <a:ext cx="66675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37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FC29A26-1BF6-48AB-80D0-A49622832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743325"/>
            <a:ext cx="1524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41923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1">
                <a:solidFill>
                  <a:srgbClr val="141923"/>
                </a:solidFill>
                <a:latin typeface="Aptos Display"/>
                <a:ea typeface="Aptos Display"/>
                <a:cs typeface="Aptos Display"/>
              </a:rPr>
              <a:t>Audit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A1E7430-E20C-42F9-A3B4-25CE57D48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3743325"/>
            <a:ext cx="2286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journal exploitable et export de preuve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EE5861C-755A-4B4F-A3B8-7C1B256FF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438650"/>
            <a:ext cx="44767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1D7C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9CCEEF7-EB1D-43B7-95F0-D1A25330D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438650"/>
            <a:ext cx="66675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D4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1C0D73A-6E39-43A8-B1BC-77A9FD055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562475"/>
            <a:ext cx="1524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41923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1">
                <a:solidFill>
                  <a:srgbClr val="141923"/>
                </a:solidFill>
                <a:latin typeface="Aptos Display"/>
                <a:ea typeface="Aptos Display"/>
                <a:cs typeface="Aptos Display"/>
              </a:rPr>
              <a:t>Opérations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2F3C669-8DA3-4C4D-B8C9-23A84E537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4562475"/>
            <a:ext cx="2286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files, charge, SLA et priorités visibles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47EA3E5-63FF-42AE-89A5-733E7CCB9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438650"/>
            <a:ext cx="44767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1D7C8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81584F7-B9E4-469C-BC51-17F2A463C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438650"/>
            <a:ext cx="66675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05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C5EB53F-701E-4A8A-A81D-189C44458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4562475"/>
            <a:ext cx="1524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41923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1">
                <a:solidFill>
                  <a:srgbClr val="141923"/>
                </a:solidFill>
                <a:latin typeface="Aptos Display"/>
                <a:ea typeface="Aptos Display"/>
                <a:cs typeface="Aptos Display"/>
              </a:rPr>
              <a:t>IT / Sécurité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515AE66-2F5C-49DF-9D68-A378F1FFE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4562475"/>
            <a:ext cx="2286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périmètre pilote borné, revues nécessaires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66BFD88-1ECE-41B1-B32F-B45CAE594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257800"/>
            <a:ext cx="44767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1D7C8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7EA859A-6713-4C33-9C16-958E089CF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257800"/>
            <a:ext cx="66675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D1C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DA49E25-36B4-49E2-B1E8-0C10E2FD9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381625"/>
            <a:ext cx="1524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41923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1">
                <a:solidFill>
                  <a:srgbClr val="141923"/>
                </a:solidFill>
                <a:latin typeface="Aptos Display"/>
                <a:ea typeface="Aptos Display"/>
                <a:cs typeface="Aptos Display"/>
              </a:rPr>
              <a:t>Finance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C6B566A-CB3D-4CC7-B905-2F82C2982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5381625"/>
            <a:ext cx="2286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modèle ROI à renseigner avec chiffres BICEC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1A9BED0-778D-4668-AE29-265FD21BF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5257800"/>
            <a:ext cx="44767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1D7C8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5DEB46D-ADB8-4385-BBF4-BBC8D4581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5257800"/>
            <a:ext cx="66675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9B9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4919096-E299-414F-BF49-EE486954A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5381625"/>
            <a:ext cx="1524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41923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1">
                <a:solidFill>
                  <a:srgbClr val="141923"/>
                </a:solidFill>
                <a:latin typeface="Aptos Display"/>
                <a:ea typeface="Aptos Display"/>
                <a:cs typeface="Aptos Display"/>
              </a:rPr>
              <a:t>Digital / Marketing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39F618B-BBBA-406D-A04D-D64A35BD9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5381625"/>
            <a:ext cx="2286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entrée client plus claire, sans promesse de production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50A8B4B-E8BC-4829-B97B-1F4A6FDC1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72200"/>
            <a:ext cx="9525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70" b="0">
                <a:solidFill>
                  <a:srgbClr val="7B6F61"/>
                </a:solidFill>
                <a:latin typeface="Aptos"/>
                <a:ea typeface="Aptos"/>
                <a:cs typeface="Aptos"/>
              </a:defRPr>
            </a:pPr>
            <a:r>
              <a:rPr sz="570" b="0">
                <a:solidFill>
                  <a:srgbClr val="7B6F61"/>
                </a:solidFill>
                <a:latin typeface="Aptos"/>
                <a:ea typeface="Aptos"/>
                <a:cs typeface="Aptos"/>
              </a:rPr>
              <a:t>Statut: matrice rôle -&gt; preuve dérivée des rôles et surfaces produits prouvés; les gains financiers restent à mesurer en pilote.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DD53BFF-57F6-433E-A242-B9AEBD5D7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990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CAB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F45724E7-4DD5-4258-9185-82FDE2799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7429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7B6F61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7B6F61"/>
                </a:solidFill>
                <a:latin typeface="Aptos"/>
                <a:ea typeface="Aptos"/>
                <a:cs typeface="Aptos"/>
              </a:rPr>
              <a:t>VeriPass - rail KYC souverain BICEC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A54913E3-E043-4A5D-BE14-AE9206157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524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7B6F61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7B6F61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808907838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E0A157D-DAE0-41D0-97C9-7338C332F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7E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Preuve client-marker">
            <a:extLst xmlns:a="http://schemas.openxmlformats.org/drawingml/2006/main">
              <a:ext uri="{FF2B5EF4-FFF2-40B4-BE49-F238E27FC236}">
                <a16:creationId xmlns:a16="http://schemas.microsoft.com/office/drawing/2014/main" id="{7AEE8276-A4D2-430F-8495-0AF8FC505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57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9B9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Preuve client-label">
            <a:extLst xmlns:a="http://schemas.openxmlformats.org/drawingml/2006/main">
              <a:ext uri="{FF2B5EF4-FFF2-40B4-BE49-F238E27FC236}">
                <a16:creationId xmlns:a16="http://schemas.microsoft.com/office/drawing/2014/main" id="{7D512B16-4D6A-458A-A1C2-C89A065FE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38150"/>
            <a:ext cx="5905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PREUVE CLIENT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47AC363-DDC2-45FF-A716-4F4439191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81915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41923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141923"/>
                </a:solidFill>
                <a:latin typeface="Aptos Display"/>
                <a:ea typeface="Aptos Display"/>
                <a:cs typeface="Aptos Display"/>
              </a:rPr>
              <a:t>Le client entre par un parcours mobile sobre, cadré sur la CNI Cameroun.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6DEF654-F2E0-4DB1-B7CA-BC7E8C337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866900"/>
            <a:ext cx="8096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Les captures servent de preuve produit: accès client, écrans de parcours et périmètre documentaire limité. Passeport et permis ne sont pas présentés comme disponibles.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E1D19C9-C053-4B4D-8727-F73714E00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724150"/>
            <a:ext cx="3905250" cy="2914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CE3"/>
            </a:solidFill>
            <a:prstDash val="solid"/>
          </a:ln>
        </p:spPr>
      </p:sp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07458750a514995"/>
          <a:srcRect xmlns:a="http://schemas.openxmlformats.org/drawingml/2006/main" l="0" t="30172" r="0" b="3017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38200" y="2819400"/>
            <a:ext cx="3714750" cy="272415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57B8023-B4C0-4CE1-A7F4-21158DD8E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2838450"/>
            <a:ext cx="3048000" cy="2457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CE3"/>
            </a:solidFill>
            <a:prstDash val="solid"/>
          </a:ln>
        </p:spPr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39e5c90224541b6"/>
          <a:stretch xmlns:a="http://schemas.openxmlformats.org/drawingml/2006/main"/>
        </p:blipFill>
        <p:spPr>
          <a:xfrm xmlns:a="http://schemas.openxmlformats.org/drawingml/2006/main">
            <a:off x="6124688" y="2933700"/>
            <a:ext cx="1047524" cy="2266950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DB55DBC-1048-4EF2-B4B6-F0ECBEAB6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762250"/>
            <a:ext cx="1543050" cy="2438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CE3"/>
            </a:solidFill>
            <a:prstDash val="solid"/>
          </a:ln>
        </p:spPr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3873540ea094347"/>
          <a:stretch xmlns:a="http://schemas.openxmlformats.org/drawingml/2006/main"/>
        </p:blipFill>
        <p:spPr>
          <a:xfrm xmlns:a="http://schemas.openxmlformats.org/drawingml/2006/main">
            <a:off x="8920529" y="2857500"/>
            <a:ext cx="1037492" cy="2247900"/>
          </a:xfrm>
          <a:prstGeom xmlns:a="http://schemas.openxmlformats.org/drawingml/2006/main" prst="rect">
            <a:avLst/>
          </a:prstGeom>
        </p:spPr>
      </p:pic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072B20A-7650-44DA-8F04-18DE42651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5448300"/>
            <a:ext cx="2857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41923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>
                <a:solidFill>
                  <a:srgbClr val="141923"/>
                </a:solidFill>
                <a:latin typeface="Aptos Display"/>
                <a:ea typeface="Aptos Display"/>
                <a:cs typeface="Aptos Display"/>
              </a:rPr>
              <a:t>Capture et structuration CNI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D288C12-A738-43F2-A02C-5CBFB5030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5448300"/>
            <a:ext cx="2095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38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Périmètre volontairement borné pour réduire le risque du pilote.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FA0935A-012A-450A-B91D-A824E1290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72200"/>
            <a:ext cx="9525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70" b="0">
                <a:solidFill>
                  <a:srgbClr val="7B6F61"/>
                </a:solidFill>
                <a:latin typeface="Aptos"/>
                <a:ea typeface="Aptos"/>
                <a:cs typeface="Aptos"/>
              </a:defRPr>
            </a:pPr>
            <a:r>
              <a:rPr sz="570" b="0">
                <a:solidFill>
                  <a:srgbClr val="7B6F61"/>
                </a:solidFill>
                <a:latin typeface="Aptos"/>
                <a:ea typeface="Aptos"/>
                <a:cs typeface="Aptos"/>
              </a:rPr>
              <a:t>Preuves: captures produit 05_preuve_produit__; docs/test-evidence/latest/kyc-compliance-demo/README.md, lignes 13-17.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A9AC514-E4CD-4B07-BD96-EEDE922BB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990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CAB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4B79DB1-4EB8-43B0-BDCE-40847AB65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7429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7B6F61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7B6F61"/>
                </a:solidFill>
                <a:latin typeface="Aptos"/>
                <a:ea typeface="Aptos"/>
                <a:cs typeface="Aptos"/>
              </a:rPr>
              <a:t>VeriPass - rail KYC souverain BICEC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9D059C8-7720-432F-BC3E-7AFEBFF2E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524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7B6F61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7B6F61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783244634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DA821BD-8717-4FE2-8870-A6B443F14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Preuve agent-marker">
            <a:extLst xmlns:a="http://schemas.openxmlformats.org/drawingml/2006/main">
              <a:ext uri="{FF2B5EF4-FFF2-40B4-BE49-F238E27FC236}">
                <a16:creationId xmlns:a16="http://schemas.microsoft.com/office/drawing/2014/main" id="{21800EDC-9765-4137-B754-15C382F26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57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30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Preuve agent-label">
            <a:extLst xmlns:a="http://schemas.openxmlformats.org/drawingml/2006/main">
              <a:ext uri="{FF2B5EF4-FFF2-40B4-BE49-F238E27FC236}">
                <a16:creationId xmlns:a16="http://schemas.microsoft.com/office/drawing/2014/main" id="{C9750CCF-F424-4245-8AC9-9C255B9C4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38150"/>
            <a:ext cx="5905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PREUVE AGENT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AFF582E-0A2D-4BDA-BD76-1808E61C2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85725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41923"/>
                </a:solidFill>
                <a:latin typeface="Aptos Display"/>
                <a:ea typeface="Aptos Display"/>
                <a:cs typeface="Aptos Display"/>
              </a:defRPr>
            </a:pPr>
            <a:r>
              <a:rPr sz="3000" b="1">
                <a:solidFill>
                  <a:srgbClr val="141923"/>
                </a:solidFill>
                <a:latin typeface="Aptos Display"/>
                <a:ea typeface="Aptos Display"/>
                <a:cs typeface="Aptos Display"/>
              </a:rPr>
              <a:t>Le chargé KYC ne reçoit plus des fragments. Il reçoit un dossier à juger.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B318AEC-2D9D-46A5-8C1C-DF553B5E3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866900"/>
            <a:ext cx="7239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La valeur opérationnelle est de rendre l'attention humaine plus qualitative: priorités visibles, pièces réunies, décision structurée.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B8D8D0B-6E91-45F7-BED9-830362E84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19400"/>
            <a:ext cx="3848100" cy="2266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CE3"/>
            </a:solidFill>
            <a:prstDash val="solid"/>
          </a:ln>
        </p:spPr>
      </p:sp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1c47d5a46d84ba0"/>
          <a:stretch xmlns:a="http://schemas.openxmlformats.org/drawingml/2006/main"/>
        </p:blipFill>
        <p:spPr>
          <a:xfrm xmlns:a="http://schemas.openxmlformats.org/drawingml/2006/main">
            <a:off x="819150" y="2924175"/>
            <a:ext cx="3657600" cy="205740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83E1C6A-2A15-4386-AEE9-21485C1EA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2590800"/>
            <a:ext cx="4667250" cy="3028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CE3"/>
            </a:solidFill>
            <a:prstDash val="solid"/>
          </a:ln>
        </p:spPr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064c8f73f5747a5"/>
          <a:srcRect xmlns:a="http://schemas.openxmlformats.org/drawingml/2006/main" l="0" t="34999" r="0" b="3499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219700" y="2686050"/>
            <a:ext cx="4476750" cy="2838450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226C0E2-1350-4CF6-B61D-5007A0085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5619750"/>
            <a:ext cx="8953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B2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C56CDA3-35E5-4413-8AD0-7671F2F3B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5743575"/>
            <a:ext cx="8382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Promesse métier: moins de ressaisie, plus de discernement, une décision que l'on peut expliquer.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DF53507-2488-461C-AEAF-B1CB814CD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72200"/>
            <a:ext cx="9525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70" b="0">
                <a:solidFill>
                  <a:srgbClr val="7B6F61"/>
                </a:solidFill>
                <a:latin typeface="Aptos"/>
                <a:ea typeface="Aptos"/>
                <a:cs typeface="Aptos"/>
              </a:defRPr>
            </a:pPr>
            <a:r>
              <a:rPr sz="570" b="0">
                <a:solidFill>
                  <a:srgbClr val="7B6F61"/>
                </a:solidFill>
                <a:latin typeface="Aptos"/>
                <a:ea typeface="Aptos"/>
                <a:cs typeface="Aptos"/>
              </a:rPr>
              <a:t>Preuves internes: happy path API live du 26/05/2026; captures backoffice Jean, persona de démonstration; docs/test-evidence/latest/kyc-happy-path/README.md, lignes 21-32.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95F4F29-80E7-428A-9652-47A35C889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990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CAB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5E6D7D7-514E-4BF5-877D-3B01E8BE7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7429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7B6F61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7B6F61"/>
                </a:solidFill>
                <a:latin typeface="Aptos"/>
                <a:ea typeface="Aptos"/>
                <a:cs typeface="Aptos"/>
              </a:rPr>
              <a:t>VeriPass - rail KYC souverain BICEC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76A0BCE-5A88-4BF5-BA14-B5E95FBAB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524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7B6F61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7B6F61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04617862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BCF448C-0A88-403E-B42B-496347127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01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Preuve conformité-marker">
            <a:extLst xmlns:a="http://schemas.openxmlformats.org/drawingml/2006/main">
              <a:ext uri="{FF2B5EF4-FFF2-40B4-BE49-F238E27FC236}">
                <a16:creationId xmlns:a16="http://schemas.microsoft.com/office/drawing/2014/main" id="{18D6D731-1D82-4D48-8A73-CE5AD8957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57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952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Preuve conformité-label">
            <a:extLst xmlns:a="http://schemas.openxmlformats.org/drawingml/2006/main">
              <a:ext uri="{FF2B5EF4-FFF2-40B4-BE49-F238E27FC236}">
                <a16:creationId xmlns:a16="http://schemas.microsoft.com/office/drawing/2014/main" id="{4E430193-75BD-4AF4-8FF7-0FBEDA0D9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38150"/>
            <a:ext cx="5905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AFC1D6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AFC1D6"/>
                </a:solidFill>
                <a:latin typeface="Aptos"/>
                <a:ea typeface="Aptos"/>
                <a:cs typeface="Aptos"/>
              </a:rPr>
              <a:t>PREUVE CONFORMITÉ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CE94FCE-FE64-4818-8CDB-1B86BA37D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85725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9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La vitesse ne contourne pas le risque: l'alerte impose une revue avant validation.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05315EA-D57F-4CC4-A220-3CC5A055C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924050"/>
            <a:ext cx="7239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DCE6F2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DCE6F2"/>
                </a:solidFill>
                <a:latin typeface="Aptos"/>
                <a:ea typeface="Aptos"/>
                <a:cs typeface="Aptos"/>
              </a:rPr>
              <a:t>VeriPass rend visible ce qui doit arrêter le flux: alerte AML ouverte, justification nécessaire, journal d'audit exploitable.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8564FE1-DB2B-47A3-B29D-E5F68ABAE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95600"/>
            <a:ext cx="3619500" cy="2457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CE3"/>
            </a:solidFill>
            <a:prstDash val="solid"/>
          </a:ln>
        </p:spPr>
      </p:sp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3eba66bd0fe485c"/>
          <a:srcRect xmlns:a="http://schemas.openxmlformats.org/drawingml/2006/main" l="0" t="31111" r="0" b="3111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62000" y="2990850"/>
            <a:ext cx="3429000" cy="226695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3B97BBF-15B6-45B6-806E-9287A1B72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876550"/>
            <a:ext cx="3219450" cy="2419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CE3"/>
            </a:solidFill>
            <a:prstDash val="solid"/>
          </a:ln>
        </p:spPr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275c9681a4d4c46"/>
          <a:srcRect xmlns:a="http://schemas.openxmlformats.org/drawingml/2006/main" l="7904" t="0" r="790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800600" y="2971800"/>
            <a:ext cx="3028950" cy="2228850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2BB9071-D8E6-4BBB-BFCC-E6BFBA76F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876550"/>
            <a:ext cx="2571750" cy="2419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CE3"/>
            </a:solidFill>
            <a:prstDash val="solid"/>
          </a:ln>
        </p:spPr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73f5da1afde4d50"/>
          <a:stretch xmlns:a="http://schemas.openxmlformats.org/drawingml/2006/main"/>
        </p:blipFill>
        <p:spPr>
          <a:xfrm xmlns:a="http://schemas.openxmlformats.org/drawingml/2006/main">
            <a:off x="8420100" y="3331604"/>
            <a:ext cx="2381250" cy="1509243"/>
          </a:xfrm>
          <a:prstGeom xmlns:a="http://schemas.openxmlformats.org/drawingml/2006/main" prst="rect">
            <a:avLst/>
          </a:prstGeom>
        </p:spPr>
      </p:pic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D1D294F-AB2F-4593-B4A3-202E4319D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5619750"/>
            <a:ext cx="8572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CDC8DD6-0D22-49D3-9DE2-2AA0BB510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5753100"/>
            <a:ext cx="8039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63" b="1">
                <a:solidFill>
                  <a:srgbClr val="141923"/>
                </a:solidFill>
                <a:latin typeface="Aptos"/>
                <a:ea typeface="Aptos"/>
                <a:cs typeface="Aptos"/>
              </a:defRPr>
            </a:pPr>
            <a:r>
              <a:rPr sz="1163" b="1">
                <a:solidFill>
                  <a:srgbClr val="141923"/>
                </a:solidFill>
                <a:latin typeface="Aptos"/>
                <a:ea typeface="Aptos"/>
                <a:cs typeface="Aptos"/>
              </a:rPr>
              <a:t>Preuve MVP: l'approbation est refusée tant qu'une alerte AML ouverte subsiste.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3D8A773-9AEE-4720-A51D-A9E68FC21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72200"/>
            <a:ext cx="9525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70" b="0">
                <a:solidFill>
                  <a:srgbClr val="91A4BA"/>
                </a:solidFill>
                <a:latin typeface="Aptos"/>
                <a:ea typeface="Aptos"/>
                <a:cs typeface="Aptos"/>
              </a:defRPr>
            </a:pPr>
            <a:r>
              <a:rPr sz="570" b="0">
                <a:solidFill>
                  <a:srgbClr val="91A4BA"/>
                </a:solidFill>
                <a:latin typeface="Aptos"/>
                <a:ea typeface="Aptos"/>
                <a:cs typeface="Aptos"/>
              </a:rPr>
              <a:t>Sources: code/backend/app/modules/backoffice/router.py, lignes 942-955; kyc-compliance-demo README, lignes 13-17.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FE979BE-4F85-472E-B8F4-E84926224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990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64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5469DC2-FD40-416A-8559-39F191B7A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7429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8FA1B8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8FA1B8"/>
                </a:solidFill>
                <a:latin typeface="Aptos"/>
                <a:ea typeface="Aptos"/>
                <a:cs typeface="Aptos"/>
              </a:rPr>
              <a:t>VeriPass - rail KYC souverain BICEC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106B874-C453-42B4-BD12-0D631EB89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524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8FA1B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8FA1B8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2136736942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0BC6466-E9E9-46DB-847F-5E932BB0B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7E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Pilotage manager-marker">
            <a:extLst xmlns:a="http://schemas.openxmlformats.org/drawingml/2006/main">
              <a:ext uri="{FF2B5EF4-FFF2-40B4-BE49-F238E27FC236}">
                <a16:creationId xmlns:a16="http://schemas.microsoft.com/office/drawing/2014/main" id="{DFEC00AC-37C3-4C48-A1EB-CCE7A130D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57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D4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Pilotage manager-label">
            <a:extLst xmlns:a="http://schemas.openxmlformats.org/drawingml/2006/main">
              <a:ext uri="{FF2B5EF4-FFF2-40B4-BE49-F238E27FC236}">
                <a16:creationId xmlns:a16="http://schemas.microsoft.com/office/drawing/2014/main" id="{14086494-F770-4007-8644-96B8051AF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38150"/>
            <a:ext cx="5905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PILOTAGE MANAGER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B261F31-8E5B-49DA-8DB3-05579CD9A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87630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41923"/>
                </a:solidFill>
                <a:latin typeface="Aptos Display"/>
                <a:ea typeface="Aptos Display"/>
                <a:cs typeface="Aptos Display"/>
              </a:defRPr>
            </a:pPr>
            <a:r>
              <a:rPr sz="3000" b="1">
                <a:solidFill>
                  <a:srgbClr val="141923"/>
                </a:solidFill>
                <a:latin typeface="Aptos Display"/>
                <a:ea typeface="Aptos Display"/>
                <a:cs typeface="Aptos Display"/>
              </a:rPr>
              <a:t>Les managers peuvent piloter le flux KYC, pas seulement ouvrir des dossiers isolés.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4C0A970-236F-45B7-9BA1-9FAB566F3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866900"/>
            <a:ext cx="7810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Le command center met le sujet au niveau manager: charge, files, SLA, alertes, analytics. Les chiffres réels doivent être branchés sur une baseline BICEC.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E7ABD74-548C-4C9F-B7B7-5C976F749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819400"/>
            <a:ext cx="4572000" cy="257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CE3"/>
            </a:solidFill>
            <a:prstDash val="solid"/>
          </a:ln>
        </p:spPr>
      </p:sp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af0a4ba06fc4fd8"/>
          <a:stretch xmlns:a="http://schemas.openxmlformats.org/drawingml/2006/main"/>
        </p:blipFill>
        <p:spPr>
          <a:xfrm xmlns:a="http://schemas.openxmlformats.org/drawingml/2006/main">
            <a:off x="822897" y="2914650"/>
            <a:ext cx="4221607" cy="238125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F5C4169-4F64-422B-BA29-A5F7B9513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2819400"/>
            <a:ext cx="3771900" cy="257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CE3"/>
            </a:solidFill>
            <a:prstDash val="solid"/>
          </a:ln>
        </p:spPr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aedf6f85e3b4ccf"/>
          <a:stretch xmlns:a="http://schemas.openxmlformats.org/drawingml/2006/main"/>
        </p:blipFill>
        <p:spPr>
          <a:xfrm xmlns:a="http://schemas.openxmlformats.org/drawingml/2006/main">
            <a:off x="5943600" y="3098006"/>
            <a:ext cx="3581400" cy="2014538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505B1A8-25E6-4DAA-B2E9-B28895791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3105150"/>
            <a:ext cx="106680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B2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15F3AC9-9189-4E3B-84B9-5A9AA677D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3314700"/>
            <a:ext cx="8001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AFC1D6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AFC1D6"/>
                </a:solidFill>
                <a:latin typeface="Aptos"/>
                <a:ea typeface="Aptos"/>
                <a:cs typeface="Aptos"/>
              </a:rPr>
              <a:t>À PILOTER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4EBCF5A-44AA-4B9D-B62E-26D18858B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3638550"/>
            <a:ext cx="8001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SLA</a:t>
            </a:r>
          </a:p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files</a:t>
            </a:r>
          </a:p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alertes</a:t>
            </a:r>
          </a:p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rework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B9D7C35-B80A-4155-A209-226FF4D5C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72200"/>
            <a:ext cx="9525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70" b="0">
                <a:solidFill>
                  <a:srgbClr val="7B6F61"/>
                </a:solidFill>
                <a:latin typeface="Aptos"/>
                <a:ea typeface="Aptos"/>
                <a:cs typeface="Aptos"/>
              </a:defRPr>
            </a:pPr>
            <a:r>
              <a:rPr sz="570" b="0">
                <a:solidFill>
                  <a:srgbClr val="7B6F61"/>
                </a:solidFill>
                <a:latin typeface="Aptos"/>
                <a:ea typeface="Aptos"/>
                <a:cs typeface="Aptos"/>
              </a:rPr>
              <a:t>Preuves: captures Sylvie command center / analytics; docs/project-overview.md, lignes 73-75.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C47F638-7CBF-482C-96BE-143E7B447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990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CAB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A781EFE-B914-4EB2-BFA8-9E364A3C1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7429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7B6F61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7B6F61"/>
                </a:solidFill>
                <a:latin typeface="Aptos"/>
                <a:ea typeface="Aptos"/>
                <a:cs typeface="Aptos"/>
              </a:rPr>
              <a:t>VeriPass - rail KYC souverain BICEC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21A588A-6439-4726-A4B5-2D0372972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524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7B6F61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7B6F61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425435840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7C1BFD1-2E4E-4DC5-AE1B-EE52A6478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ROI à valider-marker">
            <a:extLst xmlns:a="http://schemas.openxmlformats.org/drawingml/2006/main">
              <a:ext uri="{FF2B5EF4-FFF2-40B4-BE49-F238E27FC236}">
                <a16:creationId xmlns:a16="http://schemas.microsoft.com/office/drawing/2014/main" id="{05A642C3-F2CB-45CC-AE72-E3F5A8678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57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30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ROI à valider-label">
            <a:extLst xmlns:a="http://schemas.openxmlformats.org/drawingml/2006/main">
              <a:ext uri="{FF2B5EF4-FFF2-40B4-BE49-F238E27FC236}">
                <a16:creationId xmlns:a16="http://schemas.microsoft.com/office/drawing/2014/main" id="{E4C5127D-AF0A-4ED0-BD1B-15FAC4BB5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38150"/>
            <a:ext cx="5905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ROI À VALIDER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2A71051-5A61-47D8-8AD4-E229CD9E1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78105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41923"/>
                </a:solidFill>
                <a:latin typeface="Aptos Display"/>
                <a:ea typeface="Aptos Display"/>
                <a:cs typeface="Aptos Display"/>
              </a:defRPr>
            </a:pPr>
            <a:r>
              <a:rPr sz="3300" b="1">
                <a:solidFill>
                  <a:srgbClr val="141923"/>
                </a:solidFill>
                <a:latin typeface="Aptos Display"/>
                <a:ea typeface="Aptos Display"/>
                <a:cs typeface="Aptos Display"/>
              </a:rPr>
              <a:t>Le business case doit être mesuré, pas maquillé.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D788265-B61B-4C41-8C68-690625DED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866900"/>
            <a:ext cx="7810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Le rôle du pilote est de remplacer les hypothèses par des chiffres BICEC validés: volumes, délais, reprises, coût complet et effort audit.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0527E3C-8EB5-4F9B-900D-C604A7929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857500"/>
            <a:ext cx="6096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1D7C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2B2835A-E197-4B8F-A56A-D5D1D1778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857500"/>
            <a:ext cx="762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30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7750956-59DD-44FC-814C-5C46D27B3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981325"/>
            <a:ext cx="1809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41923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1">
                <a:solidFill>
                  <a:srgbClr val="141923"/>
                </a:solidFill>
                <a:latin typeface="Aptos Display"/>
                <a:ea typeface="Aptos Display"/>
                <a:cs typeface="Aptos Display"/>
              </a:rPr>
              <a:t>Gain opérationnel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4050D4B-6990-4599-9181-7E553C892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009900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dossiers/mois × minutes économisées × coût horaire / 60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483EBC9-FC7C-4F30-AD14-50274ABB2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733800"/>
            <a:ext cx="6096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1D7C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552A666-3A27-4D30-9264-057128339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733800"/>
            <a:ext cx="762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952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41EA415-3462-40E1-80C9-4A19B4EEC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857625"/>
            <a:ext cx="1809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41923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1">
                <a:solidFill>
                  <a:srgbClr val="141923"/>
                </a:solidFill>
                <a:latin typeface="Aptos Display"/>
                <a:ea typeface="Aptos Display"/>
                <a:cs typeface="Aptos Display"/>
              </a:rPr>
              <a:t>Gain commercial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E85119B-8246-49B1-85FF-28623B35B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886200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prospects additionnels convertis × valeur moyenne client actif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F06E0DC-33B5-4787-82E4-BC206C81D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610100"/>
            <a:ext cx="6096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1D7C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7449ACA-DAE8-4D88-8104-236DDAD30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610100"/>
            <a:ext cx="762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9B9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92A7221-9519-4EA3-8BEB-65510EE69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733925"/>
            <a:ext cx="1809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41923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1">
                <a:solidFill>
                  <a:srgbClr val="141923"/>
                </a:solidFill>
                <a:latin typeface="Aptos Display"/>
                <a:ea typeface="Aptos Display"/>
                <a:cs typeface="Aptos Display"/>
              </a:rPr>
              <a:t>Gain conformité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D5F9A20-ED56-42D2-89D7-64B207F9B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762500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dossiers incomplets évités × coût moyen de reprise ou incident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6B4A4D2-5AB5-4790-B1D6-43798CCE7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2724150"/>
            <a:ext cx="316230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B2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481CA49-BB92-456D-8296-EAE74F893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2990850"/>
            <a:ext cx="2286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AFC1D6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AFC1D6"/>
                </a:solidFill>
                <a:latin typeface="Aptos"/>
                <a:ea typeface="Aptos"/>
                <a:cs typeface="Aptos"/>
              </a:rPr>
              <a:t>CHIFFRES À DEMANDER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4662ED1-BBC7-4F4E-AF3C-57C8DCB93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333750"/>
            <a:ext cx="2571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dossiers KYC / mois: [à valider BICEC]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61A891B-44E6-4AD0-9B9C-01D1DBABE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629025"/>
            <a:ext cx="2571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délai moyen actuel: [à valider BICEC]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2D0A2C2-53E0-4C4C-85C4-8F23B0395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924300"/>
            <a:ext cx="2571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taux dossiers incomplets: [à valider BICEC]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FC11553-16CC-451A-810E-A37500829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4219575"/>
            <a:ext cx="2571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minutes de reprise / dossier: [à valider BICEC]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F0793BA-A8E9-47DE-9F6C-148179316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4514850"/>
            <a:ext cx="2571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coût horaire complet: [à valider BICEC]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66EC40E-CDF7-4F2B-A01E-4577DC933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4810125"/>
            <a:ext cx="2571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temps audit / dossier: [à valider BICEC]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A6E4FFA-AD71-4DE0-B26D-11B9B9C7D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72200"/>
            <a:ext cx="9525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70" b="0">
                <a:solidFill>
                  <a:srgbClr val="7B6F61"/>
                </a:solidFill>
                <a:latin typeface="Aptos"/>
                <a:ea typeface="Aptos"/>
                <a:cs typeface="Aptos"/>
              </a:defRPr>
            </a:pPr>
            <a:r>
              <a:rPr sz="570" b="0">
                <a:solidFill>
                  <a:srgbClr val="7B6F61"/>
                </a:solidFill>
                <a:latin typeface="Aptos"/>
                <a:ea typeface="Aptos"/>
                <a:cs typeface="Aptos"/>
              </a:rPr>
              <a:t>Source: docs/marketing-presentation-bicec-2026-06-02/00_CHECKLIST_CHIFFRES_A_VALIDER.md, lignes 3-20 et 22-41.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4C3C548-D3C2-4A4B-9829-240664DD4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990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CAB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6DA61BF-DE65-4810-B448-0DC646A1F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7429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7B6F61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7B6F61"/>
                </a:solidFill>
                <a:latin typeface="Aptos"/>
                <a:ea typeface="Aptos"/>
                <a:cs typeface="Aptos"/>
              </a:rPr>
              <a:t>VeriPass - rail KYC souverain BICEC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521398D-B714-444C-9AAB-E0B2C90C8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524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7B6F61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7B6F61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253545682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5DBA1A0-1E14-408A-B1FA-631CBEF2B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01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Phase pilote-marker">
            <a:extLst xmlns:a="http://schemas.openxmlformats.org/drawingml/2006/main">
              <a:ext uri="{FF2B5EF4-FFF2-40B4-BE49-F238E27FC236}">
                <a16:creationId xmlns:a16="http://schemas.microsoft.com/office/drawing/2014/main" id="{F10DAE64-9AAC-44E4-A6C5-B5227C23E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57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952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Phase pilote-label">
            <a:extLst xmlns:a="http://schemas.openxmlformats.org/drawingml/2006/main">
              <a:ext uri="{FF2B5EF4-FFF2-40B4-BE49-F238E27FC236}">
                <a16:creationId xmlns:a16="http://schemas.microsoft.com/office/drawing/2014/main" id="{645A7A8F-CBD2-4523-9239-4D13EF216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38150"/>
            <a:ext cx="5905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AFC1D6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AFC1D6"/>
                </a:solidFill>
                <a:latin typeface="Aptos"/>
                <a:ea typeface="Aptos"/>
                <a:cs typeface="Aptos"/>
              </a:rPr>
              <a:t>PHASE PILOTE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F02CF0F-C424-42D1-B2C4-3E7E6A998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85725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Un cadrage pilote interne de 8 à 12 semaines pour décider sur preuves.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A91AFD4-BFDF-4039-8BF2-3D2B37FA3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943100"/>
            <a:ext cx="7429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DCE6F2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DCE6F2"/>
                </a:solidFill>
                <a:latin typeface="Aptos"/>
                <a:ea typeface="Aptos"/>
                <a:cs typeface="Aptos"/>
              </a:rPr>
              <a:t>On ne demande pas un déploiement national. On demande un périmètre CNI Cameroun borné, gouverné, mesuré, sans intégration core banking.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8295FB3-09EA-4A2F-B269-2497CF9F8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43250"/>
            <a:ext cx="21336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2236"/>
          </a:solidFill>
          <a:ln xmlns:a="http://schemas.openxmlformats.org/drawingml/2006/main" w="9525">
            <a:solidFill>
              <a:srgbClr val="30405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0EE40C4-1C6A-42E0-BE38-A9A5901A7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43250"/>
            <a:ext cx="21336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30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93E85CA-002C-4474-AF99-23F559D0B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333750"/>
            <a:ext cx="4000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D9302A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D9302A"/>
                </a:solidFill>
                <a:latin typeface="Aptos Display"/>
                <a:ea typeface="Aptos Display"/>
                <a:cs typeface="Aptos Display"/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39AFCEA-A07D-4700-A7CF-709B827EC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448050"/>
            <a:ext cx="1428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Cadrer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2E3CB81-80D7-4C95-9569-66CDF3FBE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943350"/>
            <a:ext cx="16954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B9C6D8"/>
                </a:solidFill>
                <a:latin typeface="Aptos"/>
                <a:ea typeface="Aptos"/>
                <a:cs typeface="Aptos"/>
              </a:defRPr>
            </a:pPr>
            <a:r>
              <a:rPr sz="915" b="0">
                <a:solidFill>
                  <a:srgbClr val="B9C6D8"/>
                </a:solidFill>
                <a:latin typeface="Aptos"/>
                <a:ea typeface="Aptos"/>
                <a:cs typeface="Aptos"/>
              </a:rPr>
              <a:t>sponsor, périmètre, risques, données baseline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BAAD487-6257-479C-BBCC-4FAA85DC6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3143250"/>
            <a:ext cx="21336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2236"/>
          </a:solidFill>
          <a:ln xmlns:a="http://schemas.openxmlformats.org/drawingml/2006/main" w="9525">
            <a:solidFill>
              <a:srgbClr val="304057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EC9802C-B5FB-4B7C-895D-3F640E290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3143250"/>
            <a:ext cx="21336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952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CEB00A4-5774-4B72-B593-88F921E6F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333750"/>
            <a:ext cx="4000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D6952F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D6952F"/>
                </a:solidFill>
                <a:latin typeface="Aptos Display"/>
                <a:ea typeface="Aptos Display"/>
                <a:cs typeface="Aptos Display"/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80F29C5-25D5-4E3A-A99D-96B4BC701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3448050"/>
            <a:ext cx="1428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Tester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DFF080E-6613-4DFA-A5FB-B67A20260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3943350"/>
            <a:ext cx="16954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B9C6D8"/>
                </a:solidFill>
                <a:latin typeface="Aptos"/>
                <a:ea typeface="Aptos"/>
                <a:cs typeface="Aptos"/>
              </a:defRPr>
            </a:pPr>
            <a:r>
              <a:rPr sz="915" b="0">
                <a:solidFill>
                  <a:srgbClr val="B9C6D8"/>
                </a:solidFill>
                <a:latin typeface="Aptos"/>
                <a:ea typeface="Aptos"/>
                <a:cs typeface="Aptos"/>
              </a:rPr>
              <a:t>dossiers contrôlés, rôles internes, retours terrain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BC7E458-DB01-470A-B12D-2FE8DE557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143250"/>
            <a:ext cx="21336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2236"/>
          </a:solidFill>
          <a:ln xmlns:a="http://schemas.openxmlformats.org/drawingml/2006/main" w="9525">
            <a:solidFill>
              <a:srgbClr val="304057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EA1957F-E8F7-4797-8065-C06FF8821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143250"/>
            <a:ext cx="21336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9B9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69B5238-FD65-4836-88CE-5D3476F14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333750"/>
            <a:ext cx="4000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9B97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79B97"/>
                </a:solidFill>
                <a:latin typeface="Aptos Display"/>
                <a:ea typeface="Aptos Display"/>
                <a:cs typeface="Aptos Display"/>
              </a:rPr>
              <a:t>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23DF5ED-BCC9-4D13-AC90-BFD95E9F3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448050"/>
            <a:ext cx="1428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Mesurer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A8E9CE0-685B-472B-9AB6-5687BBB77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943350"/>
            <a:ext cx="16954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B9C6D8"/>
                </a:solidFill>
                <a:latin typeface="Aptos"/>
                <a:ea typeface="Aptos"/>
                <a:cs typeface="Aptos"/>
              </a:defRPr>
            </a:pPr>
            <a:r>
              <a:rPr sz="915" b="0">
                <a:solidFill>
                  <a:srgbClr val="B9C6D8"/>
                </a:solidFill>
                <a:latin typeface="Aptos"/>
                <a:ea typeface="Aptos"/>
                <a:cs typeface="Aptos"/>
              </a:rPr>
              <a:t>délais, rework, SLA, alertes, effort audit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7B3BD6B-0357-4D2B-954D-7500DFDDD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143250"/>
            <a:ext cx="21336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2236"/>
          </a:solidFill>
          <a:ln xmlns:a="http://schemas.openxmlformats.org/drawingml/2006/main" w="9525">
            <a:solidFill>
              <a:srgbClr val="304057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C227B17-0223-45A9-96DB-0E2C5F41B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143250"/>
            <a:ext cx="21336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D4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B6CC687-EE69-46CF-B64F-6D52FB883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3333750"/>
            <a:ext cx="4000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2E7D4F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2E7D4F"/>
                </a:solidFill>
                <a:latin typeface="Aptos Display"/>
                <a:ea typeface="Aptos Display"/>
                <a:cs typeface="Aptos Display"/>
              </a:rPr>
              <a:t>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D841C49-EC50-4918-B92B-F1ABFFEB8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3448050"/>
            <a:ext cx="1428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Décider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AF02BB2-BFD0-4692-BB75-08600CE99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3943350"/>
            <a:ext cx="16954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B9C6D8"/>
                </a:solidFill>
                <a:latin typeface="Aptos"/>
                <a:ea typeface="Aptos"/>
                <a:cs typeface="Aptos"/>
              </a:defRPr>
            </a:pPr>
            <a:r>
              <a:rPr sz="915" b="0">
                <a:solidFill>
                  <a:srgbClr val="B9C6D8"/>
                </a:solidFill>
                <a:latin typeface="Aptos"/>
                <a:ea typeface="Aptos"/>
                <a:cs typeface="Aptos"/>
              </a:rPr>
              <a:t>go / no-go / durcir / acheter / hybrider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B014564-E3B2-4DB6-BCD2-54EF9ABE0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124450"/>
            <a:ext cx="32766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C30"/>
          </a:solidFill>
          <a:ln xmlns:a="http://schemas.openxmlformats.org/drawingml/2006/main" w="9525">
            <a:solidFill>
              <a:srgbClr val="304057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791D44A-197F-43DC-B85C-0C3B92E17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124450"/>
            <a:ext cx="32766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37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3A9C558-6F44-4187-A11C-CEA943522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5334000"/>
            <a:ext cx="29337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Démonstration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F16FAFC-4797-4579-A1A3-D2B4FD5D7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5638800"/>
            <a:ext cx="29337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B9C6D8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B9C6D8"/>
                </a:solidFill>
                <a:latin typeface="Aptos"/>
                <a:ea typeface="Aptos"/>
                <a:cs typeface="Aptos"/>
              </a:rPr>
              <a:t>Cloudflare Quick Tunnel: accès mobile temporaire, onboarding only, actif tant que la machine hôte tourne.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56BB8EB-2729-4C51-9648-8D9E59CDB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5124450"/>
            <a:ext cx="32766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C30"/>
          </a:solidFill>
          <a:ln xmlns:a="http://schemas.openxmlformats.org/drawingml/2006/main" w="9525">
            <a:solidFill>
              <a:srgbClr val="304057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8F34C29-704B-44B4-AA93-6A4177D0C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5124450"/>
            <a:ext cx="32766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30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7997C4E-81D3-4478-9D32-B0AA801DC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5334000"/>
            <a:ext cx="29337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Sécurité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DBD01B8-9BBD-4D28-A747-65B392114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5638800"/>
            <a:ext cx="29337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B9C6D8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B9C6D8"/>
                </a:solidFill>
                <a:latin typeface="Aptos"/>
                <a:ea typeface="Aptos"/>
                <a:cs typeface="Aptos"/>
              </a:rPr>
              <a:t>Back-office et surfaces admin/compliance restent hors route publique dans le cadrage actuel.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5027AD7-6A75-445B-92DF-42ED48C85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5391150"/>
            <a:ext cx="16383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952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62F0339-F6C8-4CDE-96A3-EB2F8D77C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48725" y="5457825"/>
            <a:ext cx="14668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60" b="1">
                <a:solidFill>
                  <a:srgbClr val="08101D"/>
                </a:solidFill>
                <a:latin typeface="Aptos"/>
                <a:ea typeface="Aptos"/>
                <a:cs typeface="Aptos"/>
              </a:defRPr>
            </a:pPr>
            <a:r>
              <a:rPr sz="660" b="1">
                <a:solidFill>
                  <a:srgbClr val="08101D"/>
                </a:solidFill>
                <a:latin typeface="Aptos"/>
                <a:ea typeface="Aptos"/>
                <a:cs typeface="Aptos"/>
              </a:rPr>
              <a:t>Durée à valider BICEC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89AF419-F7C5-42E9-A774-736ABDFAD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72200"/>
            <a:ext cx="9525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70" b="0">
                <a:solidFill>
                  <a:srgbClr val="91A4BA"/>
                </a:solidFill>
                <a:latin typeface="Aptos"/>
                <a:ea typeface="Aptos"/>
                <a:cs typeface="Aptos"/>
              </a:defRPr>
            </a:pPr>
            <a:r>
              <a:rPr sz="570" b="0">
                <a:solidFill>
                  <a:srgbClr val="91A4BA"/>
                </a:solidFill>
                <a:latin typeface="Aptos"/>
                <a:ea typeface="Aptos"/>
                <a:cs typeface="Aptos"/>
              </a:rPr>
              <a:t>Sources: code/infra/cloudflare/README.md, lignes 3-15 et 17-39; code/docker-compose.yml, lignes 67-75.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737C9B8-522B-45F8-8A6B-345492A26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990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64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91AB20A-0B66-4043-9A48-AC91FF203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7429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8FA1B8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8FA1B8"/>
                </a:solidFill>
                <a:latin typeface="Aptos"/>
                <a:ea typeface="Aptos"/>
                <a:cs typeface="Aptos"/>
              </a:rPr>
              <a:t>VeriPass - rail KYC souverain BICEC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48996A2F-9899-43AD-AB81-003BFFE91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524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8FA1B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8FA1B8"/>
                </a:solidFill>
                <a:latin typeface="Aptos"/>
                <a:ea typeface="Aptos"/>
                <a:cs typeface="Aptos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2072618202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67225C7-A1ED-4419-A898-9DE7F0453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7E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33FC288-454C-4576-9957-76B710741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81000"/>
            <a:ext cx="4381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1D7C8"/>
            </a:solidFill>
            <a:prstDash val="solid"/>
          </a:ln>
        </p:spPr>
      </p:sp>
      <p:pic>
        <p:nvPicPr>
          <p:cNvPr id="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95fd0d6b5a543d5"/>
          <a:stretch xmlns:a="http://schemas.openxmlformats.org/drawingml/2006/main"/>
        </p:blipFill>
        <p:spPr>
          <a:xfrm xmlns:a="http://schemas.openxmlformats.org/drawingml/2006/main">
            <a:off x="609600" y="400050"/>
            <a:ext cx="400050" cy="4000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1997B10-7D25-4AE2-8CAC-3B1E79C88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85775"/>
            <a:ext cx="147637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41923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141923"/>
                </a:solidFill>
                <a:latin typeface="Aptos Display"/>
                <a:ea typeface="Aptos Display"/>
                <a:cs typeface="Aptos Display"/>
              </a:rPr>
              <a:t>VeriPass</a:t>
            </a:r>
          </a:p>
        </p:txBody>
      </p:sp>
      <p:sp>
        <p:nvSpPr>
          <p:cNvPr id="5" name="kicker-Demande finale-marker">
            <a:extLst xmlns:a="http://schemas.openxmlformats.org/drawingml/2006/main">
              <a:ext uri="{FF2B5EF4-FFF2-40B4-BE49-F238E27FC236}">
                <a16:creationId xmlns:a16="http://schemas.microsoft.com/office/drawing/2014/main" id="{6EBDF96F-5BAD-4BBC-95DB-043920624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477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30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kicker-Demande finale-label">
            <a:extLst xmlns:a="http://schemas.openxmlformats.org/drawingml/2006/main">
              <a:ext uri="{FF2B5EF4-FFF2-40B4-BE49-F238E27FC236}">
                <a16:creationId xmlns:a16="http://schemas.microsoft.com/office/drawing/2014/main" id="{C8F16B21-62F1-4555-B6FE-FA543EDFC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200150"/>
            <a:ext cx="5905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DEMANDE FINALE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43B0AE6-9FFD-4D87-9ED5-F0D41E7B9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81150"/>
            <a:ext cx="85725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41923"/>
                </a:solidFill>
                <a:latin typeface="Aptos Display"/>
                <a:ea typeface="Aptos Display"/>
                <a:cs typeface="Aptos Display"/>
              </a:defRPr>
            </a:pPr>
            <a:r>
              <a:rPr sz="3225" b="1">
                <a:solidFill>
                  <a:srgbClr val="141923"/>
                </a:solidFill>
                <a:latin typeface="Aptos Display"/>
                <a:ea typeface="Aptos Display"/>
                <a:cs typeface="Aptos Display"/>
              </a:rPr>
              <a:t>La prochaine décision n'est pas technique: autoriser le cadrage d'un pilote contrôlé.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8B2AB6D-33DA-4CC0-8594-24764CFE0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38500"/>
            <a:ext cx="40005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1D7C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4ED9AF3-409B-4A61-8159-7A00E18BA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38500"/>
            <a:ext cx="66675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30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16CD398-5F16-4CBE-9E94-A6960D8D5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409950"/>
            <a:ext cx="1714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41923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>
                <a:solidFill>
                  <a:srgbClr val="141923"/>
                </a:solidFill>
                <a:latin typeface="Aptos Display"/>
                <a:ea typeface="Aptos Display"/>
                <a:cs typeface="Aptos Display"/>
              </a:rPr>
              <a:t>Sponsor métier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F1C0A68-BF79-4C4D-B87E-1EC10932D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3381375"/>
            <a:ext cx="1714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nommer le responsable qui porte le périmètre pilote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82D76F3-D6A3-410C-87E2-CADB6FF81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343400"/>
            <a:ext cx="40005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1D7C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4A7E9F8-42E3-4E24-8BE2-D570A297E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343400"/>
            <a:ext cx="66675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952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1695F0B-F7DF-4316-987A-302489623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514850"/>
            <a:ext cx="1714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41923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>
                <a:solidFill>
                  <a:srgbClr val="141923"/>
                </a:solidFill>
                <a:latin typeface="Aptos Display"/>
                <a:ea typeface="Aptos Display"/>
                <a:cs typeface="Aptos Display"/>
              </a:rPr>
              <a:t>Baseline data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FB0DFAD-DC22-4364-9703-4AE08D57B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4486275"/>
            <a:ext cx="1714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fournir les chiffres KYC nécessaires au modèle ROI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BDB46D1-61EB-405F-AD4B-9E92FEEC2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238500"/>
            <a:ext cx="40005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1D7C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D8C9561-6A51-4C30-ADBB-BD3419A49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238500"/>
            <a:ext cx="66675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9B9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9AF7253-6F48-4DEF-A650-F10E5F242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409950"/>
            <a:ext cx="1714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41923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>
                <a:solidFill>
                  <a:srgbClr val="141923"/>
                </a:solidFill>
                <a:latin typeface="Aptos Display"/>
                <a:ea typeface="Aptos Display"/>
                <a:cs typeface="Aptos Display"/>
              </a:rPr>
              <a:t>Revue conformité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3FB534F-BBA5-40E2-84AD-53FAEE33A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381375"/>
            <a:ext cx="1714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valider règles AML, preuve, conservation, limites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7FD5CBD-DAC8-4A00-8C9F-034EA75D4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343400"/>
            <a:ext cx="40005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1D7C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8379F86-86F3-4832-940A-D3419A293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343400"/>
            <a:ext cx="66675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D4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2BD9B53-E900-437E-B0F5-D050CCDDF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514850"/>
            <a:ext cx="1714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41923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>
                <a:solidFill>
                  <a:srgbClr val="141923"/>
                </a:solidFill>
                <a:latin typeface="Aptos Display"/>
                <a:ea typeface="Aptos Display"/>
                <a:cs typeface="Aptos Display"/>
              </a:rPr>
              <a:t>Revue sécurité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715AFC4-D621-487C-B297-1CC78AE60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486275"/>
            <a:ext cx="1714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cadrer accès, hébergement cible, risques ouverts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C180BFE-9C19-4AA0-898A-9E3162B43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5619750"/>
            <a:ext cx="67246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B2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2780DF5-74D0-47A8-8424-658D8F886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5753100"/>
            <a:ext cx="61531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63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63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Sortie pilote: go / no-go / durcir / acheter / hybrider, avec chiffres BICEC.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6082A86-AFA5-4531-BB75-EDF3B1FE2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72200"/>
            <a:ext cx="9525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70" b="0">
                <a:solidFill>
                  <a:srgbClr val="7B6F61"/>
                </a:solidFill>
                <a:latin typeface="Aptos"/>
                <a:ea typeface="Aptos"/>
                <a:cs typeface="Aptos"/>
              </a:defRPr>
            </a:pPr>
            <a:r>
              <a:rPr sz="570" b="0">
                <a:solidFill>
                  <a:srgbClr val="7B6F61"/>
                </a:solidFill>
                <a:latin typeface="Aptos"/>
                <a:ea typeface="Aptos"/>
                <a:cs typeface="Aptos"/>
              </a:rPr>
              <a:t>Statut: demande de décision. Aucun déploiement production, ROI garanti ou intégration bancaire réelle n'est affirmé.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DB28FBD-DE40-4BE3-808D-BB9F382F8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990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CAB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7D7F52F-6B7B-4D95-A39B-D195B5353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7429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7B6F61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7B6F61"/>
                </a:solidFill>
                <a:latin typeface="Aptos"/>
                <a:ea typeface="Aptos"/>
                <a:cs typeface="Aptos"/>
              </a:rPr>
              <a:t>VeriPass - rail KYC souverain BICEC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3EA2D82-75A7-4FBB-96B7-60944A8A1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524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7B6F61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7B6F61"/>
                </a:solidFill>
                <a:latin typeface="Aptos"/>
                <a:ea typeface="Aptos"/>
                <a:cs typeface="Aptos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5291467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2026-06-02T12:34:22.1150000Z</dcterms:created>
  <dcterms:modified xsi:type="dcterms:W3CDTF">2026-06-02T12:34:22.1160000Z</dcterms:modified>
</coreProperties>
</file>