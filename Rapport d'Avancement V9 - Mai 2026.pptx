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ef8d17f031477c" /><Relationship Type="http://schemas.openxmlformats.org/officeDocument/2006/relationships/extended-properties" Target="/docProps/app.xml" Id="Rc2f02c329dcb46bc" /><Relationship Type="http://schemas.openxmlformats.org/officeDocument/2006/relationships/officeDocument" Target="/ppt/presentation.xml" Id="R741c84a13bf4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f003ad54a4826"/>
  </p:sldMasterIdLst>
  <p:notesMasterIdLst>
    <p:notesMasterId xmlns:r="http://schemas.openxmlformats.org/officeDocument/2006/relationships" r:id="R402bdd31ca974d66"/>
  </p:notesMasterIdLst>
  <p:sldIdLst>
    <p:sldId xmlns:r="http://schemas.openxmlformats.org/officeDocument/2006/relationships" id="256" r:id="Rb7c9b17cf9214877"/>
    <p:sldId xmlns:r="http://schemas.openxmlformats.org/officeDocument/2006/relationships" id="257" r:id="Rb0ee44d1f6254ff5"/>
    <p:sldId xmlns:r="http://schemas.openxmlformats.org/officeDocument/2006/relationships" id="258" r:id="R3119f927323a44b0"/>
    <p:sldId xmlns:r="http://schemas.openxmlformats.org/officeDocument/2006/relationships" id="259" r:id="R90853b2e11764a04"/>
    <p:sldId xmlns:r="http://schemas.openxmlformats.org/officeDocument/2006/relationships" id="260" r:id="R44e48f4c546f468e"/>
    <p:sldId xmlns:r="http://schemas.openxmlformats.org/officeDocument/2006/relationships" id="261" r:id="Rf3c719d58a8e403e"/>
    <p:sldId xmlns:r="http://schemas.openxmlformats.org/officeDocument/2006/relationships" id="262" r:id="R091d7a0ba909444e"/>
    <p:sldId xmlns:r="http://schemas.openxmlformats.org/officeDocument/2006/relationships" id="263" r:id="Rdb61c6afa4084b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f003ad54a4826" /><Relationship Type="http://schemas.openxmlformats.org/officeDocument/2006/relationships/theme" Target="/ppt/theme/theme1.xml" Id="Rfb060ce85ea74036" /><Relationship Type="http://schemas.openxmlformats.org/officeDocument/2006/relationships/notesMaster" Target="/ppt/notesMasters/notesMaster1.xml" Id="R402bdd31ca974d66" /><Relationship Type="http://schemas.openxmlformats.org/officeDocument/2006/relationships/presProps" Target="/ppt/presProps.xml" Id="R4a1b92c33f86474e" /><Relationship Type="http://schemas.openxmlformats.org/officeDocument/2006/relationships/viewProps" Target="/ppt/viewProps.xml" Id="R08e11d3706d34e18" /><Relationship Type="http://schemas.openxmlformats.org/officeDocument/2006/relationships/tableStyles" Target="/ppt/tableStyles.xml" Id="R366ed47be34c49c2" /><Relationship Type="http://schemas.openxmlformats.org/officeDocument/2006/relationships/slide" Target="/ppt/slides/slide1.xml" Id="Rb7c9b17cf9214877" /><Relationship Type="http://schemas.openxmlformats.org/officeDocument/2006/relationships/slide" Target="/ppt/slides/slide2.xml" Id="Rb0ee44d1f6254ff5" /><Relationship Type="http://schemas.openxmlformats.org/officeDocument/2006/relationships/slide" Target="/ppt/slides/slide3.xml" Id="R3119f927323a44b0" /><Relationship Type="http://schemas.openxmlformats.org/officeDocument/2006/relationships/slide" Target="/ppt/slides/slide4.xml" Id="R90853b2e11764a04" /><Relationship Type="http://schemas.openxmlformats.org/officeDocument/2006/relationships/slide" Target="/ppt/slides/slide5.xml" Id="R44e48f4c546f468e" /><Relationship Type="http://schemas.openxmlformats.org/officeDocument/2006/relationships/slide" Target="/ppt/slides/slide6.xml" Id="Rf3c719d58a8e403e" /><Relationship Type="http://schemas.openxmlformats.org/officeDocument/2006/relationships/slide" Target="/ppt/slides/slide7.xml" Id="R091d7a0ba909444e" /><Relationship Type="http://schemas.openxmlformats.org/officeDocument/2006/relationships/slide" Target="/ppt/slides/slide8.xml" Id="Rdb61c6afa4084b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e9d7b573424f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ea140aec842a7" /><Relationship Type="http://schemas.openxmlformats.org/officeDocument/2006/relationships/notesMaster" Target="/ppt/notesMasters/notesMaster1.xml" Id="Rc026933b2e9944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3e0575f6f4c5f" /><Relationship Type="http://schemas.openxmlformats.org/officeDocument/2006/relationships/notesMaster" Target="/ppt/notesMasters/notesMaster1.xml" Id="Rc4fa77171baa4f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a8b23e0d994221" /><Relationship Type="http://schemas.openxmlformats.org/officeDocument/2006/relationships/notesMaster" Target="/ppt/notesMasters/notesMaster1.xml" Id="R10326a83e85944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c585073cee4807" /><Relationship Type="http://schemas.openxmlformats.org/officeDocument/2006/relationships/notesMaster" Target="/ppt/notesMasters/notesMaster1.xml" Id="R7d97ea1b09cb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9a154c95b24ef9" /><Relationship Type="http://schemas.openxmlformats.org/officeDocument/2006/relationships/notesMaster" Target="/ppt/notesMasters/notesMaster1.xml" Id="Rfd4b3c725bf149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c8880ed7414fe5" /><Relationship Type="http://schemas.openxmlformats.org/officeDocument/2006/relationships/notesMaster" Target="/ppt/notesMasters/notesMaster1.xml" Id="Rcd4a7387f7cb49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52dfb084d44af0" /><Relationship Type="http://schemas.openxmlformats.org/officeDocument/2006/relationships/notesMaster" Target="/ppt/notesMasters/notesMaster1.xml" Id="R197fecf4eac146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eb963318a948a7" /><Relationship Type="http://schemas.openxmlformats.org/officeDocument/2006/relationships/notesMaster" Target="/ppt/notesMasters/notesMaster1.xml" Id="Re1b349a58f7c45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4218a832d4cb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06ed4d13b184e81" /><Relationship Type="http://schemas.openxmlformats.org/officeDocument/2006/relationships/slideLayout" Target="/ppt/slideLayouts/slideLayout2.xml" Id="R41af23822f914f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af23822f914f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bcd85c1b5b40f6" /><Relationship Type="http://schemas.openxmlformats.org/officeDocument/2006/relationships/image" Target="/ppt/media/image.jpeg" Id="R1e707294d6814881" /><Relationship Type="http://schemas.openxmlformats.org/officeDocument/2006/relationships/notesSlide" Target="/ppt/notesSlides/notesSlide1.xml" Id="R9224bc2328ef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5d9587e8d54781" /><Relationship Type="http://schemas.openxmlformats.org/officeDocument/2006/relationships/image" Target="/ppt/media/image2.jpeg" Id="R30130db76cf04a93" /><Relationship Type="http://schemas.openxmlformats.org/officeDocument/2006/relationships/notesSlide" Target="/ppt/notesSlides/notesSlide2.xml" Id="Redf48ae70bbf48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b14cab905e45e0" /><Relationship Type="http://schemas.openxmlformats.org/officeDocument/2006/relationships/image" Target="/ppt/media/image3.jpeg" Id="Rf1e1b68863df4764" /><Relationship Type="http://schemas.openxmlformats.org/officeDocument/2006/relationships/notesSlide" Target="/ppt/notesSlides/notesSlide3.xml" Id="R72d9325b3a1b4d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422e0b85e44d45" /><Relationship Type="http://schemas.openxmlformats.org/officeDocument/2006/relationships/image" Target="/ppt/media/image4.jpeg" Id="Rfb262ba390cd4181" /><Relationship Type="http://schemas.openxmlformats.org/officeDocument/2006/relationships/notesSlide" Target="/ppt/notesSlides/notesSlide4.xml" Id="Rf08c6f2e75504d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0a7d4391040af" /><Relationship Type="http://schemas.openxmlformats.org/officeDocument/2006/relationships/image" Target="/ppt/media/image5.jpeg" Id="Rd4468f49c6e2495e" /><Relationship Type="http://schemas.openxmlformats.org/officeDocument/2006/relationships/notesSlide" Target="/ppt/notesSlides/notesSlide5.xml" Id="R1dccb74d45bd4a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34f866fd24ec2" /><Relationship Type="http://schemas.openxmlformats.org/officeDocument/2006/relationships/image" Target="/ppt/media/image6.jpeg" Id="R36c6ab32d64d4580" /><Relationship Type="http://schemas.openxmlformats.org/officeDocument/2006/relationships/image" Target="/ppt/media/image.png" Id="R63f46ee70e9d4a01" /><Relationship Type="http://schemas.openxmlformats.org/officeDocument/2006/relationships/image" Target="/ppt/media/image2.png" Id="R0b3287bba201440f" /><Relationship Type="http://schemas.openxmlformats.org/officeDocument/2006/relationships/image" Target="/ppt/media/image3.png" Id="R5a58973d40d84ba1" /><Relationship Type="http://schemas.openxmlformats.org/officeDocument/2006/relationships/notesSlide" Target="/ppt/notesSlides/notesSlide6.xml" Id="Rafd18fdf6fa246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27b169eb45416e" /><Relationship Type="http://schemas.openxmlformats.org/officeDocument/2006/relationships/image" Target="/ppt/media/image7.jpeg" Id="R381c534199184a74" /><Relationship Type="http://schemas.openxmlformats.org/officeDocument/2006/relationships/notesSlide" Target="/ppt/notesSlides/notesSlide7.xml" Id="R517ece9c385d4d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2a851b5fb47bb" /><Relationship Type="http://schemas.openxmlformats.org/officeDocument/2006/relationships/image" Target="/ppt/media/image8.jpeg" Id="R57a0dafea09843a8" /><Relationship Type="http://schemas.openxmlformats.org/officeDocument/2006/relationships/notesSlide" Target="/ppt/notesSlides/notesSlide8.xml" Id="R879e62e8435e43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AF4AE-DCBC-4210-8AFF-CE6B5699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CD438-E3CF-4C2D-8C1E-0F7273B6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07294d6814881"/>
          <a:stretch xmlns:a="http://schemas.openxmlformats.org/drawingml/2006/main"/>
        </p:blipFill>
        <p:spPr>
          <a:xfrm xmlns:a="http://schemas.openxmlformats.org/drawingml/2006/main">
            <a:off x="723900" y="4000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13D3E-C84E-4D21-8CBB-D31C53DB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BICEC VeriPass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B6E0D-8BCD-4B44-A293-FE31982E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81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MVP intégré - pré-pilote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0105B-8AD5-414A-9B6D-CE0AF5A6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Rapport d'avancement - Mai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FB40D-6E67-4F73-BBE2-738B9AB9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6F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CE6F1"/>
                </a:solidFill>
                <a:latin typeface="Aptos"/>
                <a:ea typeface="Aptos"/>
                <a:cs typeface="Aptos"/>
              </a:rPr>
              <a:t>Plateforme KYC biométrique digitale souveraine, avec parcours mobile, validation back-office et audit COBAC.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3D2FB-95B3-4EA8-94F5-DDE11FB1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5925D-E89F-4A31-B0C5-FA361B56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81B58-5F45-413C-89EF-A297A209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étapes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ACBC7-A927-43AB-A21D-710DED3A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happy path KYC 200/201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5C9A1-489C-41D4-AB28-B8CC310D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2E10B-1633-4F77-90D4-2FC69E9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528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D4845-17BF-48E4-8C2A-1558CDF6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957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statut final prouvé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2F644-6AF0-4079-8E6A-7362F383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1482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client + back-office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7DDA2-FFB6-4C77-B69D-CBD315FD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004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2FBAF-1592-4974-B2EF-8FF13D1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528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956F1-5FDE-466B-9909-DC7C6E3E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957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actions COBAC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44362-7EDB-4E05-84E9-667C23C3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1482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export audit 27/05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60699-6E6B-4A9F-9771-4C43FB29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004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DE7A0-FAB9-421B-A43C-3F2DDABB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528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5D9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65D9C"/>
                </a:solidFill>
                <a:latin typeface="Aptos"/>
                <a:ea typeface="Aptos"/>
                <a:cs typeface="Aptos"/>
              </a:rPr>
              <a:t>~307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756AA-BC3E-4860-83E3-97B7028C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tests 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8B0FD-6A0D-4E51-B013-110B1FDC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1482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détectés dans le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C3BDB-F0E1-4EAC-AF5F-A004478C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2F6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6FB"/>
                </a:solidFill>
                <a:latin typeface="Aptos"/>
                <a:ea typeface="Aptos"/>
                <a:cs typeface="Aptos"/>
              </a:rPr>
              <a:t>Lecture synthétique : le projet n'est plus au cadrage. Il dispose d'un MVP intégré, démontrable, mais pas encore certifié production bancaire.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779D6-B371-464B-BD7B-6F18F3B9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0FCBB-2687-4C8F-B22C-C5D3BBC5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1"/>
                </a:solidFill>
                <a:latin typeface="Aptos"/>
                <a:ea typeface="Aptos"/>
                <a:cs typeface="Aptos"/>
              </a:rPr>
              <a:t>Ken André - Stagiaire ingénieur | Mise à jour : 29 mai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0A3CD4-7320-4242-97EF-4F2FDAA8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78154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6A64B-E7EA-4BEF-BD5A-4B8F269B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A5D02-DC3A-45AC-A1CD-35008589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30db76cf04a93"/>
          <a:stretch xmlns:a="http://schemas.openxmlformats.org/drawingml/2006/main"/>
        </p:blipFill>
        <p:spPr>
          <a:xfrm xmlns:a="http://schemas.openxmlformats.org/drawingml/2006/main">
            <a:off x="66675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63E1E-46B0-43E7-A6A3-8A62605D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Pourquoi le projet reste pertinent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D5801-DE64-45CF-94A7-09E1FB6D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Contexte &amp; périmètre actuel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54BAC-10B8-4AAD-9ABB-AC529E85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Le besoin métier n'a pas changé ; le périmètre est maintenant clarifié et resserré.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0CF82-C980-4EB7-87BB-32683E6E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9FF47-9EDB-4D86-B23F-4F738CA5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Ken André - Stagiaire ingénieur | Mise à jour : 29 mai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8F059-7D1B-48A7-99FD-163EB7E4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18F38-5E59-498D-84E8-B4A1F361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952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5AECE-A043-4F05-A56C-C374DD7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1609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14 jours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CBED9-D18B-4607-9B14-DE5A26FF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609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délai manuel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40539-29D7-4A66-A78B-14BE8746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1609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référence de cadrage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82787-8FDF-4FC7-821C-6BEF6999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1952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D0E47-D1EC-4844-9334-3FBCA7E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62150"/>
            <a:ext cx="1609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5D9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65D9C"/>
                </a:solidFill>
                <a:latin typeface="Aptos"/>
                <a:ea typeface="Aptos"/>
                <a:cs typeface="Aptos"/>
              </a:rPr>
              <a:t>18-35 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86836-4EF2-4534-8309-368BBF76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05050"/>
            <a:ext cx="1609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cible prioritaire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0B069-A725-4AB6-8A8B-C07BFC7A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1609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usage mobile attendu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663ED-7CBD-4A82-8DC6-88551BE9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1952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CAF86-89CB-4951-B869-63E827E2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62150"/>
            <a:ext cx="1609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KYC souverain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1EA87-032B-48D0-ABBB-EF2130F4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05050"/>
            <a:ext cx="1609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périmètre livré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29FF1-A39B-475F-8356-84D1B66C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24125"/>
            <a:ext cx="1609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capture, preuve,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CCD82-7067-4FD3-8D2E-6D933A4E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39052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C8085-F3D6-4625-BFF5-E8875EF5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43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Périmètre canonique documenté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0BD71-7591-4F5B-91FE-B43D8A0A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24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97AEA-BDFF-401F-AA31-3E1B2BB1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4790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Onboarding KYC mobile-first.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27368-AE59-4187-ABFF-90DE3D06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28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C67985-1E21-4D72-AC05-4F88A4E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5270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Validation humaine obligatoire.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30AEE-830F-426F-80DA-8DE1E382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1087F-BFE2-4E73-A027-9CC4D86F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Traçabilité audit et conformité.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F1823-705B-40F1-9C77-7F3557CD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C0E1FD-A48C-4CD1-8F72-FAE88DE9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Garde d'éligibilité avant les apps BICEC.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DAB666-9FF9-46BC-84EF-D639A07D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09587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3C612F-705D-43A1-989E-78656656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Douleurs métier traitées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EF9332-F95F-4ECC-B3FD-EABA313B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5EAD81-91F9-4801-A30E-9AC36C70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430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Allers-retours agence et dossiers incomplets.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20337C-579F-4770-95D9-4F52F1D7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D022BC-A2DE-4AF9-85C9-8F8D8D1B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430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Risque de non-conformité COBAC / Loi 2024-017.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966AA0-E853-4299-9931-9318C22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656BA0-78B2-46A1-91E8-7178513C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0650"/>
            <a:ext cx="430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Manque de confiance dans un parcours perçu comme lent.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D5B525-3650-41CF-ACC3-4D0196A9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143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F2616E-841A-406B-9024-04715118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Hors scope assumé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466CCA-BD7E-4980-9674-2D1CE791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D002F6-EFBE-4FE5-A459-D92B0C81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91050"/>
            <a:ext cx="4400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Pas d'intégration DGI, Sopra Amplitude ou core banking réel.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7B27D2-0BAE-4B1E-B52B-F2DBFABE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10C588-91DF-4476-B80C-B216DDD4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95850"/>
            <a:ext cx="4400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Banking présent comme démonstrateur, non comme intégration SI.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3E41EA-AEE3-4D47-B63D-19F2406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76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526691-A8FB-4A4D-93A1-811A4D61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00650"/>
            <a:ext cx="4400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Les KPI business restent des cibles tant que le pilote n'est pas lancé.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A40CDA-6D31-4A73-AC1C-21CC7B82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719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Changement majeur : cadrage -&gt; MVP</a:t>
            </a:r>
          </a:p>
        </p:txBody>
      </p:sp>
    </p:spTree>
    <p:extLst>
      <p:ext uri="{BB962C8B-B14F-4D97-AF65-F5344CB8AC3E}">
        <p14:creationId xmlns:p14="http://schemas.microsoft.com/office/powerpoint/2010/main" val="483042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82702-C930-428E-86E3-AF6B7586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63CF3-94AE-495C-87B6-8659FF61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1b68863df4764"/>
          <a:stretch xmlns:a="http://schemas.openxmlformats.org/drawingml/2006/main"/>
        </p:blipFill>
        <p:spPr>
          <a:xfrm xmlns:a="http://schemas.openxmlformats.org/drawingml/2006/main">
            <a:off x="66675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50C16-BDED-4746-9738-FB7D1C63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Architecture fonctionnelle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F2FE7-84FB-4082-8BDD-9A4715B4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Solution livrée : une chaîne KYC intégrée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99990-AADC-4431-827C-C32A6BBE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Le MVP relie déjà le parcours client, l'API, les workers IA et le back-office.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C7F2D-8AEB-40F8-B1BA-153146D4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60C1E-172C-412D-93A8-DE81E88F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Ken André - Stagiaire ingénieur | Mise à jour : 29 mai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2175A-141F-4E80-BF17-7062CD7C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06C28-2681-47B4-B60E-CBA3BFB5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A8A4E-8068-449B-930E-647C6D79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5D9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5D9C"/>
                </a:solidFill>
                <a:latin typeface="Aptos"/>
                <a:ea typeface="Aptos"/>
                <a:cs typeface="Aptos"/>
              </a:rPr>
              <a:t>PWA mobile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565AF-79C5-4AFC-84E2-32F229C1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OTP / PIN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CNI, selfie, adresse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signature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BEBD5-06F2-42FD-AF33-8D3E90C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30D4A-411C-41DE-B346-28C6B864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02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API 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03EB4-4233-4C11-9A18-5FAFE59C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sessions KYC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RBAC, device tag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B1ED6-9743-451E-BA51-252185FC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D1896-606D-451C-9528-91C3331E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02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OCR &amp; biométrie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308BB-9C08-414F-90C3-C6E1F081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47925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PaddleOCR / GLM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liveness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face 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81C36-1B7A-4EB5-BE17-37C6F37D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5E0CB-1E61-4C6D-A6FA-97700042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02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Back-office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D0AF3-3A25-4914-92B9-9A368F14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47925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Jean, Thomas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Sylvie, Admin IT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décisions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16D21-2965-4206-B897-88F6733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CFA2C-6BD4-4D20-81AA-27BF4C46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02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67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7A00"/>
                </a:solidFill>
                <a:latin typeface="Aptos"/>
                <a:ea typeface="Aptos"/>
                <a:cs typeface="Aptos"/>
              </a:rPr>
              <a:t>Audit COBAC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24DAB-9A06-49E1-8731-1E9B7A84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47925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journal, export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preuves contrôlées</a:t>
            </a:r>
          </a:p>
          <a:p xmlns:a="http://schemas.openxmlformats.org/drawingml/2006/main">
            <a:pPr algn="ct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traçabilité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1757A-635F-4590-9C3F-010B2068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336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C21D13-E6AE-471D-9AB0-17798C7D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860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3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885D2-3B68-4FD9-A026-A388CEFF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336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801E27-CE65-42AD-ABFC-69B3D56B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860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3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D111D0-1C27-4CBC-A25D-A0C43629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69DA62-751E-4C60-ABB6-B2A7888D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860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3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9238B-B521-4F32-8B44-3E11398A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B14B55-2317-42F8-80A6-D78725EC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860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3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463496-6026-4E26-8B17-56DBBE75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DD6B2E-012B-422B-A1AD-EBE9A849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714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Socle technique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3F3F31-FD98-4DDB-BCE7-7ACE0D29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FastAPI, PostgreSQL, Redis, Celery, nginx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8F0EA4-FFD3-4EF0-9917-471DE10F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Workers spécialisés OCR et notifications, migrations Alembic et stockage documentaire avec SHA-256.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743575-86CB-4CA2-B0F7-DF48AFE7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73E346-481F-4EAA-8597-A234B564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2714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Conformité intégrée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D3872-F2A5-4086-8599-E6054204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AML, NIU, preuves, décisions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AB23DC-9094-4761-830C-276129DB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Alertes PEP/sanctions, conflits NIU, correction OCR, demande d'information et export audit.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736955-81DC-4974-8C2A-EC9C0AB0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30289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AF95F2-0116-4B69-8DBC-1F3B3C64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2714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Exploitation démo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2C2730-9389-490E-88E1-7A56B6EF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Docker Compose documenté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B40B2B-6A22-4E84-AC27-F1BE82E5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29150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API, PWA, backoffice, Postgres, Redis, workers, Flower, Mailpit et profils de démonstration.</a:t>
            </a:r>
          </a:p>
        </p:txBody>
      </p:sp>
    </p:spTree>
    <p:extLst>
      <p:ext uri="{BB962C8B-B14F-4D97-AF65-F5344CB8AC3E}">
        <p14:creationId xmlns:p14="http://schemas.microsoft.com/office/powerpoint/2010/main" val="17492838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57BD8-A465-41D9-88AD-5B388A86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E0E76-70E3-4FA8-B071-46FBE60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62ba390cd4181"/>
          <a:stretch xmlns:a="http://schemas.openxmlformats.org/drawingml/2006/main"/>
        </p:blipFill>
        <p:spPr>
          <a:xfrm xmlns:a="http://schemas.openxmlformats.org/drawingml/2006/main">
            <a:off x="66675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A8037-B8EB-4234-BD83-1E7D94A7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État au 29 mai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F4385-D1DC-496F-A905-983C7347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Avancement par domaine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6E202-3C57-4A2C-A667-029F915F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Remplacement de l'ancien avancement BMAD : le projet est en intégration et durcissement.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37F4D-1596-4E98-A50E-7B1A5CE9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20DC8-8667-497B-81BA-0E428AA6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Ken André - Stagiaire ingénieur | Mise à jour : 29 mai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19DB0-0985-470B-8B4A-78EEA2C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1B33F-20C1-4D00-A58A-CFFAF386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314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F0A09-C383-4ED2-9663-FED061E2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EC2F2-7F34-439D-998E-3550835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335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Mobile KYC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56355-6503-4098-9241-E0E5BCA9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Implémenté côté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A2781-333B-4894-9710-DED55348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CNI, OCR review, liveness, adresse, NIU, consentements, signature, offline.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BCE08-8A08-4C69-9E25-B9FE50F8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14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0CEE0-4331-486F-877B-D9E7AC1D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C7839-5351-4739-8050-0AE76FE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335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Backend/API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86D9F-5E2C-41FD-BE3F-89FE9CAB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MVP intégré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64EE0-8D61-471D-B7D2-493437B5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KYC, auth, OCR, AML, audit, analytics, notifications, support.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749C9-39C3-4FE5-94A8-EAB8F870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81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B40D1-3EA8-43DB-8D60-32EE29DF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D4614-E36A-4E7B-AA62-706C4B62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Back-office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46031-BC7A-4D6E-AC3A-D161E52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Par rôles opérationnels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72CFD-3017-490E-A3E3-F436D858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Jean, Thomas, Sylvie, Admin IT avec RBAC et preuves visuelles.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013BA-5066-45BE-9FEE-961CDBB0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314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8241C5-B32C-4DFD-A7D6-E0D1493A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32970F-7C01-40C0-AADA-2992447B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65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OCR / biométrie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FB69E-9AAD-46EF-B9B1-97371670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7A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7A00"/>
                </a:solidFill>
                <a:latin typeface="Aptos"/>
                <a:ea typeface="Aptos"/>
                <a:cs typeface="Aptos"/>
              </a:rPr>
              <a:t>Preuve partielle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F89308-A096-4B36-AA41-B92EE3B4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Happy path OK, mais benchmark qualité et caméra réelle restent à certifier.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EFB37-4208-4E7A-B42E-610E77EA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3314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95E8CB-96EF-4AEF-8545-2E466FF7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986354-0B2B-4940-ACD1-F1B4D933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765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AML / COBAC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4952F-5674-479C-AD99-A8AB7D0A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Preuves disponibles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3BDFD9-80A6-4E49-994B-DB9AE64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Alertes, conflits NIU, import dry-run, audit exportable.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1DF85B-E31D-4D74-BBB1-2820D70F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3181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2698C9-A0CC-4615-926A-11CFC89E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814525-FF31-4970-87A5-7878ED3F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Infra / DevOps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90117C-9DFC-49A0-87B8-23DB51E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7A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7A00"/>
                </a:solidFill>
                <a:latin typeface="Aptos"/>
                <a:ea typeface="Aptos"/>
                <a:cs typeface="Aptos"/>
              </a:rPr>
              <a:t>Documenté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7B52DE-432E-4501-A34E-6A667FDE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052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Docker, nginx, scripts, Sentry, backups ; hardening prod restant.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092B5F-A75B-407B-A5F7-E177A21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6108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3D6A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9787D2-7331-47E6-855A-977A49FD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7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67A00"/>
                </a:solidFill>
                <a:latin typeface="Aptos"/>
                <a:ea typeface="Aptos"/>
                <a:cs typeface="Aptos"/>
              </a:rPr>
              <a:t>Message clé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42A45C-D826-49B5-A26F-AB50EB59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B"/>
                </a:solidFill>
                <a:latin typeface="Aptos"/>
                <a:ea typeface="Aptos"/>
                <a:cs typeface="Aptos"/>
              </a:rPr>
              <a:t>Le jalon réaliste n'est plus “démarrer l'implémentation”, mais stabiliser et prouver le MVP avant un pilote contrôlé.</a:t>
            </a:r>
          </a:p>
        </p:txBody>
      </p:sp>
    </p:spTree>
    <p:extLst>
      <p:ext uri="{BB962C8B-B14F-4D97-AF65-F5344CB8AC3E}">
        <p14:creationId xmlns:p14="http://schemas.microsoft.com/office/powerpoint/2010/main" val="13903394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F0DEA-8806-4E2E-B984-F97D5A17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09E8A-69F3-467C-97DC-AD1E85B0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68f49c6e2495e"/>
          <a:stretch xmlns:a="http://schemas.openxmlformats.org/drawingml/2006/main"/>
        </p:blipFill>
        <p:spPr>
          <a:xfrm xmlns:a="http://schemas.openxmlformats.org/drawingml/2006/main">
            <a:off x="66675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4E365-4886-4A6D-AAA0-DED9838D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Evidence-first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37BF1-FA25-453E-8642-56DF7077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Preuves disponibles dans le repo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34DD9-09E5-4034-B590-7ACAB455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Les constats ci-dessous viennent des preuves API, Playwright, changelog et rapports locaux.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35432-F62A-4E60-B47C-E34872B8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F7C62-AE2A-4BBF-8DB3-7364AB69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Ken André - Stagiaire ingénieur | Mise à jour : 29 mai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27AD8-F928-4D2A-B495-C40F7956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61B17-812A-43DD-8095-90B7779E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692C6-4FDC-4F8F-9E36-0688FECF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29/29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4BF14-73F8-4CF9-BADC-7ED543D3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étapes API KYC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AA717-AF90-4801-A11F-BAE9D292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toutes en 200/201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9BAC8-01EE-4329-879F-EC498779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B9946-3481-491D-8254-06269F5D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5ED8D-D914-4132-AA16-EAE26115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statut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4B278-84DC-4CA7-9043-423B781F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050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client + back-office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C7D4D-777A-4674-81A1-E90A8139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907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A9FE8-A397-4AA2-8378-DEDF119C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23 / 6 /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D6CCC-FA2B-411A-A78F-2E3FDA3C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audit COBAC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02AF7-4D8A-4CE6-B644-A6B3637F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050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actions / acteurs / décisions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981545-68B0-4085-AC6E-8319F3E7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907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81553-4AAE-4852-A187-4DCA412F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5D9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65D9C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A6DDC-5A0B-47F9-9DCF-03F2588A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86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runs visuels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30832-B52E-4EEA-BD90-A817EBEC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050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mobile + backoffice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7949D-B0C7-4545-9932-B4C3439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8DDB7D-F221-4E52-B19B-A01CECE8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Preuves fonctionnelles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4B73AA-56B8-45CE-BF73-D0FA72B8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238DA5-7EAB-44A2-A78D-6525E618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4114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Happy path KYC API généré le 26/05/2026.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D7E3DA-61BA-429A-8C5B-7242CCDB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A16A7C-B5A9-43E5-B64F-E02ECDEE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4114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Device-tag enforcement : 428 / 403 / 200 selon le cas.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C1D1C-20BA-4D79-9ACB-7BF764D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287260-F809-47C2-B22B-ED1F81EB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4114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Support pièces jointes et classification document prouvés.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75978C-D6EF-4756-9F2B-A1044D17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6FABF1-015C-4EDF-B83E-C024BDCA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4114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Dossier approuvé côté Jean après demande d'information.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0C7338-931C-4AE5-BBBB-99FE481D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956834-1A2A-465A-B58F-437862A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Preuves qualité / conformité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BA7530-577A-4972-9D3E-C11A8EC6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2E9CFF-B9A5-435A-9F1A-3025466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114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Environ 307 tests backend détectés, CI pytest/Ruff.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6CB0B9-3B40-4B39-90C9-0D1A08BC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43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D4FB53-E427-49C6-A2DB-A11435A6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4114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Backoffice compliance : AML, NIU, audit, analytics.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6375FE-1196-4689-80C6-30840C3C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9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211CC1-695D-42FC-9AC3-C8889EE3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4114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Export COBAC HTML/JSON prouvé le 27/05/2026.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57C766-23DE-4991-B069-425DB61C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EA3179-798A-44E4-9AE9-DC399344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4114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Documentation d'exploitation et mainteneur présente.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74BCBE-B7ED-4B9C-B629-FD3C36AE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Ce qui n'est pas revendiqué : pilote validé, réduction CAC mesurée, benchmark OCR exhaustif ou certification production bancaire.</a:t>
            </a:r>
          </a:p>
        </p:txBody>
      </p:sp>
    </p:spTree>
    <p:extLst>
      <p:ext uri="{BB962C8B-B14F-4D97-AF65-F5344CB8AC3E}">
        <p14:creationId xmlns:p14="http://schemas.microsoft.com/office/powerpoint/2010/main" val="1583105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C8098A-0032-4ED7-8339-2EAB8FE3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FE937-3FE5-43EB-A834-27625872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6ab32d64d4580"/>
          <a:stretch xmlns:a="http://schemas.openxmlformats.org/drawingml/2006/main"/>
        </p:blipFill>
        <p:spPr>
          <a:xfrm xmlns:a="http://schemas.openxmlformats.org/drawingml/2006/main">
            <a:off x="66675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FCA01-60F3-4693-AAE1-30161228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Captures issues du repo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8A18B-E1B3-41EE-A580-7207E482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Preuves produit : mobile, pilotage,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C6F5D-C480-4B7C-AE24-993B4343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Le rapport intègre désormais des preuves visuelles plutôt qu'une simple liste de livrables.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919E9-7C78-4D48-9FF1-AA830DFF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46B89-414D-4DF4-9852-0657302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Ken André - Stagiaire ingénieur | Mise à jour : 29 mai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FEE69-1AB7-4690-B0A6-81CAEE87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89C3D-C953-4F63-B5BB-D095C13D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609850" cy="37338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46ee70e9d4a01"/>
          <a:stretch xmlns:a="http://schemas.openxmlformats.org/drawingml/2006/main"/>
        </p:blipFill>
        <p:spPr>
          <a:xfrm xmlns:a="http://schemas.openxmlformats.org/drawingml/2006/main">
            <a:off x="1386226" y="2000250"/>
            <a:ext cx="1285198" cy="27813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A48C9-89C2-4561-B01B-ED93DA5F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Mobile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3660D-B49C-4887-9A73-2BA5B650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Entrée KYC mobile, OTP/SMS, reprise et parcours terrain.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EC6B9-B880-4F8C-AF55-70BBEAF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52600"/>
            <a:ext cx="41148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287bba201440f"/>
          <a:stretch xmlns:a="http://schemas.openxmlformats.org/drawingml/2006/main"/>
        </p:blipFill>
        <p:spPr>
          <a:xfrm xmlns:a="http://schemas.openxmlformats.org/drawingml/2006/main">
            <a:off x="3906778" y="2019300"/>
            <a:ext cx="3616444" cy="23050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43C0F-1DB0-4E26-BBD1-CF8F5BD2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Pilotage Sylvie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F558F-8BB5-4E72-80DD-0C644BDC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43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Analytics, métriques DWH PostgreSQL et vues par rôle.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B63A6-99B2-4DE8-A6A6-B7835672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238500" cy="37338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8973d40d84ba1"/>
          <a:stretch xmlns:a="http://schemas.openxmlformats.org/drawingml/2006/main"/>
        </p:blipFill>
        <p:spPr>
          <a:xfrm xmlns:a="http://schemas.openxmlformats.org/drawingml/2006/main">
            <a:off x="8417898" y="1962150"/>
            <a:ext cx="2595203" cy="27813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6886C-750D-461E-9899-0CB07E8F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149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Audit COBAC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A76F1-FE4F-49E7-8176-15BD4C9F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Journal d'actions exportable et décisions contrôlées.</a:t>
            </a:r>
          </a:p>
        </p:txBody>
      </p:sp>
    </p:spTree>
    <p:extLst>
      <p:ext uri="{BB962C8B-B14F-4D97-AF65-F5344CB8AC3E}">
        <p14:creationId xmlns:p14="http://schemas.microsoft.com/office/powerpoint/2010/main" val="17949469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6C9DA2-4015-42AE-A93E-E364CA9B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876C6-F0E0-4826-B720-18460E99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c534199184a74"/>
          <a:stretch xmlns:a="http://schemas.openxmlformats.org/drawingml/2006/main"/>
        </p:blipFill>
        <p:spPr>
          <a:xfrm xmlns:a="http://schemas.openxmlformats.org/drawingml/2006/main">
            <a:off x="66675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4F0BF-741D-47A9-91B2-00C3D139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Plan d'action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76787-A294-4DFB-9AC5-55BAA0C8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Prochaines étapes : durcir avant pilote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F53C2-3784-4863-8FA6-9CD5D0CD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Le travail restant porte sur la preuve, la sécurité production et la stabilité opérationnelle.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652FF-5014-4B92-8545-4DA230FB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D1B99-006E-441F-9445-C71DD0C4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Ken André - Stagiaire ingénieur | Mise à jour : 29 mai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E2581-EFC5-477F-BFC2-2E866CA5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0DBF8-46C0-4C86-BA46-46F9BF9C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314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89A83-8044-4945-A889-0D6023CC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0708C-6066-4DB8-90D8-EF9CADBE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1. Campagne de preuve E2E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9C507-4DAB-472A-AD04-50AB1033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Bloquant pilote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60780-CACC-4F50-9625-144A97F8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KYC complet Docker avec OCR, biométrie, caméra et backoffice visibles.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E134E-8CA0-4AB1-B663-B515924C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3314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32252-2AC6-4235-9D72-578C4A9D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5E5BE-F13C-4080-98AC-68B4DCDE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764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2. Stabilisation IA/OCR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2CB87-BF3A-45F2-B7F6-AFB78EAB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7A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7A00"/>
                </a:solidFill>
                <a:latin typeface="Aptos"/>
                <a:ea typeface="Aptos"/>
                <a:cs typeface="Aptos"/>
              </a:rPr>
              <a:t>Risque opérationnel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78840-D601-4B6F-824B-50AD539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Warmup, modèles offline, benchmark qualité et fallback GLM reproductible.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4B01B-16A4-41E7-A61B-E7939AE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181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A42EA-8BC0-41EC-B89D-0BE1B72E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4DBB0-F12A-4D67-93E2-F5884122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76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3. Sécurité production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CB6B3-CFE8-449A-9077-4729843D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Préparation bancaire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26A633-8805-4D52-AABE-665D0C1A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Secrets, TLS prod, CORS strict, chiffrement au repos et routes démo isolées.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F708F-F902-4EEE-B5D2-65F57C58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953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BE441-F71C-4205-BB51-2FFA3C5E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À verrouiller techniquement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0ABE4-E994-4A5A-AA93-6A298FC0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D838ED-C03E-47D7-A222-7EBADF8B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4019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Backups/restores réellement testés.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3D72E9-57A8-49F1-86EE-1846304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BB8262-5359-4042-9459-AD0FCA43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4019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Sentry nettoyé : bruit attendu vs bugs réels.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DE64F-2774-48C3-A0C2-1EE2428D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D63D3-0723-4C6C-8720-EF94CEF2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019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Docker socket, Flower, Mailpit et profils demo sécurisés.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86E10E-2591-4BD5-A88A-6AF5B5E6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57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69D22-1BD2-4DA9-9219-E04370DB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4019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Cohérence front : encodage, mocks résiduels, exports UI.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30AE9-7262-4D9A-B42B-9EE9B345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4953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6F974-6B9C-43D1-8A7A-A42137B8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06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0613"/>
                </a:solidFill>
                <a:latin typeface="Aptos"/>
                <a:ea typeface="Aptos"/>
                <a:cs typeface="Aptos"/>
              </a:rPr>
              <a:t>Décision attendue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95A50F-87B5-41F7-BEF4-FEA89A4F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CEA5AC-7B65-45C2-BAD2-0E75BD8E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4019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Valider un pilote contrôlé, pas une mise en production.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ADF3D5-CE3E-4524-BE85-B73EF21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05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2D0EC8-BEDD-4902-9EF4-82750C06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4019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Confirmer le périmètre : KYC et garde d'éligibilité.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691857-E06B-4726-BE18-C457EE2D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2C4193-36C2-4002-ADED-28FEE0F1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4019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Planifier les tests avec vrais terminaux et données maîtrisées.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742370-8842-4262-A084-8DBB9F1B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3A639C-58EE-4367-92D7-272C405F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81525"/>
            <a:ext cx="4019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Définir les critères de sortie pilote.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4A566F-18F9-4D97-80EE-8B843552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971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3B"/>
                </a:solidFill>
                <a:latin typeface="Aptos"/>
                <a:ea typeface="Aptos"/>
                <a:cs typeface="Aptos"/>
              </a:rPr>
              <a:t>Critère de passage : démonstration répétable, preuves visuelles et audit exploitables par un public non technique.</a:t>
            </a:r>
          </a:p>
        </p:txBody>
      </p:sp>
    </p:spTree>
    <p:extLst>
      <p:ext uri="{BB962C8B-B14F-4D97-AF65-F5344CB8AC3E}">
        <p14:creationId xmlns:p14="http://schemas.microsoft.com/office/powerpoint/2010/main" val="14818893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5B572-9494-47E8-950C-EE68087B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21CDD-E33F-455D-AC00-7B2623F7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0dafea09843a8"/>
          <a:stretch xmlns:a="http://schemas.openxmlformats.org/drawingml/2006/main"/>
        </p:blipFill>
        <p:spPr>
          <a:xfrm xmlns:a="http://schemas.openxmlformats.org/drawingml/2006/main">
            <a:off x="723900" y="4000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7EA07-5E14-4322-969A-1A3B4744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BICEC VeriPass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93902-CCBA-4DDC-9AF9-50680E6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 de revue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76771-BF52-4801-A686-51963899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 projet est passé du cadrage à un MVP intégré, démontrable et documenté.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20E0E-B226-4554-8F0E-CE0B800D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847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6F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6F1"/>
                </a:solidFill>
                <a:latin typeface="Aptos"/>
                <a:ea typeface="Aptos"/>
                <a:cs typeface="Aptos"/>
              </a:rPr>
              <a:t>La prochaine décision porte sur la stabilisation et la preuve pilote, pas sur le démarrage de l'implémentation.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F9665-C4AC-47A4-9BA5-0B71BEBE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FD346-BC78-466B-AADF-3A25F257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Livré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F0A0E-7E5E-4E7D-9AE9-12505D6D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socle applicatif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E5BB2-97BD-4B4D-835A-F373BE7D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mobile + API + backoffice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23686-2674-4E9D-B76D-9CF77868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21A22-4141-4D32-8EE9-C41772EF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Prouvé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3C262-12E8-46F0-8667-4ECEDFB4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happy path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745E1-32D1-41C8-8EE8-E8681E67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290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jusqu'à 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C7CD9-DCE2-4E9E-B657-1CAF7F33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0A133-2FF3-4674-8A3E-C3DCF5CC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67A0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C67A00"/>
                </a:solidFill>
                <a:latin typeface="Aptos"/>
                <a:ea typeface="Aptos"/>
                <a:cs typeface="Aptos"/>
              </a:rPr>
              <a:t>Ouvert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E8A67-28B2-4499-92CE-91DE2975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durcissement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3EF52-7D86-487B-8CE6-3A052037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290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prod, IA, sécurité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69524-897B-4D8B-852C-40C6B4A9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942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1E1D4-2838-40A4-88BB-B91150F9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CE644-387D-4CE2-8C78-06F20897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859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2F6FB"/>
                </a:solidFill>
                <a:latin typeface="Aptos"/>
                <a:ea typeface="Aptos"/>
                <a:cs typeface="Aptos"/>
              </a:rPr>
              <a:t>Recommandation : lancer un pré-pilote encadré après campagne E2E et verrouillage sécurité.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95493-D051-4C36-975E-19C7F5B3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27729-2E29-4491-8C73-8F4E7F08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859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2F6FB"/>
                </a:solidFill>
                <a:latin typeface="Aptos"/>
                <a:ea typeface="Aptos"/>
                <a:cs typeface="Aptos"/>
              </a:rPr>
              <a:t>Garder les KPI business comme cibles jusqu'à mesure terrain réelle.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3EA58-4349-4E7D-B7C6-1AA623BC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083C6-755E-44BC-8494-9F1307FD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1"/>
                </a:solidFill>
                <a:latin typeface="Aptos"/>
                <a:ea typeface="Aptos"/>
                <a:cs typeface="Aptos"/>
              </a:rPr>
              <a:t>Ken André - Stagiaire ingénieur | Mise à jour : 29 mai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2A5A4-7A38-48B0-A3D4-80132F3D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4093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2026-05-29T20:13:02.0170000Z</dcterms:created>
  <dcterms:modified xsi:type="dcterms:W3CDTF">2026-05-29T20:13:02.0170000Z</dcterms:modified>
</coreProperties>
</file>