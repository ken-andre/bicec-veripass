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 Id="rId4" Type="http://schemas.openxmlformats.org/officeDocument/2006/relationships/custom-properties" Target="docProps/custom.xml" />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6256000" cy="9144000"/>
  <p:notesSz cx="9144000" cy="16256000"/>
  <p:embeddedFontLst>
    <p:embeddedFont>
      <p:font typeface="Quattrocento Sans" charset="-122" pitchFamily="34"/>
      <p:regular r:id="rId24"/>
    </p:embeddedFont>
    <p:embeddedFont>
      <p:font typeface="Liter" charset="-122" pitchFamily="34"/>
      <p:regular r:id="rId25"/>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font" Target="fonts/font1.fntdata"/><Relationship Id="rId25"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worldbank.org/en/news/press-release/2025/07/16/mobile-phone-technology-powers-saving-surge-in-developing-economies" TargetMode="External"/><Relationship Id="rId2" Type="http://schemas.openxmlformats.org/officeDocument/2006/relationships/hyperlink" Target="https://www.gsma.com/newsroom/press-release/mobile-money-accounted-for-2-trillion-in-transactions-in-2025/" TargetMode="External"/><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ttps://kimi-img.moonshot.cn/pub/slides/okc/eqhpli636fwka/mnt/agents/output/veripass-presentation/images/1_Yaound_and_Douala_ranked_the_25th.png">    </p:cNvPr>
          <p:cNvPicPr>
            <a:picLocks noChangeAspect="1"/>
          </p:cNvPicPr>
          <p:nvPr/>
        </p:nvPicPr>
        <p:blipFill>
          <a:blip r:embed="rId1"/>
          <a:srcRect l="5556" r="5556" t="0" b="0"/>
          <a:stretch/>
        </p:blipFill>
        <p:spPr>
          <a:xfrm>
            <a:off x="0" y="0"/>
            <a:ext cx="16256000" cy="9144000"/>
          </a:xfrm>
          <a:prstGeom prst="rect">
            <a:avLst/>
          </a:prstGeom>
        </p:spPr>
      </p:pic>
      <p:sp>
        <p:nvSpPr>
          <p:cNvPr id="3" name="Shape 0"/>
          <p:cNvSpPr/>
          <p:nvPr/>
        </p:nvSpPr>
        <p:spPr>
          <a:xfrm>
            <a:off x="0" y="0"/>
            <a:ext cx="16256000" cy="9144000"/>
          </a:xfrm>
          <a:prstGeom prst="rect">
            <a:avLst/>
          </a:prstGeom>
          <a:gradFill rotWithShape="1" flip="none">
            <a:gsLst>
              <a:gs pos="0">
                <a:srgbClr val="0F0F0F">
                  <a:alpha val="53000"/>
                </a:srgbClr>
              </a:gs>
              <a:gs pos="35000">
                <a:srgbClr val="0F0F0F">
                  <a:alpha val="80000"/>
                </a:srgbClr>
              </a:gs>
              <a:gs pos="100000">
                <a:srgbClr val="0F0F0F"/>
              </a:gs>
            </a:gsLst>
            <a:lin ang="5400000" scaled="1"/>
          </a:gradFill>
          <a:ln w="12700">
            <a:solidFill>
              <a:srgbClr val="333333"/>
            </a:solidFill>
            <a:prstDash val="solid"/>
          </a:ln>
        </p:spPr>
      </p:sp>
      <p:sp>
        <p:nvSpPr>
          <p:cNvPr id="4" name="Shape 1"/>
          <p:cNvSpPr/>
          <p:nvPr/>
        </p:nvSpPr>
        <p:spPr>
          <a:xfrm>
            <a:off x="762000" y="635000"/>
            <a:ext cx="762000" cy="50800"/>
          </a:xfrm>
          <a:prstGeom prst="rect">
            <a:avLst/>
          </a:prstGeom>
          <a:solidFill>
            <a:srgbClr val="D35400"/>
          </a:solidFill>
          <a:ln/>
        </p:spPr>
      </p:sp>
      <p:sp>
        <p:nvSpPr>
          <p:cNvPr id="5" name="Text 2"/>
          <p:cNvSpPr/>
          <p:nvPr/>
        </p:nvSpPr>
        <p:spPr>
          <a:xfrm>
            <a:off x="762000" y="889000"/>
            <a:ext cx="2540000" cy="254000"/>
          </a:xfrm>
          <a:prstGeom prst="rect">
            <a:avLst/>
          </a:prstGeom>
          <a:noFill/>
          <a:ln/>
        </p:spPr>
        <p:txBody>
          <a:bodyPr wrap="none" lIns="0" tIns="0" rIns="0" bIns="0" rtlCol="0" anchor="ctr"/>
          <a:lstStyle/>
          <a:p>
            <a:pPr>
              <a:lnSpc>
                <a:spcPct val="120000"/>
              </a:lnSpc>
            </a:pPr>
            <a:r>
              <a:rPr lang="en-US" sz="1200" spc="200" kern="0" dirty="0">
                <a:solidFill>
                  <a:srgbClr val="D35400"/>
                </a:solidFill>
                <a:latin typeface="Liter" pitchFamily="34" charset="0"/>
                <a:ea typeface="Liter" pitchFamily="34" charset="-122"/>
                <a:cs typeface="Liter" pitchFamily="34" charset="-120"/>
              </a:rPr>
              <a:t>BICEC</a:t>
            </a:r>
            <a:endParaRPr lang="en-US" sz="1200" dirty="0"/>
          </a:p>
        </p:txBody>
      </p:sp>
      <p:sp>
        <p:nvSpPr>
          <p:cNvPr id="6" name="Text 3"/>
          <p:cNvSpPr/>
          <p:nvPr/>
        </p:nvSpPr>
        <p:spPr>
          <a:xfrm>
            <a:off x="762000" y="2540000"/>
            <a:ext cx="8890000" cy="1651000"/>
          </a:xfrm>
          <a:prstGeom prst="rect">
            <a:avLst/>
          </a:prstGeom>
          <a:noFill/>
          <a:ln/>
        </p:spPr>
        <p:txBody>
          <a:bodyPr wrap="square" lIns="0" tIns="0" rIns="0" bIns="0" rtlCol="0" anchor="ctr"/>
          <a:lstStyle/>
          <a:p>
            <a:pPr>
              <a:lnSpc>
                <a:spcPct val="115000"/>
              </a:lnSpc>
            </a:pPr>
            <a:r>
              <a:rPr lang="en-US" sz="5600" spc="600" kern="0" dirty="0">
                <a:solidFill>
                  <a:srgbClr val="FFFFFF"/>
                </a:solidFill>
                <a:latin typeface="Liter" pitchFamily="34" charset="0"/>
                <a:ea typeface="Liter" pitchFamily="34" charset="-122"/>
                <a:cs typeface="Liter" pitchFamily="34" charset="-120"/>
              </a:rPr>
              <a:t>VERIPASS</a:t>
            </a:r>
            <a:endParaRPr lang="en-US" sz="4800" dirty="0"/>
          </a:p>
          <a:p>
            <a:pPr>
              <a:lnSpc>
                <a:spcPct val="115000"/>
              </a:lnSpc>
            </a:pPr>
            <a:r>
              <a:rPr lang="en-US" sz="2800" spc="200" kern="0" dirty="0">
                <a:solidFill>
                  <a:srgbClr val="F39C12"/>
                </a:solidFill>
                <a:latin typeface="Liter" pitchFamily="34" charset="0"/>
                <a:ea typeface="Liter" pitchFamily="34" charset="-122"/>
                <a:cs typeface="Liter" pitchFamily="34" charset="-120"/>
              </a:rPr>
              <a:t>LE RAIL KYC SOUVERAIN</a:t>
            </a:r>
            <a:endParaRPr lang="en-US" sz="4800" dirty="0"/>
          </a:p>
        </p:txBody>
      </p:sp>
      <p:sp>
        <p:nvSpPr>
          <p:cNvPr id="7" name="Text 4"/>
          <p:cNvSpPr/>
          <p:nvPr/>
        </p:nvSpPr>
        <p:spPr>
          <a:xfrm>
            <a:off x="762000" y="4445000"/>
            <a:ext cx="7620000" cy="1016000"/>
          </a:xfrm>
          <a:prstGeom prst="rect">
            <a:avLst/>
          </a:prstGeom>
          <a:noFill/>
          <a:ln/>
        </p:spPr>
        <p:txBody>
          <a:bodyPr wrap="square" lIns="0" tIns="0" rIns="0" bIns="0" rtlCol="0" anchor="ctr"/>
          <a:lstStyle/>
          <a:p>
            <a:pPr>
              <a:lnSpc>
                <a:spcPct val="150000"/>
              </a:lnSpc>
            </a:pPr>
            <a:r>
              <a:rPr lang="en-US" sz="2200" dirty="0">
                <a:solidFill>
                  <a:srgbClr val="FFFFFF"/>
                </a:solidFill>
                <a:latin typeface="Quattrocento Sans" pitchFamily="34" charset="0"/>
                <a:ea typeface="Quattrocento Sans" pitchFamily="34" charset="-122"/>
                <a:cs typeface="Quattrocento Sans" pitchFamily="34" charset="-120"/>
              </a:rPr>
              <a:t>De la capture client a la decision bancaire tracable.</a:t>
            </a:r>
            <a:endParaRPr lang="en-US" sz="1600" dirty="0"/>
          </a:p>
          <a:p>
            <a:pPr>
              <a:lnSpc>
                <a:spcPct val="150000"/>
              </a:lnSpc>
            </a:pPr>
            <a:r>
              <a:rPr lang="en-US" sz="2200" dirty="0">
                <a:solidFill>
                  <a:srgbClr val="F39C12"/>
                </a:solidFill>
                <a:latin typeface="Quattrocento Sans" pitchFamily="34" charset="0"/>
                <a:ea typeface="Quattrocento Sans" pitchFamily="34" charset="-122"/>
                <a:cs typeface="Quattrocento Sans" pitchFamily="34" charset="-120"/>
              </a:rPr>
              <a:t>Transformer l'ouverture de compte en preuve bancaire.</a:t>
            </a:r>
            <a:endParaRPr lang="en-US" sz="1600" dirty="0"/>
          </a:p>
        </p:txBody>
      </p:sp>
      <p:sp>
        <p:nvSpPr>
          <p:cNvPr id="8" name="Shape 5"/>
          <p:cNvSpPr/>
          <p:nvPr/>
        </p:nvSpPr>
        <p:spPr>
          <a:xfrm>
            <a:off x="762000" y="5715000"/>
            <a:ext cx="1270000" cy="38100"/>
          </a:xfrm>
          <a:prstGeom prst="rect">
            <a:avLst/>
          </a:prstGeom>
          <a:solidFill>
            <a:srgbClr val="D35400"/>
          </a:solidFill>
          <a:ln/>
        </p:spPr>
      </p:sp>
      <p:sp>
        <p:nvSpPr>
          <p:cNvPr id="9" name="Text 6"/>
          <p:cNvSpPr/>
          <p:nvPr/>
        </p:nvSpPr>
        <p:spPr>
          <a:xfrm>
            <a:off x="762000" y="5969000"/>
            <a:ext cx="3810000" cy="317500"/>
          </a:xfrm>
          <a:prstGeom prst="rect">
            <a:avLst/>
          </a:prstGeom>
          <a:noFill/>
          <a:ln/>
        </p:spPr>
        <p:txBody>
          <a:bodyPr wrap="none" lIns="0" tIns="0" rIns="0" bIns="0" rtlCol="0" anchor="ctr"/>
          <a:lstStyle/>
          <a:p>
            <a:pPr>
              <a:lnSpc>
                <a:spcPct val="100000"/>
              </a:lnSpc>
            </a:pPr>
            <a:r>
              <a:rPr lang="en-US" sz="1400" dirty="0">
                <a:solidFill>
                  <a:srgbClr val="8A8A8A"/>
                </a:solidFill>
                <a:latin typeface="Quattrocento Sans" pitchFamily="34" charset="0"/>
                <a:ea typeface="Quattrocento Sans" pitchFamily="34" charset="-122"/>
                <a:cs typeface="Quattrocento Sans" pitchFamily="34" charset="-120"/>
              </a:rPr>
              <a:t>Proposition de pilote KYC digital | Juin 2026</a:t>
            </a:r>
            <a:endParaRPr lang="en-US" sz="1600" dirty="0"/>
          </a:p>
        </p:txBody>
      </p:sp>
      <p:sp>
        <p:nvSpPr>
          <p:cNvPr id="10" name="Shape 7"/>
          <p:cNvSpPr/>
          <p:nvPr/>
        </p:nvSpPr>
        <p:spPr>
          <a:xfrm>
            <a:off x="0" y="8890000"/>
            <a:ext cx="16256000" cy="254000"/>
          </a:xfrm>
          <a:prstGeom prst="rect">
            <a:avLst/>
          </a:prstGeom>
          <a:gradFill rotWithShape="1" flip="none">
            <a:gsLst>
              <a:gs pos="0">
                <a:srgbClr val="D35400"/>
              </a:gs>
              <a:gs pos="50000">
                <a:srgbClr val="F39C12"/>
              </a:gs>
              <a:gs pos="100000">
                <a:srgbClr val="D35400"/>
              </a:gs>
            </a:gsLst>
            <a:lin ang="0" scaled="1"/>
          </a:gradFill>
          <a:ln/>
        </p:spPr>
      </p:sp>
    </p:spTree>
  </p:cSld>
  <p:clrMapOvr>
    <a:masterClrMapping/>
  </p:clrMapOvr>
  <p:transition>
    <p:fade/>
    <p:spd val="med"/>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0F0F"/>
        </a:solidFill>
      </p:bgPr>
    </p:bg>
    <p:spTree>
      <p:nvGrpSpPr>
        <p:cNvPr id="1" name=""/>
        <p:cNvGrpSpPr/>
        <p:nvPr/>
      </p:nvGrpSpPr>
      <p:grpSpPr>
        <a:xfrm>
          <a:off x="0" y="0"/>
          <a:ext cx="0" cy="0"/>
          <a:chOff x="0" y="0"/>
          <a:chExt cx="0" cy="0"/>
        </a:xfrm>
      </p:grpSpPr>
      <p:sp>
        <p:nvSpPr>
          <p:cNvPr id="2" name="Shape 0"/>
          <p:cNvSpPr/>
          <p:nvPr/>
        </p:nvSpPr>
        <p:spPr>
          <a:xfrm>
            <a:off x="762000" y="635000"/>
            <a:ext cx="508000" cy="50800"/>
          </a:xfrm>
          <a:prstGeom prst="rect">
            <a:avLst/>
          </a:prstGeom>
          <a:solidFill>
            <a:srgbClr val="D35400"/>
          </a:solidFill>
          <a:ln/>
        </p:spPr>
      </p:sp>
      <p:sp>
        <p:nvSpPr>
          <p:cNvPr id="3" name="Text 1"/>
          <p:cNvSpPr/>
          <p:nvPr/>
        </p:nvSpPr>
        <p:spPr>
          <a:xfrm>
            <a:off x="762000" y="825500"/>
            <a:ext cx="2540000" cy="254000"/>
          </a:xfrm>
          <a:prstGeom prst="rect">
            <a:avLst/>
          </a:prstGeom>
          <a:noFill/>
          <a:ln/>
        </p:spPr>
        <p:txBody>
          <a:bodyPr wrap="none" lIns="0" tIns="0" rIns="0" bIns="0" rtlCol="0" anchor="ctr"/>
          <a:lstStyle/>
          <a:p>
            <a:pPr>
              <a:lnSpc>
                <a:spcPct val="120000"/>
              </a:lnSpc>
            </a:pPr>
            <a:r>
              <a:rPr lang="en-US" sz="1200" spc="200" kern="0" dirty="0">
                <a:solidFill>
                  <a:srgbClr val="D35400"/>
                </a:solidFill>
                <a:latin typeface="Liter" pitchFamily="34" charset="0"/>
                <a:ea typeface="Liter" pitchFamily="34" charset="-122"/>
                <a:cs typeface="Liter" pitchFamily="34" charset="-120"/>
              </a:rPr>
              <a:t>SOMMAIRE</a:t>
            </a:r>
            <a:endParaRPr lang="en-US" sz="1200" dirty="0"/>
          </a:p>
        </p:txBody>
      </p:sp>
      <p:sp>
        <p:nvSpPr>
          <p:cNvPr id="4" name="Text 2"/>
          <p:cNvSpPr/>
          <p:nvPr/>
        </p:nvSpPr>
        <p:spPr>
          <a:xfrm>
            <a:off x="762000" y="1270000"/>
            <a:ext cx="8890000" cy="635000"/>
          </a:xfrm>
          <a:prstGeom prst="rect">
            <a:avLst/>
          </a:prstGeom>
          <a:noFill/>
          <a:ln/>
        </p:spPr>
        <p:txBody>
          <a:bodyPr wrap="none" lIns="0" tIns="0" rIns="0" bIns="0" rtlCol="0" anchor="ctr"/>
          <a:lstStyle/>
          <a:p>
            <a:pPr>
              <a:lnSpc>
                <a:spcPct val="100000"/>
              </a:lnSpc>
            </a:pPr>
            <a:r>
              <a:rPr lang="en-US" sz="3600" spc="300" kern="0" dirty="0">
                <a:solidFill>
                  <a:srgbClr val="FFFFFF"/>
                </a:solidFill>
                <a:latin typeface="Liter" pitchFamily="34" charset="0"/>
                <a:ea typeface="Liter" pitchFamily="34" charset="-122"/>
                <a:cs typeface="Liter" pitchFamily="34" charset="-120"/>
              </a:rPr>
              <a:t>4 CHAPITRES. 1 OPPORTUNITE.</a:t>
            </a:r>
            <a:endParaRPr lang="en-US" sz="1600" dirty="0"/>
          </a:p>
        </p:txBody>
      </p:sp>
      <p:sp>
        <p:nvSpPr>
          <p:cNvPr id="5" name="Shape 3"/>
          <p:cNvSpPr/>
          <p:nvPr/>
        </p:nvSpPr>
        <p:spPr>
          <a:xfrm>
            <a:off x="762000" y="2413000"/>
            <a:ext cx="3429000" cy="5334000"/>
          </a:xfrm>
          <a:prstGeom prst="rect">
            <a:avLst/>
          </a:prstGeom>
          <a:solidFill>
            <a:srgbClr val="1E1E1E"/>
          </a:solidFill>
          <a:ln w="12700">
            <a:solidFill>
              <a:srgbClr val="333333"/>
            </a:solidFill>
            <a:prstDash val="solid"/>
          </a:ln>
        </p:spPr>
      </p:sp>
      <p:sp>
        <p:nvSpPr>
          <p:cNvPr id="6" name="Shape 4"/>
          <p:cNvSpPr/>
          <p:nvPr/>
        </p:nvSpPr>
        <p:spPr>
          <a:xfrm>
            <a:off x="762000" y="2413000"/>
            <a:ext cx="3429000" cy="50800"/>
          </a:xfrm>
          <a:prstGeom prst="rect">
            <a:avLst/>
          </a:prstGeom>
          <a:solidFill>
            <a:srgbClr val="D35400"/>
          </a:solidFill>
          <a:ln/>
        </p:spPr>
      </p:sp>
      <p:sp>
        <p:nvSpPr>
          <p:cNvPr id="7" name="Text 5"/>
          <p:cNvSpPr/>
          <p:nvPr/>
        </p:nvSpPr>
        <p:spPr>
          <a:xfrm>
            <a:off x="1016000" y="2794000"/>
            <a:ext cx="1270000" cy="762000"/>
          </a:xfrm>
          <a:prstGeom prst="rect">
            <a:avLst/>
          </a:prstGeom>
          <a:noFill/>
          <a:ln/>
        </p:spPr>
        <p:txBody>
          <a:bodyPr wrap="none" lIns="0" tIns="0" rIns="0" bIns="0" rtlCol="0" anchor="ctr"/>
          <a:lstStyle/>
          <a:p>
            <a:pPr>
              <a:lnSpc>
                <a:spcPct val="100000"/>
              </a:lnSpc>
            </a:pPr>
            <a:r>
              <a:rPr lang="en-US" sz="4800" dirty="0">
                <a:solidFill>
                  <a:srgbClr val="D35400"/>
                </a:solidFill>
                <a:latin typeface="Liter" pitchFamily="34" charset="0"/>
                <a:ea typeface="Liter" pitchFamily="34" charset="-122"/>
                <a:cs typeface="Liter" pitchFamily="34" charset="-120"/>
              </a:rPr>
              <a:t>01</a:t>
            </a:r>
            <a:endParaRPr lang="en-US" sz="1600" dirty="0"/>
          </a:p>
        </p:txBody>
      </p:sp>
      <p:sp>
        <p:nvSpPr>
          <p:cNvPr id="8" name="Text 6"/>
          <p:cNvSpPr/>
          <p:nvPr/>
        </p:nvSpPr>
        <p:spPr>
          <a:xfrm>
            <a:off x="1016000" y="3683000"/>
            <a:ext cx="2921000" cy="381000"/>
          </a:xfrm>
          <a:prstGeom prst="rect">
            <a:avLst/>
          </a:prstGeom>
          <a:noFill/>
          <a:ln/>
        </p:spPr>
        <p:txBody>
          <a:bodyPr wrap="none" lIns="0" tIns="0" rIns="0" bIns="0" rtlCol="0" anchor="ctr"/>
          <a:lstStyle/>
          <a:p>
            <a:pPr>
              <a:lnSpc>
                <a:spcPct val="100000"/>
              </a:lnSpc>
            </a:pPr>
            <a:r>
              <a:rPr lang="en-US" sz="2000" dirty="0">
                <a:solidFill>
                  <a:srgbClr val="FFFFFF"/>
                </a:solidFill>
                <a:latin typeface="Liter" pitchFamily="34" charset="0"/>
                <a:ea typeface="Liter" pitchFamily="34" charset="-122"/>
                <a:cs typeface="Liter" pitchFamily="34" charset="-120"/>
              </a:rPr>
              <a:t>LE CONTEXTE</a:t>
            </a:r>
            <a:endParaRPr lang="en-US" sz="1600" dirty="0"/>
          </a:p>
        </p:txBody>
      </p:sp>
      <p:sp>
        <p:nvSpPr>
          <p:cNvPr id="9" name="Text 7"/>
          <p:cNvSpPr/>
          <p:nvPr/>
        </p:nvSpPr>
        <p:spPr>
          <a:xfrm>
            <a:off x="1016000" y="4191000"/>
            <a:ext cx="2921000" cy="1397000"/>
          </a:xfrm>
          <a:prstGeom prst="rect">
            <a:avLst/>
          </a:prstGeom>
          <a:noFill/>
          <a:ln/>
        </p:spPr>
        <p:txBody>
          <a:bodyPr wrap="square" lIns="0" tIns="0" rIns="0" bIns="0" rtlCol="0" anchor="ctr"/>
          <a:lstStyle/>
          <a:p>
            <a:pPr>
              <a:lnSpc>
                <a:spcPct val="150000"/>
              </a:lnSpc>
            </a:pPr>
            <a:r>
              <a:rPr lang="en-US" sz="1400" dirty="0">
                <a:solidFill>
                  <a:srgbClr val="8A8A8A"/>
                </a:solidFill>
                <a:latin typeface="Quattrocento Sans" pitchFamily="34" charset="0"/>
                <a:ea typeface="Quattrocento Sans" pitchFamily="34" charset="-122"/>
                <a:cs typeface="Quattrocento Sans" pitchFamily="34" charset="-120"/>
              </a:rPr>
              <a:t>Le monde bascule vers le mobile. La bataille pour l'entree client digitale est deja engagee au Cameroun.</a:t>
            </a:r>
            <a:endParaRPr lang="en-US" sz="1600" dirty="0"/>
          </a:p>
        </p:txBody>
      </p:sp>
      <p:sp>
        <p:nvSpPr>
          <p:cNvPr id="10" name="Shape 8"/>
          <p:cNvSpPr/>
          <p:nvPr/>
        </p:nvSpPr>
        <p:spPr>
          <a:xfrm>
            <a:off x="1016000" y="7112000"/>
            <a:ext cx="406400" cy="406400"/>
          </a:xfrm>
          <a:custGeom>
            <a:avLst/>
            <a:gdLst/>
            <a:ahLst/>
            <a:cxnLst/>
            <a:rect l="l" t="t" r="r" b="b"/>
            <a:pathLst>
              <a:path w="406400" h="406400">
                <a:moveTo>
                  <a:pt x="355283" y="138906"/>
                </a:moveTo>
                <a:cubicBezTo>
                  <a:pt x="330200" y="79693"/>
                  <a:pt x="271542" y="38100"/>
                  <a:pt x="203200" y="38100"/>
                </a:cubicBezTo>
                <a:cubicBezTo>
                  <a:pt x="185658" y="38100"/>
                  <a:pt x="168751" y="40878"/>
                  <a:pt x="152876" y="45879"/>
                </a:cubicBezTo>
                <a:cubicBezTo>
                  <a:pt x="152559" y="47466"/>
                  <a:pt x="152400" y="49133"/>
                  <a:pt x="152400" y="50800"/>
                </a:cubicBezTo>
                <a:lnTo>
                  <a:pt x="152400" y="109061"/>
                </a:lnTo>
                <a:cubicBezTo>
                  <a:pt x="152400" y="118983"/>
                  <a:pt x="160417" y="127000"/>
                  <a:pt x="170339" y="127000"/>
                </a:cubicBezTo>
                <a:cubicBezTo>
                  <a:pt x="175101" y="127000"/>
                  <a:pt x="179705" y="125095"/>
                  <a:pt x="183039" y="121761"/>
                </a:cubicBezTo>
                <a:lnTo>
                  <a:pt x="195739" y="109061"/>
                </a:lnTo>
                <a:cubicBezTo>
                  <a:pt x="200501" y="104299"/>
                  <a:pt x="206931" y="101600"/>
                  <a:pt x="213678" y="101600"/>
                </a:cubicBezTo>
                <a:lnTo>
                  <a:pt x="218043" y="101600"/>
                </a:lnTo>
                <a:cubicBezTo>
                  <a:pt x="240665" y="101600"/>
                  <a:pt x="252016" y="128984"/>
                  <a:pt x="235982" y="144939"/>
                </a:cubicBezTo>
                <a:cubicBezTo>
                  <a:pt x="231219" y="149701"/>
                  <a:pt x="224790" y="152400"/>
                  <a:pt x="218043" y="152400"/>
                </a:cubicBezTo>
                <a:lnTo>
                  <a:pt x="169227" y="152400"/>
                </a:lnTo>
                <a:cubicBezTo>
                  <a:pt x="162481" y="152400"/>
                  <a:pt x="156051" y="155099"/>
                  <a:pt x="151289" y="159861"/>
                </a:cubicBezTo>
                <a:lnTo>
                  <a:pt x="134382" y="176768"/>
                </a:lnTo>
                <a:cubicBezTo>
                  <a:pt x="129619" y="181531"/>
                  <a:pt x="126921" y="187960"/>
                  <a:pt x="126921" y="194707"/>
                </a:cubicBezTo>
                <a:lnTo>
                  <a:pt x="126921" y="228600"/>
                </a:lnTo>
                <a:cubicBezTo>
                  <a:pt x="126921" y="242649"/>
                  <a:pt x="138271" y="254000"/>
                  <a:pt x="152321" y="254000"/>
                </a:cubicBezTo>
                <a:lnTo>
                  <a:pt x="177721" y="254000"/>
                </a:lnTo>
                <a:cubicBezTo>
                  <a:pt x="191770" y="254000"/>
                  <a:pt x="203121" y="265351"/>
                  <a:pt x="203121" y="279400"/>
                </a:cubicBezTo>
                <a:lnTo>
                  <a:pt x="203121" y="304800"/>
                </a:lnTo>
                <a:cubicBezTo>
                  <a:pt x="203121" y="318849"/>
                  <a:pt x="214471" y="330200"/>
                  <a:pt x="228521" y="330200"/>
                </a:cubicBezTo>
                <a:lnTo>
                  <a:pt x="230664" y="330200"/>
                </a:lnTo>
                <a:cubicBezTo>
                  <a:pt x="237411" y="330200"/>
                  <a:pt x="243840" y="327501"/>
                  <a:pt x="248602" y="322739"/>
                </a:cubicBezTo>
                <a:lnTo>
                  <a:pt x="271859" y="299482"/>
                </a:lnTo>
                <a:cubicBezTo>
                  <a:pt x="276622" y="294719"/>
                  <a:pt x="279321" y="288290"/>
                  <a:pt x="279321" y="281543"/>
                </a:cubicBezTo>
                <a:lnTo>
                  <a:pt x="279321" y="266700"/>
                </a:lnTo>
                <a:cubicBezTo>
                  <a:pt x="279321" y="259715"/>
                  <a:pt x="285036" y="254000"/>
                  <a:pt x="292021" y="254000"/>
                </a:cubicBezTo>
                <a:cubicBezTo>
                  <a:pt x="299006" y="254000"/>
                  <a:pt x="304721" y="248285"/>
                  <a:pt x="304721" y="241300"/>
                </a:cubicBezTo>
                <a:lnTo>
                  <a:pt x="304721" y="213757"/>
                </a:lnTo>
                <a:cubicBezTo>
                  <a:pt x="304721" y="207010"/>
                  <a:pt x="302022" y="200581"/>
                  <a:pt x="297259" y="195818"/>
                </a:cubicBezTo>
                <a:lnTo>
                  <a:pt x="284559" y="183118"/>
                </a:lnTo>
                <a:cubicBezTo>
                  <a:pt x="281226" y="179784"/>
                  <a:pt x="279321" y="175181"/>
                  <a:pt x="279321" y="170418"/>
                </a:cubicBezTo>
                <a:cubicBezTo>
                  <a:pt x="279321" y="160496"/>
                  <a:pt x="287338" y="152479"/>
                  <a:pt x="297259" y="152479"/>
                </a:cubicBezTo>
                <a:lnTo>
                  <a:pt x="332978" y="152479"/>
                </a:lnTo>
                <a:cubicBezTo>
                  <a:pt x="342821" y="152479"/>
                  <a:pt x="350996" y="146844"/>
                  <a:pt x="355203" y="138986"/>
                </a:cubicBezTo>
                <a:close/>
                <a:moveTo>
                  <a:pt x="0" y="203200"/>
                </a:moveTo>
                <a:cubicBezTo>
                  <a:pt x="0" y="91051"/>
                  <a:pt x="91051" y="0"/>
                  <a:pt x="203200" y="0"/>
                </a:cubicBezTo>
                <a:cubicBezTo>
                  <a:pt x="315349" y="0"/>
                  <a:pt x="406400" y="91051"/>
                  <a:pt x="406400" y="203200"/>
                </a:cubicBezTo>
                <a:cubicBezTo>
                  <a:pt x="406400" y="315349"/>
                  <a:pt x="315349" y="406400"/>
                  <a:pt x="203200" y="406400"/>
                </a:cubicBezTo>
                <a:cubicBezTo>
                  <a:pt x="91051" y="406400"/>
                  <a:pt x="0" y="315349"/>
                  <a:pt x="0" y="203200"/>
                </a:cubicBezTo>
                <a:close/>
              </a:path>
            </a:pathLst>
          </a:custGeom>
          <a:solidFill>
            <a:srgbClr val="D35400"/>
          </a:solidFill>
          <a:ln/>
        </p:spPr>
      </p:sp>
      <p:sp>
        <p:nvSpPr>
          <p:cNvPr id="11" name="Shape 9"/>
          <p:cNvSpPr/>
          <p:nvPr/>
        </p:nvSpPr>
        <p:spPr>
          <a:xfrm>
            <a:off x="4572000" y="2413000"/>
            <a:ext cx="3429000" cy="5334000"/>
          </a:xfrm>
          <a:prstGeom prst="rect">
            <a:avLst/>
          </a:prstGeom>
          <a:solidFill>
            <a:srgbClr val="1E1E1E"/>
          </a:solidFill>
          <a:ln w="12700">
            <a:solidFill>
              <a:srgbClr val="333333"/>
            </a:solidFill>
            <a:prstDash val="solid"/>
          </a:ln>
        </p:spPr>
      </p:sp>
      <p:sp>
        <p:nvSpPr>
          <p:cNvPr id="12" name="Shape 10"/>
          <p:cNvSpPr/>
          <p:nvPr/>
        </p:nvSpPr>
        <p:spPr>
          <a:xfrm>
            <a:off x="4572000" y="2413000"/>
            <a:ext cx="3429000" cy="50800"/>
          </a:xfrm>
          <a:prstGeom prst="rect">
            <a:avLst/>
          </a:prstGeom>
          <a:solidFill>
            <a:srgbClr val="D35400"/>
          </a:solidFill>
          <a:ln/>
        </p:spPr>
      </p:sp>
      <p:sp>
        <p:nvSpPr>
          <p:cNvPr id="13" name="Text 11"/>
          <p:cNvSpPr/>
          <p:nvPr/>
        </p:nvSpPr>
        <p:spPr>
          <a:xfrm>
            <a:off x="4826000" y="2794000"/>
            <a:ext cx="1270000" cy="762000"/>
          </a:xfrm>
          <a:prstGeom prst="rect">
            <a:avLst/>
          </a:prstGeom>
          <a:noFill/>
          <a:ln/>
        </p:spPr>
        <p:txBody>
          <a:bodyPr wrap="none" lIns="0" tIns="0" rIns="0" bIns="0" rtlCol="0" anchor="ctr"/>
          <a:lstStyle/>
          <a:p>
            <a:pPr>
              <a:lnSpc>
                <a:spcPct val="100000"/>
              </a:lnSpc>
            </a:pPr>
            <a:r>
              <a:rPr lang="en-US" sz="4800" dirty="0">
                <a:solidFill>
                  <a:srgbClr val="D35400"/>
                </a:solidFill>
                <a:latin typeface="Liter" pitchFamily="34" charset="0"/>
                <a:ea typeface="Liter" pitchFamily="34" charset="-122"/>
                <a:cs typeface="Liter" pitchFamily="34" charset="-120"/>
              </a:rPr>
              <a:t>02</a:t>
            </a:r>
            <a:endParaRPr lang="en-US" sz="1600" dirty="0"/>
          </a:p>
        </p:txBody>
      </p:sp>
      <p:sp>
        <p:nvSpPr>
          <p:cNvPr id="14" name="Text 12"/>
          <p:cNvSpPr/>
          <p:nvPr/>
        </p:nvSpPr>
        <p:spPr>
          <a:xfrm>
            <a:off x="4826000" y="3683000"/>
            <a:ext cx="2921000" cy="381000"/>
          </a:xfrm>
          <a:prstGeom prst="rect">
            <a:avLst/>
          </a:prstGeom>
          <a:noFill/>
          <a:ln/>
        </p:spPr>
        <p:txBody>
          <a:bodyPr wrap="none" lIns="0" tIns="0" rIns="0" bIns="0" rtlCol="0" anchor="ctr"/>
          <a:lstStyle/>
          <a:p>
            <a:pPr>
              <a:lnSpc>
                <a:spcPct val="100000"/>
              </a:lnSpc>
            </a:pPr>
            <a:r>
              <a:rPr lang="en-US" sz="2000" dirty="0">
                <a:solidFill>
                  <a:srgbClr val="FFFFFF"/>
                </a:solidFill>
                <a:latin typeface="Liter" pitchFamily="34" charset="0"/>
                <a:ea typeface="Liter" pitchFamily="34" charset="-122"/>
                <a:cs typeface="Liter" pitchFamily="34" charset="-120"/>
              </a:rPr>
              <a:t>LA SOLUTION</a:t>
            </a:r>
            <a:endParaRPr lang="en-US" sz="1600" dirty="0"/>
          </a:p>
        </p:txBody>
      </p:sp>
      <p:sp>
        <p:nvSpPr>
          <p:cNvPr id="15" name="Text 13"/>
          <p:cNvSpPr/>
          <p:nvPr/>
        </p:nvSpPr>
        <p:spPr>
          <a:xfrm>
            <a:off x="4826000" y="4191000"/>
            <a:ext cx="2921000" cy="1270000"/>
          </a:xfrm>
          <a:prstGeom prst="rect">
            <a:avLst/>
          </a:prstGeom>
          <a:noFill/>
          <a:ln/>
        </p:spPr>
        <p:txBody>
          <a:bodyPr wrap="square" lIns="0" tIns="0" rIns="0" bIns="0" rtlCol="0" anchor="ctr"/>
          <a:lstStyle/>
          <a:p>
            <a:pPr>
              <a:lnSpc>
                <a:spcPct val="150000"/>
              </a:lnSpc>
            </a:pPr>
            <a:r>
              <a:rPr lang="en-US" sz="1400" dirty="0">
                <a:solidFill>
                  <a:srgbClr val="8A8A8A"/>
                </a:solidFill>
                <a:latin typeface="Quattrocento Sans" pitchFamily="34" charset="0"/>
                <a:ea typeface="Quattrocento Sans" pitchFamily="34" charset="-122"/>
                <a:cs typeface="Quattrocento Sans" pitchFamily="34" charset="-120"/>
              </a:rPr>
              <a:t>VeriPass : le rail KYC souverain qui reduit la friction et structure les preuves.</a:t>
            </a:r>
            <a:endParaRPr lang="en-US" sz="1600" dirty="0"/>
          </a:p>
        </p:txBody>
      </p:sp>
      <p:sp>
        <p:nvSpPr>
          <p:cNvPr id="16" name="Shape 14"/>
          <p:cNvSpPr/>
          <p:nvPr/>
        </p:nvSpPr>
        <p:spPr>
          <a:xfrm>
            <a:off x="4826000" y="7112000"/>
            <a:ext cx="406400" cy="406400"/>
          </a:xfrm>
          <a:custGeom>
            <a:avLst/>
            <a:gdLst/>
            <a:ahLst/>
            <a:cxnLst/>
            <a:rect l="l" t="t" r="r" b="b"/>
            <a:pathLst>
              <a:path w="406400" h="406400">
                <a:moveTo>
                  <a:pt x="203200" y="0"/>
                </a:moveTo>
                <a:cubicBezTo>
                  <a:pt x="206851" y="0"/>
                  <a:pt x="210503" y="794"/>
                  <a:pt x="213836" y="2302"/>
                </a:cubicBezTo>
                <a:lnTo>
                  <a:pt x="363379" y="65723"/>
                </a:lnTo>
                <a:cubicBezTo>
                  <a:pt x="380841" y="73104"/>
                  <a:pt x="393859" y="90329"/>
                  <a:pt x="393779" y="111125"/>
                </a:cubicBezTo>
                <a:cubicBezTo>
                  <a:pt x="393383" y="189865"/>
                  <a:pt x="360998" y="333931"/>
                  <a:pt x="224234" y="399415"/>
                </a:cubicBezTo>
                <a:cubicBezTo>
                  <a:pt x="210979" y="405765"/>
                  <a:pt x="195580" y="405765"/>
                  <a:pt x="182324" y="399415"/>
                </a:cubicBezTo>
                <a:cubicBezTo>
                  <a:pt x="45482" y="333931"/>
                  <a:pt x="13176" y="189865"/>
                  <a:pt x="12779" y="111125"/>
                </a:cubicBezTo>
                <a:cubicBezTo>
                  <a:pt x="12700" y="90329"/>
                  <a:pt x="25717" y="73104"/>
                  <a:pt x="43180" y="65723"/>
                </a:cubicBezTo>
                <a:lnTo>
                  <a:pt x="192643" y="2302"/>
                </a:lnTo>
                <a:cubicBezTo>
                  <a:pt x="195977" y="794"/>
                  <a:pt x="199549" y="0"/>
                  <a:pt x="203200" y="0"/>
                </a:cubicBezTo>
                <a:close/>
                <a:moveTo>
                  <a:pt x="203200" y="53022"/>
                </a:moveTo>
                <a:lnTo>
                  <a:pt x="203200" y="353139"/>
                </a:lnTo>
                <a:cubicBezTo>
                  <a:pt x="312738" y="300117"/>
                  <a:pt x="342186" y="182642"/>
                  <a:pt x="342900" y="112316"/>
                </a:cubicBezTo>
                <a:lnTo>
                  <a:pt x="203200" y="53102"/>
                </a:lnTo>
                <a:lnTo>
                  <a:pt x="203200" y="53102"/>
                </a:lnTo>
                <a:close/>
              </a:path>
            </a:pathLst>
          </a:custGeom>
          <a:solidFill>
            <a:srgbClr val="D35400"/>
          </a:solidFill>
          <a:ln/>
        </p:spPr>
      </p:sp>
      <p:sp>
        <p:nvSpPr>
          <p:cNvPr id="17" name="Shape 15"/>
          <p:cNvSpPr/>
          <p:nvPr/>
        </p:nvSpPr>
        <p:spPr>
          <a:xfrm>
            <a:off x="8382000" y="2413000"/>
            <a:ext cx="3429000" cy="5334000"/>
          </a:xfrm>
          <a:prstGeom prst="rect">
            <a:avLst/>
          </a:prstGeom>
          <a:solidFill>
            <a:srgbClr val="1E1E1E"/>
          </a:solidFill>
          <a:ln w="12700">
            <a:solidFill>
              <a:srgbClr val="333333"/>
            </a:solidFill>
            <a:prstDash val="solid"/>
          </a:ln>
        </p:spPr>
      </p:sp>
      <p:sp>
        <p:nvSpPr>
          <p:cNvPr id="18" name="Shape 16"/>
          <p:cNvSpPr/>
          <p:nvPr/>
        </p:nvSpPr>
        <p:spPr>
          <a:xfrm>
            <a:off x="8382000" y="2413000"/>
            <a:ext cx="3429000" cy="50800"/>
          </a:xfrm>
          <a:prstGeom prst="rect">
            <a:avLst/>
          </a:prstGeom>
          <a:solidFill>
            <a:srgbClr val="D35400"/>
          </a:solidFill>
          <a:ln/>
        </p:spPr>
      </p:sp>
      <p:sp>
        <p:nvSpPr>
          <p:cNvPr id="19" name="Text 17"/>
          <p:cNvSpPr/>
          <p:nvPr/>
        </p:nvSpPr>
        <p:spPr>
          <a:xfrm>
            <a:off x="8636000" y="2794000"/>
            <a:ext cx="1270000" cy="762000"/>
          </a:xfrm>
          <a:prstGeom prst="rect">
            <a:avLst/>
          </a:prstGeom>
          <a:noFill/>
          <a:ln/>
        </p:spPr>
        <p:txBody>
          <a:bodyPr wrap="none" lIns="0" tIns="0" rIns="0" bIns="0" rtlCol="0" anchor="ctr"/>
          <a:lstStyle/>
          <a:p>
            <a:pPr>
              <a:lnSpc>
                <a:spcPct val="100000"/>
              </a:lnSpc>
            </a:pPr>
            <a:r>
              <a:rPr lang="en-US" sz="4800" dirty="0">
                <a:solidFill>
                  <a:srgbClr val="D35400"/>
                </a:solidFill>
                <a:latin typeface="Liter" pitchFamily="34" charset="0"/>
                <a:ea typeface="Liter" pitchFamily="34" charset="-122"/>
                <a:cs typeface="Liter" pitchFamily="34" charset="-120"/>
              </a:rPr>
              <a:t>03</a:t>
            </a:r>
            <a:endParaRPr lang="en-US" sz="1600" dirty="0"/>
          </a:p>
        </p:txBody>
      </p:sp>
      <p:sp>
        <p:nvSpPr>
          <p:cNvPr id="20" name="Text 18"/>
          <p:cNvSpPr/>
          <p:nvPr/>
        </p:nvSpPr>
        <p:spPr>
          <a:xfrm>
            <a:off x="8636000" y="3683000"/>
            <a:ext cx="2921000" cy="381000"/>
          </a:xfrm>
          <a:prstGeom prst="rect">
            <a:avLst/>
          </a:prstGeom>
          <a:noFill/>
          <a:ln/>
        </p:spPr>
        <p:txBody>
          <a:bodyPr wrap="none" lIns="0" tIns="0" rIns="0" bIns="0" rtlCol="0" anchor="ctr"/>
          <a:lstStyle/>
          <a:p>
            <a:pPr>
              <a:lnSpc>
                <a:spcPct val="100000"/>
              </a:lnSpc>
            </a:pPr>
            <a:r>
              <a:rPr lang="en-US" sz="2000" dirty="0">
                <a:solidFill>
                  <a:srgbClr val="FFFFFF"/>
                </a:solidFill>
                <a:latin typeface="Liter" pitchFamily="34" charset="0"/>
                <a:ea typeface="Liter" pitchFamily="34" charset="-122"/>
                <a:cs typeface="Liter" pitchFamily="34" charset="-120"/>
              </a:rPr>
              <a:t>LA PREUVE</a:t>
            </a:r>
            <a:endParaRPr lang="en-US" sz="1600" dirty="0"/>
          </a:p>
        </p:txBody>
      </p:sp>
      <p:sp>
        <p:nvSpPr>
          <p:cNvPr id="21" name="Text 19"/>
          <p:cNvSpPr/>
          <p:nvPr/>
        </p:nvSpPr>
        <p:spPr>
          <a:xfrm>
            <a:off x="8636000" y="4191000"/>
            <a:ext cx="2921000" cy="1270000"/>
          </a:xfrm>
          <a:prstGeom prst="rect">
            <a:avLst/>
          </a:prstGeom>
          <a:noFill/>
          <a:ln/>
        </p:spPr>
        <p:txBody>
          <a:bodyPr wrap="square" lIns="0" tIns="0" rIns="0" bIns="0" rtlCol="0" anchor="ctr"/>
          <a:lstStyle/>
          <a:p>
            <a:pPr>
              <a:lnSpc>
                <a:spcPct val="150000"/>
              </a:lnSpc>
            </a:pPr>
            <a:r>
              <a:rPr lang="en-US" sz="1400" dirty="0">
                <a:solidFill>
                  <a:srgbClr val="8A8A8A"/>
                </a:solidFill>
                <a:latin typeface="Quattrocento Sans" pitchFamily="34" charset="0"/>
                <a:ea typeface="Quattrocento Sans" pitchFamily="34" charset="-122"/>
                <a:cs typeface="Quattrocento Sans" pitchFamily="34" charset="-120"/>
              </a:rPr>
              <a:t>Securite, conformite AML/COBAC, audit tracable et pilotage en temps reel.</a:t>
            </a:r>
            <a:endParaRPr lang="en-US" sz="1600" dirty="0"/>
          </a:p>
        </p:txBody>
      </p:sp>
      <p:sp>
        <p:nvSpPr>
          <p:cNvPr id="22" name="Shape 20"/>
          <p:cNvSpPr/>
          <p:nvPr/>
        </p:nvSpPr>
        <p:spPr>
          <a:xfrm>
            <a:off x="8686800" y="7112000"/>
            <a:ext cx="304800" cy="406400"/>
          </a:xfrm>
          <a:custGeom>
            <a:avLst/>
            <a:gdLst/>
            <a:ahLst/>
            <a:cxnLst/>
            <a:rect l="l" t="t" r="r" b="b"/>
            <a:pathLst>
              <a:path w="304800" h="406400">
                <a:moveTo>
                  <a:pt x="101600" y="76200"/>
                </a:moveTo>
                <a:lnTo>
                  <a:pt x="101600" y="127000"/>
                </a:lnTo>
                <a:lnTo>
                  <a:pt x="203200" y="127000"/>
                </a:lnTo>
                <a:lnTo>
                  <a:pt x="203200" y="76200"/>
                </a:lnTo>
                <a:cubicBezTo>
                  <a:pt x="203200" y="48181"/>
                  <a:pt x="180419" y="25400"/>
                  <a:pt x="152400" y="25400"/>
                </a:cubicBezTo>
                <a:cubicBezTo>
                  <a:pt x="124381" y="25400"/>
                  <a:pt x="101600" y="48181"/>
                  <a:pt x="101600" y="76200"/>
                </a:cubicBezTo>
                <a:close/>
                <a:moveTo>
                  <a:pt x="50800" y="127000"/>
                </a:moveTo>
                <a:lnTo>
                  <a:pt x="50800" y="76200"/>
                </a:lnTo>
                <a:cubicBezTo>
                  <a:pt x="50800" y="20082"/>
                  <a:pt x="96282" y="-25400"/>
                  <a:pt x="152400" y="-25400"/>
                </a:cubicBezTo>
                <a:cubicBezTo>
                  <a:pt x="208518" y="-25400"/>
                  <a:pt x="254000" y="20082"/>
                  <a:pt x="254000" y="76200"/>
                </a:cubicBezTo>
                <a:lnTo>
                  <a:pt x="254000" y="127000"/>
                </a:lnTo>
                <a:cubicBezTo>
                  <a:pt x="282019" y="127000"/>
                  <a:pt x="304800" y="149781"/>
                  <a:pt x="304800" y="177800"/>
                </a:cubicBezTo>
                <a:lnTo>
                  <a:pt x="304800" y="355600"/>
                </a:lnTo>
                <a:cubicBezTo>
                  <a:pt x="304800" y="383619"/>
                  <a:pt x="282019" y="406400"/>
                  <a:pt x="254000" y="406400"/>
                </a:cubicBezTo>
                <a:lnTo>
                  <a:pt x="50800" y="406400"/>
                </a:lnTo>
                <a:cubicBezTo>
                  <a:pt x="22781" y="406400"/>
                  <a:pt x="0" y="383619"/>
                  <a:pt x="0" y="355600"/>
                </a:cubicBezTo>
                <a:lnTo>
                  <a:pt x="0" y="177800"/>
                </a:lnTo>
                <a:cubicBezTo>
                  <a:pt x="0" y="149781"/>
                  <a:pt x="22781" y="127000"/>
                  <a:pt x="50800" y="127000"/>
                </a:cubicBezTo>
                <a:close/>
              </a:path>
            </a:pathLst>
          </a:custGeom>
          <a:solidFill>
            <a:srgbClr val="D35400"/>
          </a:solidFill>
          <a:ln/>
        </p:spPr>
      </p:sp>
      <p:sp>
        <p:nvSpPr>
          <p:cNvPr id="23" name="Shape 21"/>
          <p:cNvSpPr/>
          <p:nvPr/>
        </p:nvSpPr>
        <p:spPr>
          <a:xfrm>
            <a:off x="12192000" y="2413000"/>
            <a:ext cx="3429000" cy="5334000"/>
          </a:xfrm>
          <a:prstGeom prst="rect">
            <a:avLst/>
          </a:prstGeom>
          <a:solidFill>
            <a:srgbClr val="1E1E1E"/>
          </a:solidFill>
          <a:ln w="12700">
            <a:solidFill>
              <a:srgbClr val="333333"/>
            </a:solidFill>
            <a:prstDash val="solid"/>
          </a:ln>
        </p:spPr>
      </p:sp>
      <p:sp>
        <p:nvSpPr>
          <p:cNvPr id="24" name="Shape 22"/>
          <p:cNvSpPr/>
          <p:nvPr/>
        </p:nvSpPr>
        <p:spPr>
          <a:xfrm>
            <a:off x="12192000" y="2413000"/>
            <a:ext cx="3429000" cy="50800"/>
          </a:xfrm>
          <a:prstGeom prst="rect">
            <a:avLst/>
          </a:prstGeom>
          <a:solidFill>
            <a:srgbClr val="F39C12"/>
          </a:solidFill>
          <a:ln/>
        </p:spPr>
      </p:sp>
      <p:sp>
        <p:nvSpPr>
          <p:cNvPr id="25" name="Text 23"/>
          <p:cNvSpPr/>
          <p:nvPr/>
        </p:nvSpPr>
        <p:spPr>
          <a:xfrm>
            <a:off x="12446000" y="2794000"/>
            <a:ext cx="1270000" cy="762000"/>
          </a:xfrm>
          <a:prstGeom prst="rect">
            <a:avLst/>
          </a:prstGeom>
          <a:noFill/>
          <a:ln/>
        </p:spPr>
        <p:txBody>
          <a:bodyPr wrap="none" lIns="0" tIns="0" rIns="0" bIns="0" rtlCol="0" anchor="ctr"/>
          <a:lstStyle/>
          <a:p>
            <a:pPr>
              <a:lnSpc>
                <a:spcPct val="100000"/>
              </a:lnSpc>
            </a:pPr>
            <a:r>
              <a:rPr lang="en-US" sz="4800" dirty="0">
                <a:solidFill>
                  <a:srgbClr val="F39C12"/>
                </a:solidFill>
                <a:latin typeface="Liter" pitchFamily="34" charset="0"/>
                <a:ea typeface="Liter" pitchFamily="34" charset="-122"/>
                <a:cs typeface="Liter" pitchFamily="34" charset="-120"/>
              </a:rPr>
              <a:t>04</a:t>
            </a:r>
            <a:endParaRPr lang="en-US" sz="1600" dirty="0"/>
          </a:p>
        </p:txBody>
      </p:sp>
      <p:sp>
        <p:nvSpPr>
          <p:cNvPr id="26" name="Text 24"/>
          <p:cNvSpPr/>
          <p:nvPr/>
        </p:nvSpPr>
        <p:spPr>
          <a:xfrm>
            <a:off x="12446000" y="3683000"/>
            <a:ext cx="2921000" cy="381000"/>
          </a:xfrm>
          <a:prstGeom prst="rect">
            <a:avLst/>
          </a:prstGeom>
          <a:noFill/>
          <a:ln/>
        </p:spPr>
        <p:txBody>
          <a:bodyPr wrap="none" lIns="0" tIns="0" rIns="0" bIns="0" rtlCol="0" anchor="ctr"/>
          <a:lstStyle/>
          <a:p>
            <a:pPr>
              <a:lnSpc>
                <a:spcPct val="100000"/>
              </a:lnSpc>
            </a:pPr>
            <a:r>
              <a:rPr lang="en-US" sz="2000" dirty="0">
                <a:solidFill>
                  <a:srgbClr val="FFFFFF"/>
                </a:solidFill>
                <a:latin typeface="Liter" pitchFamily="34" charset="0"/>
                <a:ea typeface="Liter" pitchFamily="34" charset="-122"/>
                <a:cs typeface="Liter" pitchFamily="34" charset="-120"/>
              </a:rPr>
              <a:t>L'OPPORTUNITE</a:t>
            </a:r>
            <a:endParaRPr lang="en-US" sz="1600" dirty="0"/>
          </a:p>
        </p:txBody>
      </p:sp>
      <p:sp>
        <p:nvSpPr>
          <p:cNvPr id="27" name="Text 25"/>
          <p:cNvSpPr/>
          <p:nvPr/>
        </p:nvSpPr>
        <p:spPr>
          <a:xfrm>
            <a:off x="12446000" y="4191000"/>
            <a:ext cx="2921000" cy="1270000"/>
          </a:xfrm>
          <a:prstGeom prst="rect">
            <a:avLst/>
          </a:prstGeom>
          <a:noFill/>
          <a:ln/>
        </p:spPr>
        <p:txBody>
          <a:bodyPr wrap="square" lIns="0" tIns="0" rIns="0" bIns="0" rtlCol="0" anchor="ctr"/>
          <a:lstStyle/>
          <a:p>
            <a:pPr>
              <a:lnSpc>
                <a:spcPct val="150000"/>
              </a:lnSpc>
            </a:pPr>
            <a:r>
              <a:rPr lang="en-US" sz="1400" dirty="0">
                <a:solidFill>
                  <a:srgbClr val="8A8A8A"/>
                </a:solidFill>
                <a:latin typeface="Quattrocento Sans" pitchFamily="34" charset="0"/>
                <a:ea typeface="Quattrocento Sans" pitchFamily="34" charset="-122"/>
                <a:cs typeface="Quattrocento Sans" pitchFamily="34" charset="-120"/>
              </a:rPr>
              <a:t>Un pilote mesurable, une decision eclairee. N'achetez pas un logiciel. Achetez l'avance.</a:t>
            </a:r>
            <a:endParaRPr lang="en-US" sz="1600" dirty="0"/>
          </a:p>
        </p:txBody>
      </p:sp>
      <p:sp>
        <p:nvSpPr>
          <p:cNvPr id="28" name="Shape 26"/>
          <p:cNvSpPr/>
          <p:nvPr/>
        </p:nvSpPr>
        <p:spPr>
          <a:xfrm>
            <a:off x="12446000" y="7112000"/>
            <a:ext cx="406400" cy="406400"/>
          </a:xfrm>
          <a:custGeom>
            <a:avLst/>
            <a:gdLst/>
            <a:ahLst/>
            <a:cxnLst/>
            <a:rect l="l" t="t" r="r" b="b"/>
            <a:pathLst>
              <a:path w="406400" h="406400">
                <a:moveTo>
                  <a:pt x="101600" y="254000"/>
                </a:moveTo>
                <a:lnTo>
                  <a:pt x="19447" y="254000"/>
                </a:lnTo>
                <a:cubicBezTo>
                  <a:pt x="-317" y="254000"/>
                  <a:pt x="-12462" y="232489"/>
                  <a:pt x="-2302" y="215503"/>
                </a:cubicBezTo>
                <a:lnTo>
                  <a:pt x="39688" y="145494"/>
                </a:lnTo>
                <a:cubicBezTo>
                  <a:pt x="46593" y="133985"/>
                  <a:pt x="58976" y="127000"/>
                  <a:pt x="72390" y="127000"/>
                </a:cubicBezTo>
                <a:lnTo>
                  <a:pt x="147796" y="127000"/>
                </a:lnTo>
                <a:cubicBezTo>
                  <a:pt x="208201" y="24686"/>
                  <a:pt x="298291" y="19526"/>
                  <a:pt x="358537" y="28337"/>
                </a:cubicBezTo>
                <a:cubicBezTo>
                  <a:pt x="368697" y="29845"/>
                  <a:pt x="376634" y="37783"/>
                  <a:pt x="378063" y="47863"/>
                </a:cubicBezTo>
                <a:cubicBezTo>
                  <a:pt x="386874" y="108109"/>
                  <a:pt x="381714" y="198199"/>
                  <a:pt x="279400" y="258604"/>
                </a:cubicBezTo>
                <a:lnTo>
                  <a:pt x="279400" y="334010"/>
                </a:lnTo>
                <a:cubicBezTo>
                  <a:pt x="279400" y="347424"/>
                  <a:pt x="272415" y="359807"/>
                  <a:pt x="260906" y="366713"/>
                </a:cubicBezTo>
                <a:lnTo>
                  <a:pt x="190897" y="408702"/>
                </a:lnTo>
                <a:cubicBezTo>
                  <a:pt x="173990" y="418862"/>
                  <a:pt x="152400" y="406638"/>
                  <a:pt x="152400" y="386953"/>
                </a:cubicBezTo>
                <a:lnTo>
                  <a:pt x="152400" y="304800"/>
                </a:lnTo>
                <a:cubicBezTo>
                  <a:pt x="152400" y="276781"/>
                  <a:pt x="129619" y="254000"/>
                  <a:pt x="101600" y="254000"/>
                </a:cubicBezTo>
                <a:lnTo>
                  <a:pt x="101521" y="254000"/>
                </a:lnTo>
                <a:close/>
                <a:moveTo>
                  <a:pt x="317500" y="127000"/>
                </a:moveTo>
                <a:cubicBezTo>
                  <a:pt x="317500" y="105972"/>
                  <a:pt x="300428" y="88900"/>
                  <a:pt x="279400" y="88900"/>
                </a:cubicBezTo>
                <a:cubicBezTo>
                  <a:pt x="258372" y="88900"/>
                  <a:pt x="241300" y="105972"/>
                  <a:pt x="241300" y="127000"/>
                </a:cubicBezTo>
                <a:cubicBezTo>
                  <a:pt x="241300" y="148028"/>
                  <a:pt x="258372" y="165100"/>
                  <a:pt x="279400" y="165100"/>
                </a:cubicBezTo>
                <a:cubicBezTo>
                  <a:pt x="300428" y="165100"/>
                  <a:pt x="317500" y="148028"/>
                  <a:pt x="317500" y="127000"/>
                </a:cubicBezTo>
                <a:close/>
              </a:path>
            </a:pathLst>
          </a:custGeom>
          <a:solidFill>
            <a:srgbClr val="F39C12"/>
          </a:solidFill>
          <a:ln/>
        </p:spPr>
      </p:sp>
      <p:sp>
        <p:nvSpPr>
          <p:cNvPr id="29" name="Shape 27"/>
          <p:cNvSpPr/>
          <p:nvPr/>
        </p:nvSpPr>
        <p:spPr>
          <a:xfrm>
            <a:off x="0" y="8890000"/>
            <a:ext cx="16256000" cy="254000"/>
          </a:xfrm>
          <a:prstGeom prst="rect">
            <a:avLst/>
          </a:prstGeom>
          <a:gradFill rotWithShape="1" flip="none">
            <a:gsLst>
              <a:gs pos="0">
                <a:srgbClr val="D35400"/>
              </a:gs>
              <a:gs pos="50000">
                <a:srgbClr val="F39C12"/>
              </a:gs>
              <a:gs pos="100000">
                <a:srgbClr val="D35400"/>
              </a:gs>
            </a:gsLst>
            <a:lin ang="0" scaled="1"/>
          </a:gradFill>
          <a:ln/>
        </p:spPr>
      </p:sp>
    </p:spTree>
  </p:cSld>
  <p:clrMapOvr>
    <a:masterClrMapping/>
  </p:clrMapOvr>
  <p:transition>
    <p:fade/>
    <p:spd val="med"/>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https://kimi-img.moonshot.cn/pub/slides/okc/eqhpli636fwka/mnt/agents/output/veripass-presentation/images/3_How_mobile_money_is_empowering_African.png">    </p:cNvPr>
          <p:cNvPicPr>
            <a:picLocks noChangeAspect="1"/>
          </p:cNvPicPr>
          <p:nvPr/>
        </p:nvPicPr>
        <p:blipFill>
          <a:blip r:embed="rId1"/>
          <a:srcRect l="0" r="0" t="0" b="0"/>
          <a:stretch/>
        </p:blipFill>
        <p:spPr>
          <a:xfrm>
            <a:off x="0" y="0"/>
            <a:ext cx="16256000" cy="9144000"/>
          </a:xfrm>
          <a:prstGeom prst="rect">
            <a:avLst/>
          </a:prstGeom>
        </p:spPr>
      </p:pic>
      <p:sp>
        <p:nvSpPr>
          <p:cNvPr id="3" name="Shape 0"/>
          <p:cNvSpPr/>
          <p:nvPr/>
        </p:nvSpPr>
        <p:spPr>
          <a:xfrm>
            <a:off x="0" y="0"/>
            <a:ext cx="16256000" cy="9144000"/>
          </a:xfrm>
          <a:prstGeom prst="rect">
            <a:avLst/>
          </a:prstGeom>
          <a:gradFill rotWithShape="1" flip="none">
            <a:gsLst>
              <a:gs pos="0">
                <a:srgbClr val="0F0F0F">
                  <a:alpha val="93000"/>
                </a:srgbClr>
              </a:gs>
              <a:gs pos="60000">
                <a:srgbClr val="0F0F0F">
                  <a:alpha val="87000"/>
                </a:srgbClr>
              </a:gs>
              <a:gs pos="100000">
                <a:srgbClr val="0F0F0F">
                  <a:alpha val="60000"/>
                </a:srgbClr>
              </a:gs>
            </a:gsLst>
            <a:lin ang="0" scaled="1"/>
          </a:gradFill>
          <a:ln w="12700">
            <a:solidFill>
              <a:srgbClr val="333333"/>
            </a:solidFill>
            <a:prstDash val="solid"/>
          </a:ln>
        </p:spPr>
      </p:sp>
      <p:sp>
        <p:nvSpPr>
          <p:cNvPr id="4" name="Text 1"/>
          <p:cNvSpPr/>
          <p:nvPr/>
        </p:nvSpPr>
        <p:spPr>
          <a:xfrm>
            <a:off x="762000" y="1524000"/>
            <a:ext cx="5080000" cy="2540000"/>
          </a:xfrm>
          <a:prstGeom prst="rect">
            <a:avLst/>
          </a:prstGeom>
          <a:noFill/>
          <a:ln/>
        </p:spPr>
        <p:txBody>
          <a:bodyPr wrap="none" lIns="0" tIns="0" rIns="0" bIns="0" rtlCol="0" anchor="ctr"/>
          <a:lstStyle/>
          <a:p>
            <a:pPr>
              <a:lnSpc>
                <a:spcPct val="100000"/>
              </a:lnSpc>
            </a:pPr>
            <a:r>
              <a:rPr lang="en-US" sz="18000" dirty="0">
                <a:solidFill>
                  <a:srgbClr val="D35400">
                    <a:alpha val="9412"/>
                  </a:srgbClr>
                </a:solidFill>
                <a:latin typeface="Liter" pitchFamily="34" charset="0"/>
                <a:ea typeface="Liter" pitchFamily="34" charset="-122"/>
                <a:cs typeface="Liter" pitchFamily="34" charset="-120"/>
              </a:rPr>
              <a:t>01</a:t>
            </a:r>
            <a:endParaRPr lang="en-US" sz="1600" dirty="0"/>
          </a:p>
        </p:txBody>
      </p:sp>
      <p:sp>
        <p:nvSpPr>
          <p:cNvPr id="5" name="Text 2"/>
          <p:cNvSpPr/>
          <p:nvPr/>
        </p:nvSpPr>
        <p:spPr>
          <a:xfrm>
            <a:off x="762000" y="3048000"/>
            <a:ext cx="1524000" cy="381000"/>
          </a:xfrm>
          <a:prstGeom prst="rect">
            <a:avLst/>
          </a:prstGeom>
          <a:noFill/>
          <a:ln/>
        </p:spPr>
        <p:txBody>
          <a:bodyPr wrap="none" lIns="0" tIns="0" rIns="0" bIns="0" rtlCol="0" anchor="ctr"/>
          <a:lstStyle/>
          <a:p>
            <a:pPr>
              <a:lnSpc>
                <a:spcPct val="120000"/>
              </a:lnSpc>
            </a:pPr>
            <a:r>
              <a:rPr lang="en-US" sz="1200" spc="200" kern="0" dirty="0">
                <a:solidFill>
                  <a:srgbClr val="D35400"/>
                </a:solidFill>
                <a:latin typeface="Liter" pitchFamily="34" charset="0"/>
                <a:ea typeface="Liter" pitchFamily="34" charset="-122"/>
                <a:cs typeface="Liter" pitchFamily="34" charset="-120"/>
              </a:rPr>
              <a:t>CHAPITRE 01</a:t>
            </a:r>
            <a:endParaRPr lang="en-US" sz="1200" dirty="0"/>
          </a:p>
        </p:txBody>
      </p:sp>
      <p:sp>
        <p:nvSpPr>
          <p:cNvPr id="6" name="Shape 3"/>
          <p:cNvSpPr/>
          <p:nvPr/>
        </p:nvSpPr>
        <p:spPr>
          <a:xfrm>
            <a:off x="762000" y="3556000"/>
            <a:ext cx="762000" cy="50800"/>
          </a:xfrm>
          <a:prstGeom prst="rect">
            <a:avLst/>
          </a:prstGeom>
          <a:solidFill>
            <a:srgbClr val="D35400"/>
          </a:solidFill>
          <a:ln/>
        </p:spPr>
      </p:sp>
      <p:sp>
        <p:nvSpPr>
          <p:cNvPr id="7" name="Text 4"/>
          <p:cNvSpPr/>
          <p:nvPr/>
        </p:nvSpPr>
        <p:spPr>
          <a:xfrm>
            <a:off x="762000" y="3810000"/>
            <a:ext cx="7620000" cy="762000"/>
          </a:xfrm>
          <a:prstGeom prst="rect">
            <a:avLst/>
          </a:prstGeom>
          <a:noFill/>
          <a:ln/>
        </p:spPr>
        <p:txBody>
          <a:bodyPr wrap="none" lIns="0" tIns="0" rIns="0" bIns="0" rtlCol="0" anchor="ctr"/>
          <a:lstStyle/>
          <a:p>
            <a:pPr>
              <a:lnSpc>
                <a:spcPct val="120000"/>
              </a:lnSpc>
            </a:pPr>
            <a:r>
              <a:rPr lang="en-US" sz="4400" spc="300" kern="0" dirty="0">
                <a:solidFill>
                  <a:srgbClr val="FFFFFF"/>
                </a:solidFill>
                <a:latin typeface="Liter" pitchFamily="34" charset="0"/>
                <a:ea typeface="Liter" pitchFamily="34" charset="-122"/>
                <a:cs typeface="Liter" pitchFamily="34" charset="-120"/>
              </a:rPr>
              <a:t>LE CONTEXTE</a:t>
            </a:r>
            <a:endParaRPr lang="en-US" sz="4800" dirty="0"/>
          </a:p>
        </p:txBody>
      </p:sp>
      <p:sp>
        <p:nvSpPr>
          <p:cNvPr id="8" name="Text 5"/>
          <p:cNvSpPr/>
          <p:nvPr/>
        </p:nvSpPr>
        <p:spPr>
          <a:xfrm>
            <a:off x="762000" y="4826000"/>
            <a:ext cx="8255000" cy="1016000"/>
          </a:xfrm>
          <a:prstGeom prst="rect">
            <a:avLst/>
          </a:prstGeom>
          <a:noFill/>
          <a:ln/>
        </p:spPr>
        <p:txBody>
          <a:bodyPr wrap="square" lIns="0" tIns="0" rIns="0" bIns="0" rtlCol="0" anchor="ctr"/>
          <a:lstStyle/>
          <a:p>
            <a:pPr>
              <a:lnSpc>
                <a:spcPct val="160000"/>
              </a:lnSpc>
            </a:pPr>
            <a:r>
              <a:rPr lang="en-US" sz="2000" dirty="0">
                <a:solidFill>
                  <a:srgbClr val="FFFFFF">
                    <a:alpha val="73333"/>
                  </a:srgbClr>
                </a:solidFill>
                <a:latin typeface="Quattrocento Sans" pitchFamily="34" charset="0"/>
                <a:ea typeface="Quattrocento Sans" pitchFamily="34" charset="-122"/>
                <a:cs typeface="Quattrocento Sans" pitchFamily="34" charset="-120"/>
              </a:rPr>
              <a:t>Le monde bascule vers le mobile. La bataille pour l'entree client digitale est deja engagee au Cameroun. Et BICEC a tout pour la gagner.</a:t>
            </a:r>
            <a:endParaRPr lang="en-US" sz="1600" dirty="0"/>
          </a:p>
        </p:txBody>
      </p:sp>
      <p:sp>
        <p:nvSpPr>
          <p:cNvPr id="9" name="Shape 6"/>
          <p:cNvSpPr/>
          <p:nvPr/>
        </p:nvSpPr>
        <p:spPr>
          <a:xfrm>
            <a:off x="0" y="8890000"/>
            <a:ext cx="16256000" cy="254000"/>
          </a:xfrm>
          <a:prstGeom prst="rect">
            <a:avLst/>
          </a:prstGeom>
          <a:solidFill>
            <a:srgbClr val="D35400"/>
          </a:solidFill>
          <a:ln/>
        </p:spPr>
      </p:sp>
    </p:spTree>
  </p:cSld>
  <p:clrMapOvr>
    <a:masterClrMapping/>
  </p:clrMapOvr>
  <p:transition>
    <p:fade/>
    <p:spd val="med"/>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0EB"/>
        </a:solidFill>
      </p:bgPr>
    </p:bg>
    <p:spTree>
      <p:nvGrpSpPr>
        <p:cNvPr id="1" name=""/>
        <p:cNvGrpSpPr/>
        <p:nvPr/>
      </p:nvGrpSpPr>
      <p:grpSpPr>
        <a:xfrm>
          <a:off x="0" y="0"/>
          <a:ext cx="0" cy="0"/>
          <a:chOff x="0" y="0"/>
          <a:chExt cx="0" cy="0"/>
        </a:xfrm>
      </p:grpSpPr>
      <p:sp>
        <p:nvSpPr>
          <p:cNvPr id="2" name="Shape 0"/>
          <p:cNvSpPr/>
          <p:nvPr/>
        </p:nvSpPr>
        <p:spPr>
          <a:xfrm>
            <a:off x="762000" y="635000"/>
            <a:ext cx="508000" cy="50800"/>
          </a:xfrm>
          <a:prstGeom prst="rect">
            <a:avLst/>
          </a:prstGeom>
          <a:solidFill>
            <a:srgbClr val="D35400"/>
          </a:solidFill>
          <a:ln/>
        </p:spPr>
      </p:sp>
      <p:sp>
        <p:nvSpPr>
          <p:cNvPr id="3" name="Text 1"/>
          <p:cNvSpPr/>
          <p:nvPr/>
        </p:nvSpPr>
        <p:spPr>
          <a:xfrm>
            <a:off x="762000" y="825500"/>
            <a:ext cx="2540000" cy="254000"/>
          </a:xfrm>
          <a:prstGeom prst="rect">
            <a:avLst/>
          </a:prstGeom>
          <a:noFill/>
          <a:ln/>
        </p:spPr>
        <p:txBody>
          <a:bodyPr wrap="none" lIns="0" tIns="0" rIns="0" bIns="0" rtlCol="0" anchor="ctr"/>
          <a:lstStyle/>
          <a:p>
            <a:pPr>
              <a:lnSpc>
                <a:spcPct val="120000"/>
              </a:lnSpc>
            </a:pPr>
            <a:r>
              <a:rPr lang="en-US" sz="1200" spc="200" kern="0" dirty="0">
                <a:solidFill>
                  <a:srgbClr val="D35400"/>
                </a:solidFill>
                <a:latin typeface="Liter" pitchFamily="34" charset="0"/>
                <a:ea typeface="Liter" pitchFamily="34" charset="-122"/>
                <a:cs typeface="Liter" pitchFamily="34" charset="-120"/>
              </a:rPr>
              <a:t>LE CONTEXTE</a:t>
            </a:r>
            <a:endParaRPr lang="en-US" sz="1200" dirty="0"/>
          </a:p>
        </p:txBody>
      </p:sp>
      <p:sp>
        <p:nvSpPr>
          <p:cNvPr id="4" name="Text 2"/>
          <p:cNvSpPr/>
          <p:nvPr/>
        </p:nvSpPr>
        <p:spPr>
          <a:xfrm>
            <a:off x="762000" y="1206500"/>
            <a:ext cx="9525000" cy="571500"/>
          </a:xfrm>
          <a:prstGeom prst="rect">
            <a:avLst/>
          </a:prstGeom>
          <a:noFill/>
          <a:ln/>
        </p:spPr>
        <p:txBody>
          <a:bodyPr wrap="none" lIns="0" tIns="0" rIns="0" bIns="0" rtlCol="0" anchor="ctr"/>
          <a:lstStyle/>
          <a:p>
            <a:pPr>
              <a:lnSpc>
                <a:spcPct val="130000"/>
              </a:lnSpc>
            </a:pPr>
            <a:r>
              <a:rPr lang="en-US" sz="3000" dirty="0">
                <a:solidFill>
                  <a:srgbClr val="1A1A1A"/>
                </a:solidFill>
                <a:latin typeface="Liter" pitchFamily="34" charset="0"/>
                <a:ea typeface="Liter" pitchFamily="34" charset="-122"/>
                <a:cs typeface="Liter" pitchFamily="34" charset="-120"/>
              </a:rPr>
              <a:t>Le KYC est le premier metre de la relation bancaire</a:t>
            </a:r>
            <a:endParaRPr lang="en-US" sz="3000" dirty="0"/>
          </a:p>
        </p:txBody>
      </p:sp>
      <p:sp>
        <p:nvSpPr>
          <p:cNvPr id="5" name="Shape 3"/>
          <p:cNvSpPr/>
          <p:nvPr/>
        </p:nvSpPr>
        <p:spPr>
          <a:xfrm>
            <a:off x="762000" y="2095500"/>
            <a:ext cx="4699000" cy="2159000"/>
          </a:xfrm>
          <a:prstGeom prst="rect">
            <a:avLst/>
          </a:prstGeom>
          <a:solidFill>
            <a:srgbClr val="FFFFFF"/>
          </a:solidFill>
          <a:ln w="12700">
            <a:solidFill>
              <a:srgbClr val="E0DCD8"/>
            </a:solidFill>
            <a:prstDash val="solid"/>
          </a:ln>
        </p:spPr>
      </p:sp>
      <p:sp>
        <p:nvSpPr>
          <p:cNvPr id="6" name="Text 4"/>
          <p:cNvSpPr/>
          <p:nvPr/>
        </p:nvSpPr>
        <p:spPr>
          <a:xfrm>
            <a:off x="1016000" y="2222500"/>
            <a:ext cx="2540000" cy="698500"/>
          </a:xfrm>
          <a:prstGeom prst="rect">
            <a:avLst/>
          </a:prstGeom>
          <a:noFill/>
          <a:ln/>
        </p:spPr>
        <p:txBody>
          <a:bodyPr wrap="none" lIns="0" tIns="0" rIns="0" bIns="0" rtlCol="0" anchor="ctr"/>
          <a:lstStyle/>
          <a:p>
            <a:pPr>
              <a:lnSpc>
                <a:spcPct val="110000"/>
              </a:lnSpc>
            </a:pPr>
            <a:r>
              <a:rPr lang="en-US" sz="5200" dirty="0">
                <a:solidFill>
                  <a:srgbClr val="D35400"/>
                </a:solidFill>
                <a:latin typeface="Liter" pitchFamily="34" charset="0"/>
                <a:ea typeface="Liter" pitchFamily="34" charset="-122"/>
                <a:cs typeface="Liter" pitchFamily="34" charset="-120"/>
              </a:rPr>
              <a:t>40%</a:t>
            </a:r>
            <a:endParaRPr lang="en-US" sz="5200" dirty="0"/>
          </a:p>
        </p:txBody>
      </p:sp>
      <p:sp>
        <p:nvSpPr>
          <p:cNvPr id="7" name="Text 5"/>
          <p:cNvSpPr/>
          <p:nvPr/>
        </p:nvSpPr>
        <p:spPr>
          <a:xfrm>
            <a:off x="1016000" y="2984500"/>
            <a:ext cx="4191000" cy="889000"/>
          </a:xfrm>
          <a:prstGeom prst="rect">
            <a:avLst/>
          </a:prstGeom>
          <a:noFill/>
          <a:ln/>
        </p:spPr>
        <p:txBody>
          <a:bodyPr wrap="square" lIns="0" tIns="0" rIns="0" bIns="0" rtlCol="0" anchor="ctr"/>
          <a:lstStyle/>
          <a:p>
            <a:pPr>
              <a:lnSpc>
                <a:spcPct val="150000"/>
              </a:lnSpc>
            </a:pPr>
            <a:r>
              <a:rPr lang="en-US" sz="1400" dirty="0">
                <a:solidFill>
                  <a:srgbClr val="1A1A1A"/>
                </a:solidFill>
                <a:latin typeface="Quattrocento Sans" pitchFamily="34" charset="0"/>
                <a:ea typeface="Quattrocento Sans" pitchFamily="34" charset="-122"/>
                <a:cs typeface="Quattrocento Sans" pitchFamily="34" charset="-120"/>
              </a:rPr>
              <a:t>des adultes epargent dans les economies en developpement en 2024, +10 pts vs 2021</a:t>
            </a:r>
            <a:endParaRPr lang="en-US" sz="1600" dirty="0"/>
          </a:p>
        </p:txBody>
      </p:sp>
      <p:sp>
        <p:nvSpPr>
          <p:cNvPr id="8" name="Text 6"/>
          <p:cNvSpPr/>
          <p:nvPr/>
        </p:nvSpPr>
        <p:spPr>
          <a:xfrm>
            <a:off x="1016000" y="3911600"/>
            <a:ext cx="4191000" cy="279400"/>
          </a:xfrm>
          <a:prstGeom prst="rect">
            <a:avLst/>
          </a:prstGeom>
          <a:noFill/>
          <a:ln/>
        </p:spPr>
        <p:txBody>
          <a:bodyPr wrap="square" lIns="0" tIns="0" rIns="0" bIns="0" rtlCol="0" anchor="ctr"/>
          <a:lstStyle/>
          <a:p>
            <a:pPr>
              <a:lnSpc>
                <a:spcPct val="140000"/>
              </a:lnSpc>
            </a:pPr>
            <a:r>
              <a:rPr lang="en-US" sz="1200" u="sng" dirty="0">
                <a:solidFill>
                  <a:srgbClr val="8A8A8A"/>
                </a:solidFill>
                <a:latin typeface="QuattrocentoSans" pitchFamily="34" charset="0"/>
                <a:ea typeface="QuattrocentoSans" pitchFamily="34" charset="-122"/>
                <a:cs typeface="QuattrocentoSans" pitchFamily="34" charset="-120"/>
                <a:hlinkClick r:id="rId1" tooltip="" action="ppaction://hlinkfile">
                  <a:extLst>
                    <a:ext uri="{A12FA001-AC4F-418D-AE19-62706E023703}">
                      <ahyp:hlinkClr xmlns:ahyp="http://schemas.microsoft.com/office/drawing/2018/hyperlinkcolor" val="tx"/>
                    </a:ext>
                  </a:extLst>
                </a:hlinkClick>
              </a:rPr>
              <a:t>Source : World Bank Global Findex 2025</a:t>
            </a:r>
            <a:endParaRPr lang="en-US" sz="1200" dirty="0"/>
          </a:p>
        </p:txBody>
      </p:sp>
      <p:sp>
        <p:nvSpPr>
          <p:cNvPr id="9" name="Shape 7"/>
          <p:cNvSpPr/>
          <p:nvPr/>
        </p:nvSpPr>
        <p:spPr>
          <a:xfrm>
            <a:off x="5778500" y="2095500"/>
            <a:ext cx="4699000" cy="2159000"/>
          </a:xfrm>
          <a:prstGeom prst="rect">
            <a:avLst/>
          </a:prstGeom>
          <a:solidFill>
            <a:srgbClr val="FFFFFF"/>
          </a:solidFill>
          <a:ln w="12700">
            <a:solidFill>
              <a:srgbClr val="E0DCD8"/>
            </a:solidFill>
            <a:prstDash val="solid"/>
          </a:ln>
        </p:spPr>
      </p:sp>
      <p:sp>
        <p:nvSpPr>
          <p:cNvPr id="10" name="Text 8"/>
          <p:cNvSpPr/>
          <p:nvPr/>
        </p:nvSpPr>
        <p:spPr>
          <a:xfrm>
            <a:off x="6032500" y="2222500"/>
            <a:ext cx="3175000" cy="698500"/>
          </a:xfrm>
          <a:prstGeom prst="rect">
            <a:avLst/>
          </a:prstGeom>
          <a:noFill/>
          <a:ln/>
        </p:spPr>
        <p:txBody>
          <a:bodyPr wrap="none" lIns="0" tIns="0" rIns="0" bIns="0" rtlCol="0" anchor="ctr"/>
          <a:lstStyle/>
          <a:p>
            <a:pPr>
              <a:lnSpc>
                <a:spcPct val="110000"/>
              </a:lnSpc>
            </a:pPr>
            <a:r>
              <a:rPr lang="en-US" sz="5200" dirty="0">
                <a:solidFill>
                  <a:srgbClr val="D35400"/>
                </a:solidFill>
                <a:latin typeface="Liter" pitchFamily="34" charset="0"/>
                <a:ea typeface="Liter" pitchFamily="34" charset="-122"/>
                <a:cs typeface="Liter" pitchFamily="34" charset="-120"/>
              </a:rPr>
              <a:t>2 000B+</a:t>
            </a:r>
            <a:endParaRPr lang="en-US" sz="5200" dirty="0"/>
          </a:p>
        </p:txBody>
      </p:sp>
      <p:sp>
        <p:nvSpPr>
          <p:cNvPr id="11" name="Text 9"/>
          <p:cNvSpPr/>
          <p:nvPr/>
        </p:nvSpPr>
        <p:spPr>
          <a:xfrm>
            <a:off x="6032500" y="2984500"/>
            <a:ext cx="4191000" cy="889000"/>
          </a:xfrm>
          <a:prstGeom prst="rect">
            <a:avLst/>
          </a:prstGeom>
          <a:noFill/>
          <a:ln/>
        </p:spPr>
        <p:txBody>
          <a:bodyPr wrap="square" lIns="0" tIns="0" rIns="0" bIns="0" rtlCol="0" anchor="ctr"/>
          <a:lstStyle/>
          <a:p>
            <a:pPr>
              <a:lnSpc>
                <a:spcPct val="150000"/>
              </a:lnSpc>
            </a:pPr>
            <a:r>
              <a:rPr lang="en-US" sz="1400" dirty="0">
                <a:solidFill>
                  <a:srgbClr val="1A1A1A"/>
                </a:solidFill>
                <a:latin typeface="Quattrocento Sans" pitchFamily="34" charset="0"/>
                <a:ea typeface="Quattrocento Sans" pitchFamily="34" charset="-122"/>
                <a:cs typeface="Quattrocento Sans" pitchFamily="34" charset="-120"/>
              </a:rPr>
              <a:t>USD transites via mobile money en 2025, 2,3 milliards de comptes enregistres</a:t>
            </a:r>
            <a:endParaRPr lang="en-US" sz="1600" dirty="0"/>
          </a:p>
        </p:txBody>
      </p:sp>
      <p:sp>
        <p:nvSpPr>
          <p:cNvPr id="12" name="Text 10"/>
          <p:cNvSpPr/>
          <p:nvPr/>
        </p:nvSpPr>
        <p:spPr>
          <a:xfrm>
            <a:off x="6032500" y="3911600"/>
            <a:ext cx="4191000" cy="279400"/>
          </a:xfrm>
          <a:prstGeom prst="rect">
            <a:avLst/>
          </a:prstGeom>
          <a:noFill/>
          <a:ln/>
        </p:spPr>
        <p:txBody>
          <a:bodyPr wrap="square" lIns="0" tIns="0" rIns="0" bIns="0" rtlCol="0" anchor="ctr"/>
          <a:lstStyle/>
          <a:p>
            <a:pPr>
              <a:lnSpc>
                <a:spcPct val="140000"/>
              </a:lnSpc>
            </a:pPr>
            <a:r>
              <a:rPr lang="en-US" sz="1200" u="sng" dirty="0">
                <a:solidFill>
                  <a:srgbClr val="8A8A8A"/>
                </a:solidFill>
                <a:latin typeface="QuattrocentoSans" pitchFamily="34" charset="0"/>
                <a:ea typeface="QuattrocentoSans" pitchFamily="34" charset="-122"/>
                <a:cs typeface="QuattrocentoSans" pitchFamily="34" charset="-120"/>
                <a:hlinkClick r:id="rId2" tooltip="" action="ppaction://hlinkfile">
                  <a:extLst>
                    <a:ext uri="{A12FA001-AC4F-418D-AE19-62706E023703}">
                      <ahyp:hlinkClr xmlns:ahyp="http://schemas.microsoft.com/office/drawing/2018/hyperlinkcolor" val="tx"/>
                    </a:ext>
                  </a:extLst>
                </a:hlinkClick>
              </a:rPr>
              <a:t>Source : GSMA Mobile Money 2026</a:t>
            </a:r>
            <a:endParaRPr lang="en-US" sz="1200" dirty="0"/>
          </a:p>
        </p:txBody>
      </p:sp>
      <p:sp>
        <p:nvSpPr>
          <p:cNvPr id="13" name="Shape 11"/>
          <p:cNvSpPr/>
          <p:nvPr/>
        </p:nvSpPr>
        <p:spPr>
          <a:xfrm>
            <a:off x="10795000" y="2095500"/>
            <a:ext cx="4699000" cy="2159000"/>
          </a:xfrm>
          <a:prstGeom prst="rect">
            <a:avLst/>
          </a:prstGeom>
          <a:solidFill>
            <a:srgbClr val="FFFFFF"/>
          </a:solidFill>
          <a:ln w="12700">
            <a:solidFill>
              <a:srgbClr val="E0DCD8"/>
            </a:solidFill>
            <a:prstDash val="solid"/>
          </a:ln>
        </p:spPr>
      </p:sp>
      <p:sp>
        <p:nvSpPr>
          <p:cNvPr id="14" name="Shape 12"/>
          <p:cNvSpPr/>
          <p:nvPr/>
        </p:nvSpPr>
        <p:spPr>
          <a:xfrm>
            <a:off x="11106150" y="2286000"/>
            <a:ext cx="342900" cy="457200"/>
          </a:xfrm>
          <a:custGeom>
            <a:avLst/>
            <a:gdLst/>
            <a:ahLst/>
            <a:cxnLst/>
            <a:rect l="l" t="t" r="r" b="b"/>
            <a:pathLst>
              <a:path w="342900" h="457200">
                <a:moveTo>
                  <a:pt x="14288" y="57150"/>
                </a:moveTo>
                <a:cubicBezTo>
                  <a:pt x="14288" y="25628"/>
                  <a:pt x="39916" y="0"/>
                  <a:pt x="71438" y="0"/>
                </a:cubicBezTo>
                <a:lnTo>
                  <a:pt x="271463" y="0"/>
                </a:lnTo>
                <a:cubicBezTo>
                  <a:pt x="302984" y="0"/>
                  <a:pt x="328613" y="25628"/>
                  <a:pt x="328613" y="57150"/>
                </a:cubicBezTo>
                <a:lnTo>
                  <a:pt x="328613" y="400050"/>
                </a:lnTo>
                <a:cubicBezTo>
                  <a:pt x="328613" y="431572"/>
                  <a:pt x="302984" y="457200"/>
                  <a:pt x="271463" y="457200"/>
                </a:cubicBezTo>
                <a:lnTo>
                  <a:pt x="71438" y="457200"/>
                </a:lnTo>
                <a:cubicBezTo>
                  <a:pt x="39916" y="457200"/>
                  <a:pt x="14288" y="431572"/>
                  <a:pt x="14288" y="400050"/>
                </a:cubicBezTo>
                <a:lnTo>
                  <a:pt x="14288" y="57150"/>
                </a:lnTo>
                <a:close/>
                <a:moveTo>
                  <a:pt x="71438" y="57150"/>
                </a:moveTo>
                <a:lnTo>
                  <a:pt x="71438" y="328613"/>
                </a:lnTo>
                <a:lnTo>
                  <a:pt x="271463" y="328613"/>
                </a:lnTo>
                <a:lnTo>
                  <a:pt x="271463" y="57150"/>
                </a:lnTo>
                <a:lnTo>
                  <a:pt x="71438" y="57150"/>
                </a:lnTo>
                <a:close/>
                <a:moveTo>
                  <a:pt x="171450" y="421481"/>
                </a:moveTo>
                <a:cubicBezTo>
                  <a:pt x="187256" y="421481"/>
                  <a:pt x="200025" y="408712"/>
                  <a:pt x="200025" y="392906"/>
                </a:cubicBezTo>
                <a:cubicBezTo>
                  <a:pt x="200025" y="377101"/>
                  <a:pt x="187256" y="364331"/>
                  <a:pt x="171450" y="364331"/>
                </a:cubicBezTo>
                <a:cubicBezTo>
                  <a:pt x="155644" y="364331"/>
                  <a:pt x="142875" y="377101"/>
                  <a:pt x="142875" y="392906"/>
                </a:cubicBezTo>
                <a:cubicBezTo>
                  <a:pt x="142875" y="408712"/>
                  <a:pt x="155644" y="421481"/>
                  <a:pt x="171450" y="421481"/>
                </a:cubicBezTo>
                <a:close/>
              </a:path>
            </a:pathLst>
          </a:custGeom>
          <a:solidFill>
            <a:srgbClr val="D35400"/>
          </a:solidFill>
          <a:ln/>
        </p:spPr>
      </p:sp>
      <p:sp>
        <p:nvSpPr>
          <p:cNvPr id="15" name="Text 13"/>
          <p:cNvSpPr/>
          <p:nvPr/>
        </p:nvSpPr>
        <p:spPr>
          <a:xfrm>
            <a:off x="11049000" y="2857500"/>
            <a:ext cx="4191000" cy="1143000"/>
          </a:xfrm>
          <a:prstGeom prst="rect">
            <a:avLst/>
          </a:prstGeom>
          <a:noFill/>
          <a:ln/>
        </p:spPr>
        <p:txBody>
          <a:bodyPr wrap="square" lIns="0" tIns="0" rIns="0" bIns="0" rtlCol="0" anchor="ctr"/>
          <a:lstStyle/>
          <a:p>
            <a:pPr>
              <a:lnSpc>
                <a:spcPct val="150000"/>
              </a:lnSpc>
            </a:pPr>
            <a:r>
              <a:rPr lang="en-US" sz="1400" dirty="0">
                <a:solidFill>
                  <a:srgbClr val="1A1A1A"/>
                </a:solidFill>
                <a:latin typeface="Quattrocento Sans" pitchFamily="34" charset="0"/>
                <a:ea typeface="Quattrocento Sans" pitchFamily="34" charset="-122"/>
                <a:cs typeface="Quattrocento Sans" pitchFamily="34" charset="-120"/>
              </a:rPr>
              <a:t>Le mobile n'est plus un canal secondaire. C'est une infrastructure d'acquisition cliente.</a:t>
            </a:r>
            <a:endParaRPr lang="en-US" sz="1600" dirty="0"/>
          </a:p>
        </p:txBody>
      </p:sp>
      <p:sp>
        <p:nvSpPr>
          <p:cNvPr id="16" name="Text 14"/>
          <p:cNvSpPr/>
          <p:nvPr/>
        </p:nvSpPr>
        <p:spPr>
          <a:xfrm>
            <a:off x="762000" y="4508500"/>
            <a:ext cx="6350000" cy="381000"/>
          </a:xfrm>
          <a:prstGeom prst="rect">
            <a:avLst/>
          </a:prstGeom>
          <a:noFill/>
          <a:ln/>
        </p:spPr>
        <p:txBody>
          <a:bodyPr wrap="none" lIns="0" tIns="0" rIns="0" bIns="0" rtlCol="0" anchor="ctr"/>
          <a:lstStyle/>
          <a:p>
            <a:pPr>
              <a:lnSpc>
                <a:spcPct val="100000"/>
              </a:lnSpc>
            </a:pPr>
            <a:r>
              <a:rPr lang="en-US" sz="1800" dirty="0">
                <a:solidFill>
                  <a:srgbClr val="5D2E18"/>
                </a:solidFill>
                <a:latin typeface="Liter" pitchFamily="34" charset="0"/>
                <a:ea typeface="Liter" pitchFamily="34" charset="-122"/>
                <a:cs typeface="Liter" pitchFamily="34" charset="-120"/>
              </a:rPr>
              <a:t>LA CONCURRENCE DIGITALE AU CAMEROUN</a:t>
            </a:r>
            <a:endParaRPr lang="en-US" sz="1600" dirty="0"/>
          </a:p>
        </p:txBody>
      </p:sp>
      <p:sp>
        <p:nvSpPr>
          <p:cNvPr id="17" name="Shape 15"/>
          <p:cNvSpPr/>
          <p:nvPr/>
        </p:nvSpPr>
        <p:spPr>
          <a:xfrm>
            <a:off x="762000" y="4953000"/>
            <a:ext cx="14732000" cy="12700"/>
          </a:xfrm>
          <a:prstGeom prst="rect">
            <a:avLst/>
          </a:prstGeom>
          <a:solidFill>
            <a:srgbClr val="E0DCD8"/>
          </a:solidFill>
          <a:ln/>
        </p:spPr>
      </p:sp>
      <p:sp>
        <p:nvSpPr>
          <p:cNvPr id="18" name="Shape 16"/>
          <p:cNvSpPr/>
          <p:nvPr/>
        </p:nvSpPr>
        <p:spPr>
          <a:xfrm>
            <a:off x="762000" y="5207000"/>
            <a:ext cx="304800" cy="304800"/>
          </a:xfrm>
          <a:custGeom>
            <a:avLst/>
            <a:gdLst/>
            <a:ahLst/>
            <a:cxnLst/>
            <a:rect l="l" t="t" r="r" b="b"/>
            <a:pathLst>
              <a:path w="304800" h="304800">
                <a:moveTo>
                  <a:pt x="161865" y="12025"/>
                </a:moveTo>
                <a:cubicBezTo>
                  <a:pt x="156031" y="8692"/>
                  <a:pt x="148828" y="8692"/>
                  <a:pt x="142935" y="12025"/>
                </a:cubicBezTo>
                <a:lnTo>
                  <a:pt x="9585" y="88225"/>
                </a:lnTo>
                <a:cubicBezTo>
                  <a:pt x="2084" y="92512"/>
                  <a:pt x="-1607" y="101322"/>
                  <a:pt x="595" y="109657"/>
                </a:cubicBezTo>
                <a:cubicBezTo>
                  <a:pt x="2798" y="117991"/>
                  <a:pt x="10418" y="123825"/>
                  <a:pt x="19050" y="123825"/>
                </a:cubicBezTo>
                <a:lnTo>
                  <a:pt x="38100" y="123825"/>
                </a:lnTo>
                <a:lnTo>
                  <a:pt x="38100" y="247650"/>
                </a:lnTo>
                <a:lnTo>
                  <a:pt x="38100" y="247650"/>
                </a:lnTo>
                <a:lnTo>
                  <a:pt x="7620" y="270510"/>
                </a:lnTo>
                <a:cubicBezTo>
                  <a:pt x="2798" y="274082"/>
                  <a:pt x="0" y="279737"/>
                  <a:pt x="0" y="285750"/>
                </a:cubicBezTo>
                <a:cubicBezTo>
                  <a:pt x="0" y="296287"/>
                  <a:pt x="8513" y="304800"/>
                  <a:pt x="19050" y="304800"/>
                </a:cubicBezTo>
                <a:lnTo>
                  <a:pt x="285750" y="304800"/>
                </a:lnTo>
                <a:cubicBezTo>
                  <a:pt x="296287" y="304800"/>
                  <a:pt x="304800" y="296287"/>
                  <a:pt x="304800" y="285750"/>
                </a:cubicBezTo>
                <a:cubicBezTo>
                  <a:pt x="304800" y="279737"/>
                  <a:pt x="302002" y="274082"/>
                  <a:pt x="297180" y="270510"/>
                </a:cubicBezTo>
                <a:lnTo>
                  <a:pt x="266700" y="247650"/>
                </a:lnTo>
                <a:lnTo>
                  <a:pt x="266700" y="123825"/>
                </a:lnTo>
                <a:lnTo>
                  <a:pt x="285750" y="123825"/>
                </a:lnTo>
                <a:cubicBezTo>
                  <a:pt x="294382" y="123825"/>
                  <a:pt x="301943" y="117991"/>
                  <a:pt x="304145" y="109657"/>
                </a:cubicBezTo>
                <a:cubicBezTo>
                  <a:pt x="306348" y="101322"/>
                  <a:pt x="302657" y="92512"/>
                  <a:pt x="295156" y="88225"/>
                </a:cubicBezTo>
                <a:lnTo>
                  <a:pt x="161806" y="12025"/>
                </a:lnTo>
                <a:close/>
                <a:moveTo>
                  <a:pt x="238125" y="123825"/>
                </a:moveTo>
                <a:lnTo>
                  <a:pt x="238125" y="247650"/>
                </a:lnTo>
                <a:lnTo>
                  <a:pt x="200025" y="247650"/>
                </a:lnTo>
                <a:lnTo>
                  <a:pt x="200025" y="123825"/>
                </a:lnTo>
                <a:lnTo>
                  <a:pt x="238125" y="123825"/>
                </a:lnTo>
                <a:close/>
                <a:moveTo>
                  <a:pt x="171450" y="123825"/>
                </a:moveTo>
                <a:lnTo>
                  <a:pt x="171450" y="247650"/>
                </a:lnTo>
                <a:lnTo>
                  <a:pt x="133350" y="247650"/>
                </a:lnTo>
                <a:lnTo>
                  <a:pt x="133350" y="123825"/>
                </a:lnTo>
                <a:lnTo>
                  <a:pt x="171450" y="123825"/>
                </a:lnTo>
                <a:close/>
                <a:moveTo>
                  <a:pt x="104775" y="123825"/>
                </a:moveTo>
                <a:lnTo>
                  <a:pt x="104775" y="247650"/>
                </a:lnTo>
                <a:lnTo>
                  <a:pt x="66675" y="247650"/>
                </a:lnTo>
                <a:lnTo>
                  <a:pt x="66675" y="123825"/>
                </a:lnTo>
                <a:lnTo>
                  <a:pt x="104775" y="123825"/>
                </a:lnTo>
                <a:close/>
                <a:moveTo>
                  <a:pt x="152400" y="57150"/>
                </a:moveTo>
                <a:cubicBezTo>
                  <a:pt x="162914" y="57150"/>
                  <a:pt x="171450" y="65686"/>
                  <a:pt x="171450" y="76200"/>
                </a:cubicBezTo>
                <a:cubicBezTo>
                  <a:pt x="171450" y="86714"/>
                  <a:pt x="162914" y="95250"/>
                  <a:pt x="152400" y="95250"/>
                </a:cubicBezTo>
                <a:cubicBezTo>
                  <a:pt x="141886" y="95250"/>
                  <a:pt x="133350" y="86714"/>
                  <a:pt x="133350" y="76200"/>
                </a:cubicBezTo>
                <a:cubicBezTo>
                  <a:pt x="133350" y="65686"/>
                  <a:pt x="141886" y="57150"/>
                  <a:pt x="152400" y="57150"/>
                </a:cubicBezTo>
                <a:close/>
              </a:path>
            </a:pathLst>
          </a:custGeom>
          <a:solidFill>
            <a:srgbClr val="D35400"/>
          </a:solidFill>
          <a:ln/>
        </p:spPr>
      </p:sp>
      <p:sp>
        <p:nvSpPr>
          <p:cNvPr id="19" name="Text 17"/>
          <p:cNvSpPr/>
          <p:nvPr/>
        </p:nvSpPr>
        <p:spPr>
          <a:xfrm>
            <a:off x="1206500" y="5143500"/>
            <a:ext cx="3175000" cy="762000"/>
          </a:xfrm>
          <a:prstGeom prst="rect">
            <a:avLst/>
          </a:prstGeom>
          <a:noFill/>
          <a:ln/>
        </p:spPr>
        <p:txBody>
          <a:bodyPr wrap="square" lIns="0" tIns="0" rIns="0" bIns="0" rtlCol="0" anchor="ctr"/>
          <a:lstStyle/>
          <a:p>
            <a:pPr>
              <a:lnSpc>
                <a:spcPct val="140000"/>
              </a:lnSpc>
            </a:pPr>
            <a:r>
              <a:rPr lang="en-US" sz="1400" b="1" dirty="0">
                <a:solidFill>
                  <a:srgbClr val="1A1A1A"/>
                </a:solidFill>
                <a:latin typeface="Quattrocento Sans" pitchFamily="34" charset="0"/>
                <a:ea typeface="Quattrocento Sans" pitchFamily="34" charset="-122"/>
                <a:cs typeface="Quattrocento Sans" pitchFamily="34" charset="-120"/>
              </a:rPr>
              <a:t>Neero / Ecobank</a:t>
            </a:r>
            <a:endParaRPr lang="en-US" sz="1600" dirty="0"/>
          </a:p>
          <a:p>
            <a:pPr>
              <a:lnSpc>
                <a:spcPct val="140000"/>
              </a:lnSpc>
            </a:pPr>
            <a:r>
              <a:rPr lang="en-US" sz="1400" dirty="0">
                <a:solidFill>
                  <a:srgbClr val="8A8A8A"/>
                </a:solidFill>
                <a:latin typeface="Quattrocento Sans" pitchFamily="34" charset="0"/>
                <a:ea typeface="Quattrocento Sans" pitchFamily="34" charset="-122"/>
                <a:cs typeface="Quattrocento Sans" pitchFamily="34" charset="-120"/>
              </a:rPr>
              <a:t>Ouverture Xpress en minutes</a:t>
            </a:r>
            <a:endParaRPr lang="en-US" sz="1600" dirty="0"/>
          </a:p>
        </p:txBody>
      </p:sp>
      <p:sp>
        <p:nvSpPr>
          <p:cNvPr id="20" name="Shape 18"/>
          <p:cNvSpPr/>
          <p:nvPr/>
        </p:nvSpPr>
        <p:spPr>
          <a:xfrm>
            <a:off x="4826000" y="5207000"/>
            <a:ext cx="304800" cy="304800"/>
          </a:xfrm>
          <a:custGeom>
            <a:avLst/>
            <a:gdLst/>
            <a:ahLst/>
            <a:cxnLst/>
            <a:rect l="l" t="t" r="r" b="b"/>
            <a:pathLst>
              <a:path w="304800" h="304800">
                <a:moveTo>
                  <a:pt x="38100" y="19050"/>
                </a:moveTo>
                <a:cubicBezTo>
                  <a:pt x="17085" y="19050"/>
                  <a:pt x="0" y="36135"/>
                  <a:pt x="0" y="57150"/>
                </a:cubicBezTo>
                <a:lnTo>
                  <a:pt x="0" y="228600"/>
                </a:lnTo>
                <a:cubicBezTo>
                  <a:pt x="0" y="249615"/>
                  <a:pt x="17085" y="266700"/>
                  <a:pt x="38100" y="266700"/>
                </a:cubicBezTo>
                <a:lnTo>
                  <a:pt x="266700" y="266700"/>
                </a:lnTo>
                <a:cubicBezTo>
                  <a:pt x="287715" y="266700"/>
                  <a:pt x="304800" y="249615"/>
                  <a:pt x="304800" y="228600"/>
                </a:cubicBezTo>
                <a:lnTo>
                  <a:pt x="304800" y="114300"/>
                </a:lnTo>
                <a:cubicBezTo>
                  <a:pt x="304800" y="93285"/>
                  <a:pt x="287715" y="76200"/>
                  <a:pt x="266700" y="76200"/>
                </a:cubicBezTo>
                <a:lnTo>
                  <a:pt x="42863" y="76200"/>
                </a:lnTo>
                <a:cubicBezTo>
                  <a:pt x="34945" y="76200"/>
                  <a:pt x="28575" y="69830"/>
                  <a:pt x="28575" y="61912"/>
                </a:cubicBezTo>
                <a:cubicBezTo>
                  <a:pt x="28575" y="53995"/>
                  <a:pt x="34945" y="47625"/>
                  <a:pt x="42863" y="47625"/>
                </a:cubicBezTo>
                <a:lnTo>
                  <a:pt x="271463" y="47625"/>
                </a:lnTo>
                <a:cubicBezTo>
                  <a:pt x="279380" y="47625"/>
                  <a:pt x="285750" y="41255"/>
                  <a:pt x="285750" y="33338"/>
                </a:cubicBezTo>
                <a:cubicBezTo>
                  <a:pt x="285750" y="25420"/>
                  <a:pt x="279380" y="19050"/>
                  <a:pt x="271463" y="19050"/>
                </a:cubicBezTo>
                <a:lnTo>
                  <a:pt x="38100" y="19050"/>
                </a:lnTo>
                <a:close/>
                <a:moveTo>
                  <a:pt x="247650" y="152400"/>
                </a:moveTo>
                <a:cubicBezTo>
                  <a:pt x="258164" y="152400"/>
                  <a:pt x="266700" y="160936"/>
                  <a:pt x="266700" y="171450"/>
                </a:cubicBezTo>
                <a:cubicBezTo>
                  <a:pt x="266700" y="181964"/>
                  <a:pt x="258164" y="190500"/>
                  <a:pt x="247650" y="190500"/>
                </a:cubicBezTo>
                <a:cubicBezTo>
                  <a:pt x="237136" y="190500"/>
                  <a:pt x="228600" y="181964"/>
                  <a:pt x="228600" y="171450"/>
                </a:cubicBezTo>
                <a:cubicBezTo>
                  <a:pt x="228600" y="160936"/>
                  <a:pt x="237136" y="152400"/>
                  <a:pt x="247650" y="152400"/>
                </a:cubicBezTo>
                <a:close/>
              </a:path>
            </a:pathLst>
          </a:custGeom>
          <a:solidFill>
            <a:srgbClr val="D35400"/>
          </a:solidFill>
          <a:ln/>
        </p:spPr>
      </p:sp>
      <p:sp>
        <p:nvSpPr>
          <p:cNvPr id="21" name="Text 19"/>
          <p:cNvSpPr/>
          <p:nvPr/>
        </p:nvSpPr>
        <p:spPr>
          <a:xfrm>
            <a:off x="5270500" y="5143500"/>
            <a:ext cx="3175000" cy="762000"/>
          </a:xfrm>
          <a:prstGeom prst="rect">
            <a:avLst/>
          </a:prstGeom>
          <a:noFill/>
          <a:ln/>
        </p:spPr>
        <p:txBody>
          <a:bodyPr wrap="square" lIns="0" tIns="0" rIns="0" bIns="0" rtlCol="0" anchor="ctr"/>
          <a:lstStyle/>
          <a:p>
            <a:pPr>
              <a:lnSpc>
                <a:spcPct val="140000"/>
              </a:lnSpc>
            </a:pPr>
            <a:r>
              <a:rPr lang="en-US" sz="1400" b="1" dirty="0">
                <a:solidFill>
                  <a:srgbClr val="1A1A1A"/>
                </a:solidFill>
                <a:latin typeface="Quattrocento Sans" pitchFamily="34" charset="0"/>
                <a:ea typeface="Quattrocento Sans" pitchFamily="34" charset="-122"/>
                <a:cs typeface="Quattrocento Sans" pitchFamily="34" charset="-120"/>
              </a:rPr>
              <a:t>Orange Money</a:t>
            </a:r>
            <a:endParaRPr lang="en-US" sz="1600" dirty="0"/>
          </a:p>
          <a:p>
            <a:pPr>
              <a:lnSpc>
                <a:spcPct val="140000"/>
              </a:lnSpc>
            </a:pPr>
            <a:r>
              <a:rPr lang="en-US" sz="1400" dirty="0">
                <a:solidFill>
                  <a:srgbClr val="8A8A8A"/>
                </a:solidFill>
                <a:latin typeface="Quattrocento Sans" pitchFamily="34" charset="0"/>
                <a:ea typeface="Quattrocento Sans" pitchFamily="34" charset="-122"/>
                <a:cs typeface="Quattrocento Sans" pitchFamily="34" charset="-120"/>
              </a:rPr>
              <a:t>Onboarding + video agent</a:t>
            </a:r>
            <a:endParaRPr lang="en-US" sz="1600" dirty="0"/>
          </a:p>
        </p:txBody>
      </p:sp>
      <p:sp>
        <p:nvSpPr>
          <p:cNvPr id="22" name="Shape 20"/>
          <p:cNvSpPr/>
          <p:nvPr/>
        </p:nvSpPr>
        <p:spPr>
          <a:xfrm>
            <a:off x="8890000" y="5207000"/>
            <a:ext cx="304800" cy="304800"/>
          </a:xfrm>
          <a:custGeom>
            <a:avLst/>
            <a:gdLst/>
            <a:ahLst/>
            <a:cxnLst/>
            <a:rect l="l" t="t" r="r" b="b"/>
            <a:pathLst>
              <a:path w="304800" h="304800">
                <a:moveTo>
                  <a:pt x="0" y="76200"/>
                </a:moveTo>
                <a:lnTo>
                  <a:pt x="0" y="95250"/>
                </a:lnTo>
                <a:lnTo>
                  <a:pt x="304800" y="95250"/>
                </a:lnTo>
                <a:lnTo>
                  <a:pt x="304800" y="76200"/>
                </a:lnTo>
                <a:cubicBezTo>
                  <a:pt x="304800" y="55185"/>
                  <a:pt x="287715" y="38100"/>
                  <a:pt x="266700" y="38100"/>
                </a:cubicBezTo>
                <a:lnTo>
                  <a:pt x="38100" y="38100"/>
                </a:lnTo>
                <a:cubicBezTo>
                  <a:pt x="17085" y="38100"/>
                  <a:pt x="0" y="55185"/>
                  <a:pt x="0" y="76200"/>
                </a:cubicBezTo>
                <a:close/>
                <a:moveTo>
                  <a:pt x="0" y="123825"/>
                </a:moveTo>
                <a:lnTo>
                  <a:pt x="0" y="228600"/>
                </a:lnTo>
                <a:cubicBezTo>
                  <a:pt x="0" y="249615"/>
                  <a:pt x="17085" y="266700"/>
                  <a:pt x="38100" y="266700"/>
                </a:cubicBezTo>
                <a:lnTo>
                  <a:pt x="266700" y="266700"/>
                </a:lnTo>
                <a:cubicBezTo>
                  <a:pt x="287715" y="266700"/>
                  <a:pt x="304800" y="249615"/>
                  <a:pt x="304800" y="228600"/>
                </a:cubicBezTo>
                <a:lnTo>
                  <a:pt x="304800" y="123825"/>
                </a:lnTo>
                <a:lnTo>
                  <a:pt x="0" y="123825"/>
                </a:lnTo>
                <a:close/>
                <a:moveTo>
                  <a:pt x="38100" y="214313"/>
                </a:moveTo>
                <a:cubicBezTo>
                  <a:pt x="38100" y="206395"/>
                  <a:pt x="44470" y="200025"/>
                  <a:pt x="52388" y="200025"/>
                </a:cubicBezTo>
                <a:lnTo>
                  <a:pt x="80962" y="200025"/>
                </a:lnTo>
                <a:cubicBezTo>
                  <a:pt x="88880" y="200025"/>
                  <a:pt x="95250" y="206395"/>
                  <a:pt x="95250" y="214313"/>
                </a:cubicBezTo>
                <a:cubicBezTo>
                  <a:pt x="95250" y="222230"/>
                  <a:pt x="88880" y="228600"/>
                  <a:pt x="80962" y="228600"/>
                </a:cubicBezTo>
                <a:lnTo>
                  <a:pt x="52388" y="228600"/>
                </a:lnTo>
                <a:cubicBezTo>
                  <a:pt x="44470" y="228600"/>
                  <a:pt x="38100" y="222230"/>
                  <a:pt x="38100" y="214313"/>
                </a:cubicBezTo>
                <a:close/>
                <a:moveTo>
                  <a:pt x="123825" y="214313"/>
                </a:moveTo>
                <a:cubicBezTo>
                  <a:pt x="123825" y="206395"/>
                  <a:pt x="130195" y="200025"/>
                  <a:pt x="138113" y="200025"/>
                </a:cubicBezTo>
                <a:lnTo>
                  <a:pt x="176212" y="200025"/>
                </a:lnTo>
                <a:cubicBezTo>
                  <a:pt x="184130" y="200025"/>
                  <a:pt x="190500" y="206395"/>
                  <a:pt x="190500" y="214313"/>
                </a:cubicBezTo>
                <a:cubicBezTo>
                  <a:pt x="190500" y="222230"/>
                  <a:pt x="184130" y="228600"/>
                  <a:pt x="176212" y="228600"/>
                </a:cubicBezTo>
                <a:lnTo>
                  <a:pt x="138113" y="228600"/>
                </a:lnTo>
                <a:cubicBezTo>
                  <a:pt x="130195" y="228600"/>
                  <a:pt x="123825" y="222230"/>
                  <a:pt x="123825" y="214313"/>
                </a:cubicBezTo>
                <a:close/>
              </a:path>
            </a:pathLst>
          </a:custGeom>
          <a:solidFill>
            <a:srgbClr val="D35400"/>
          </a:solidFill>
          <a:ln/>
        </p:spPr>
      </p:sp>
      <p:sp>
        <p:nvSpPr>
          <p:cNvPr id="23" name="Text 21"/>
          <p:cNvSpPr/>
          <p:nvPr/>
        </p:nvSpPr>
        <p:spPr>
          <a:xfrm>
            <a:off x="9334500" y="5143500"/>
            <a:ext cx="3175000" cy="762000"/>
          </a:xfrm>
          <a:prstGeom prst="rect">
            <a:avLst/>
          </a:prstGeom>
          <a:noFill/>
          <a:ln/>
        </p:spPr>
        <p:txBody>
          <a:bodyPr wrap="square" lIns="0" tIns="0" rIns="0" bIns="0" rtlCol="0" anchor="ctr"/>
          <a:lstStyle/>
          <a:p>
            <a:pPr>
              <a:lnSpc>
                <a:spcPct val="140000"/>
              </a:lnSpc>
            </a:pPr>
            <a:r>
              <a:rPr lang="en-US" sz="1400" b="1" dirty="0">
                <a:solidFill>
                  <a:srgbClr val="1A1A1A"/>
                </a:solidFill>
                <a:latin typeface="Quattrocento Sans" pitchFamily="34" charset="0"/>
                <a:ea typeface="Quattrocento Sans" pitchFamily="34" charset="-122"/>
                <a:cs typeface="Quattrocento Sans" pitchFamily="34" charset="-120"/>
              </a:rPr>
              <a:t>UBA M2U Wallet</a:t>
            </a:r>
            <a:endParaRPr lang="en-US" sz="1600" dirty="0"/>
          </a:p>
          <a:p>
            <a:pPr>
              <a:lnSpc>
                <a:spcPct val="140000"/>
              </a:lnSpc>
            </a:pPr>
            <a:r>
              <a:rPr lang="en-US" sz="1400" dirty="0">
                <a:solidFill>
                  <a:srgbClr val="8A8A8A"/>
                </a:solidFill>
                <a:latin typeface="Quattrocento Sans" pitchFamily="34" charset="0"/>
                <a:ea typeface="Quattrocento Sans" pitchFamily="34" charset="-122"/>
                <a:cs typeface="Quattrocento Sans" pitchFamily="34" charset="-120"/>
              </a:rPr>
              <a:t>Portefeuille GIMAC</a:t>
            </a:r>
            <a:endParaRPr lang="en-US" sz="1600" dirty="0"/>
          </a:p>
        </p:txBody>
      </p:sp>
      <p:sp>
        <p:nvSpPr>
          <p:cNvPr id="24" name="Shape 22"/>
          <p:cNvSpPr/>
          <p:nvPr/>
        </p:nvSpPr>
        <p:spPr>
          <a:xfrm>
            <a:off x="12954000" y="5207000"/>
            <a:ext cx="304800" cy="304800"/>
          </a:xfrm>
          <a:custGeom>
            <a:avLst/>
            <a:gdLst/>
            <a:ahLst/>
            <a:cxnLst/>
            <a:rect l="l" t="t" r="r" b="b"/>
            <a:pathLst>
              <a:path w="304800" h="304800">
                <a:moveTo>
                  <a:pt x="142101" y="3036"/>
                </a:moveTo>
                <a:cubicBezTo>
                  <a:pt x="148352" y="-1012"/>
                  <a:pt x="156448" y="-1012"/>
                  <a:pt x="162699" y="3036"/>
                </a:cubicBezTo>
                <a:lnTo>
                  <a:pt x="296049" y="88761"/>
                </a:lnTo>
                <a:cubicBezTo>
                  <a:pt x="303133" y="93345"/>
                  <a:pt x="306407" y="102037"/>
                  <a:pt x="304026" y="110133"/>
                </a:cubicBezTo>
                <a:cubicBezTo>
                  <a:pt x="301645" y="118229"/>
                  <a:pt x="294203" y="123825"/>
                  <a:pt x="285750" y="123825"/>
                </a:cubicBezTo>
                <a:lnTo>
                  <a:pt x="266700" y="123825"/>
                </a:lnTo>
                <a:lnTo>
                  <a:pt x="266700" y="247650"/>
                </a:lnTo>
                <a:lnTo>
                  <a:pt x="297180" y="270510"/>
                </a:lnTo>
                <a:cubicBezTo>
                  <a:pt x="302002" y="274082"/>
                  <a:pt x="304800" y="279737"/>
                  <a:pt x="304800" y="285750"/>
                </a:cubicBezTo>
                <a:cubicBezTo>
                  <a:pt x="304800" y="296287"/>
                  <a:pt x="296287" y="304800"/>
                  <a:pt x="285750" y="304800"/>
                </a:cubicBezTo>
                <a:lnTo>
                  <a:pt x="19050" y="304800"/>
                </a:lnTo>
                <a:cubicBezTo>
                  <a:pt x="8513" y="304800"/>
                  <a:pt x="0" y="296287"/>
                  <a:pt x="0" y="285750"/>
                </a:cubicBezTo>
                <a:cubicBezTo>
                  <a:pt x="0" y="279737"/>
                  <a:pt x="2798" y="274082"/>
                  <a:pt x="7620" y="270510"/>
                </a:cubicBezTo>
                <a:lnTo>
                  <a:pt x="38100" y="247650"/>
                </a:lnTo>
                <a:lnTo>
                  <a:pt x="38100" y="247650"/>
                </a:lnTo>
                <a:lnTo>
                  <a:pt x="38100" y="123825"/>
                </a:lnTo>
                <a:lnTo>
                  <a:pt x="19050" y="123825"/>
                </a:lnTo>
                <a:cubicBezTo>
                  <a:pt x="10597" y="123825"/>
                  <a:pt x="3155" y="118229"/>
                  <a:pt x="774" y="110133"/>
                </a:cubicBezTo>
                <a:cubicBezTo>
                  <a:pt x="-1607" y="102037"/>
                  <a:pt x="1667" y="93285"/>
                  <a:pt x="8751" y="88761"/>
                </a:cubicBezTo>
                <a:lnTo>
                  <a:pt x="142101" y="3036"/>
                </a:lnTo>
                <a:close/>
                <a:moveTo>
                  <a:pt x="200025" y="123825"/>
                </a:moveTo>
                <a:lnTo>
                  <a:pt x="200025" y="247650"/>
                </a:lnTo>
                <a:lnTo>
                  <a:pt x="238125" y="247650"/>
                </a:lnTo>
                <a:lnTo>
                  <a:pt x="238125" y="123825"/>
                </a:lnTo>
                <a:lnTo>
                  <a:pt x="200025" y="123825"/>
                </a:lnTo>
                <a:close/>
                <a:moveTo>
                  <a:pt x="133350" y="247650"/>
                </a:moveTo>
                <a:lnTo>
                  <a:pt x="171450" y="247650"/>
                </a:lnTo>
                <a:lnTo>
                  <a:pt x="171450" y="123825"/>
                </a:lnTo>
                <a:lnTo>
                  <a:pt x="133350" y="123825"/>
                </a:lnTo>
                <a:lnTo>
                  <a:pt x="133350" y="247650"/>
                </a:lnTo>
                <a:close/>
                <a:moveTo>
                  <a:pt x="66675" y="123825"/>
                </a:moveTo>
                <a:lnTo>
                  <a:pt x="66675" y="247650"/>
                </a:lnTo>
                <a:lnTo>
                  <a:pt x="104775" y="247650"/>
                </a:lnTo>
                <a:lnTo>
                  <a:pt x="104775" y="123825"/>
                </a:lnTo>
                <a:lnTo>
                  <a:pt x="66675" y="123825"/>
                </a:lnTo>
                <a:close/>
              </a:path>
            </a:pathLst>
          </a:custGeom>
          <a:solidFill>
            <a:srgbClr val="D35400"/>
          </a:solidFill>
          <a:ln/>
        </p:spPr>
      </p:sp>
      <p:sp>
        <p:nvSpPr>
          <p:cNvPr id="25" name="Text 23"/>
          <p:cNvSpPr/>
          <p:nvPr/>
        </p:nvSpPr>
        <p:spPr>
          <a:xfrm>
            <a:off x="13398500" y="5143500"/>
            <a:ext cx="2730500" cy="762000"/>
          </a:xfrm>
          <a:prstGeom prst="rect">
            <a:avLst/>
          </a:prstGeom>
          <a:noFill/>
          <a:ln/>
        </p:spPr>
        <p:txBody>
          <a:bodyPr wrap="square" lIns="0" tIns="0" rIns="0" bIns="0" rtlCol="0" anchor="ctr"/>
          <a:lstStyle/>
          <a:p>
            <a:pPr>
              <a:lnSpc>
                <a:spcPct val="140000"/>
              </a:lnSpc>
            </a:pPr>
            <a:r>
              <a:rPr lang="en-US" sz="1400" b="1" dirty="0">
                <a:solidFill>
                  <a:srgbClr val="1A1A1A"/>
                </a:solidFill>
                <a:latin typeface="Quattrocento Sans" pitchFamily="34" charset="0"/>
                <a:ea typeface="Quattrocento Sans" pitchFamily="34" charset="-122"/>
                <a:cs typeface="Quattrocento Sans" pitchFamily="34" charset="-120"/>
              </a:rPr>
              <a:t>BGFIBank</a:t>
            </a:r>
            <a:endParaRPr lang="en-US" sz="1600" dirty="0"/>
          </a:p>
          <a:p>
            <a:pPr>
              <a:lnSpc>
                <a:spcPct val="140000"/>
              </a:lnSpc>
            </a:pPr>
            <a:r>
              <a:rPr lang="en-US" sz="1400" dirty="0">
                <a:solidFill>
                  <a:srgbClr val="8A8A8A"/>
                </a:solidFill>
                <a:latin typeface="Quattrocento Sans" pitchFamily="34" charset="0"/>
                <a:ea typeface="Quattrocento Sans" pitchFamily="34" charset="-122"/>
                <a:cs typeface="Quattrocento Sans" pitchFamily="34" charset="-120"/>
              </a:rPr>
              <a:t>Onboarding web + app</a:t>
            </a:r>
            <a:endParaRPr lang="en-US" sz="1600" dirty="0"/>
          </a:p>
        </p:txBody>
      </p:sp>
      <p:sp>
        <p:nvSpPr>
          <p:cNvPr id="26" name="Shape 24"/>
          <p:cNvSpPr/>
          <p:nvPr/>
        </p:nvSpPr>
        <p:spPr>
          <a:xfrm>
            <a:off x="762000" y="6350000"/>
            <a:ext cx="14732000" cy="1270000"/>
          </a:xfrm>
          <a:prstGeom prst="rect">
            <a:avLst/>
          </a:prstGeom>
          <a:solidFill>
            <a:srgbClr val="5D2E18"/>
          </a:solidFill>
          <a:ln/>
        </p:spPr>
      </p:sp>
      <p:sp>
        <p:nvSpPr>
          <p:cNvPr id="27" name="Shape 25"/>
          <p:cNvSpPr/>
          <p:nvPr/>
        </p:nvSpPr>
        <p:spPr>
          <a:xfrm>
            <a:off x="1136650" y="6667500"/>
            <a:ext cx="342900" cy="457200"/>
          </a:xfrm>
          <a:custGeom>
            <a:avLst/>
            <a:gdLst/>
            <a:ahLst/>
            <a:cxnLst/>
            <a:rect l="l" t="t" r="r" b="b"/>
            <a:pathLst>
              <a:path w="342900" h="457200">
                <a:moveTo>
                  <a:pt x="261551" y="342900"/>
                </a:moveTo>
                <a:cubicBezTo>
                  <a:pt x="268069" y="322987"/>
                  <a:pt x="281107" y="304949"/>
                  <a:pt x="295841" y="289411"/>
                </a:cubicBezTo>
                <a:cubicBezTo>
                  <a:pt x="325041" y="258693"/>
                  <a:pt x="342900" y="217170"/>
                  <a:pt x="342900" y="171450"/>
                </a:cubicBezTo>
                <a:cubicBezTo>
                  <a:pt x="342900" y="76795"/>
                  <a:pt x="266105" y="0"/>
                  <a:pt x="171450" y="0"/>
                </a:cubicBezTo>
                <a:cubicBezTo>
                  <a:pt x="76795" y="0"/>
                  <a:pt x="0" y="76795"/>
                  <a:pt x="0" y="171450"/>
                </a:cubicBezTo>
                <a:cubicBezTo>
                  <a:pt x="0" y="217170"/>
                  <a:pt x="17859" y="258693"/>
                  <a:pt x="47059" y="289411"/>
                </a:cubicBezTo>
                <a:cubicBezTo>
                  <a:pt x="61793" y="304949"/>
                  <a:pt x="74920" y="322987"/>
                  <a:pt x="81349" y="342900"/>
                </a:cubicBezTo>
                <a:lnTo>
                  <a:pt x="261461" y="342900"/>
                </a:lnTo>
                <a:close/>
                <a:moveTo>
                  <a:pt x="257175" y="385763"/>
                </a:moveTo>
                <a:lnTo>
                  <a:pt x="85725" y="385763"/>
                </a:lnTo>
                <a:lnTo>
                  <a:pt x="85725" y="400050"/>
                </a:lnTo>
                <a:cubicBezTo>
                  <a:pt x="85725" y="439519"/>
                  <a:pt x="117693" y="471488"/>
                  <a:pt x="157163" y="471488"/>
                </a:cubicBezTo>
                <a:lnTo>
                  <a:pt x="185738" y="471488"/>
                </a:lnTo>
                <a:cubicBezTo>
                  <a:pt x="225207" y="471488"/>
                  <a:pt x="257175" y="439519"/>
                  <a:pt x="257175" y="400050"/>
                </a:cubicBezTo>
                <a:lnTo>
                  <a:pt x="257175" y="385763"/>
                </a:lnTo>
                <a:close/>
                <a:moveTo>
                  <a:pt x="164306" y="100013"/>
                </a:moveTo>
                <a:cubicBezTo>
                  <a:pt x="128766" y="100013"/>
                  <a:pt x="100013" y="128766"/>
                  <a:pt x="100013" y="164306"/>
                </a:cubicBezTo>
                <a:cubicBezTo>
                  <a:pt x="100013" y="176183"/>
                  <a:pt x="90458" y="185738"/>
                  <a:pt x="78581" y="185738"/>
                </a:cubicBezTo>
                <a:cubicBezTo>
                  <a:pt x="66705" y="185738"/>
                  <a:pt x="57150" y="176183"/>
                  <a:pt x="57150" y="164306"/>
                </a:cubicBezTo>
                <a:cubicBezTo>
                  <a:pt x="57150" y="105102"/>
                  <a:pt x="105102" y="57150"/>
                  <a:pt x="164306" y="57150"/>
                </a:cubicBezTo>
                <a:cubicBezTo>
                  <a:pt x="176183" y="57150"/>
                  <a:pt x="185738" y="66705"/>
                  <a:pt x="185738" y="78581"/>
                </a:cubicBezTo>
                <a:cubicBezTo>
                  <a:pt x="185738" y="90458"/>
                  <a:pt x="176183" y="100013"/>
                  <a:pt x="164306" y="100013"/>
                </a:cubicBezTo>
                <a:close/>
              </a:path>
            </a:pathLst>
          </a:custGeom>
          <a:solidFill>
            <a:srgbClr val="F39C12"/>
          </a:solidFill>
          <a:ln/>
        </p:spPr>
      </p:sp>
      <p:sp>
        <p:nvSpPr>
          <p:cNvPr id="28" name="Text 26"/>
          <p:cNvSpPr/>
          <p:nvPr/>
        </p:nvSpPr>
        <p:spPr>
          <a:xfrm>
            <a:off x="1778000" y="6540500"/>
            <a:ext cx="13335000" cy="889000"/>
          </a:xfrm>
          <a:prstGeom prst="rect">
            <a:avLst/>
          </a:prstGeom>
          <a:noFill/>
          <a:ln/>
        </p:spPr>
        <p:txBody>
          <a:bodyPr wrap="square" lIns="0" tIns="0" rIns="0" bIns="0" rtlCol="0" anchor="ctr"/>
          <a:lstStyle/>
          <a:p>
            <a:pPr>
              <a:lnSpc>
                <a:spcPct val="150000"/>
              </a:lnSpc>
            </a:pPr>
            <a:r>
              <a:rPr lang="en-US" sz="1800" b="1" dirty="0">
                <a:solidFill>
                  <a:srgbClr val="FFFFFF"/>
                </a:solidFill>
                <a:latin typeface="Quattrocento Sans" pitchFamily="34" charset="0"/>
                <a:ea typeface="Quattrocento Sans" pitchFamily="34" charset="-122"/>
                <a:cs typeface="Quattrocento Sans" pitchFamily="34" charset="-120"/>
              </a:rPr>
              <a:t>BICEC a deja la credibilite bancaire, le reseau et les produits digitaux.</a:t>
            </a:r>
            <a:endParaRPr lang="en-US" sz="1600" dirty="0"/>
          </a:p>
          <a:p>
            <a:pPr>
              <a:lnSpc>
                <a:spcPct val="150000"/>
              </a:lnSpc>
            </a:pPr>
            <a:r>
              <a:rPr lang="en-US" sz="1800" dirty="0">
                <a:solidFill>
                  <a:srgbClr val="FFFFFF"/>
                </a:solidFill>
                <a:latin typeface="Quattrocento Sans" pitchFamily="34" charset="0"/>
                <a:ea typeface="Quattrocento Sans" pitchFamily="34" charset="-122"/>
                <a:cs typeface="Quattrocento Sans" pitchFamily="34" charset="-120"/>
              </a:rPr>
              <a:t>VeriPass lui donne la porte d'entree digitale qui manque pour rivaliser avec les parcours modernes.</a:t>
            </a:r>
            <a:endParaRPr lang="en-US" sz="1600" dirty="0"/>
          </a:p>
        </p:txBody>
      </p:sp>
      <p:sp>
        <p:nvSpPr>
          <p:cNvPr id="29" name="Text 27"/>
          <p:cNvSpPr/>
          <p:nvPr/>
        </p:nvSpPr>
        <p:spPr>
          <a:xfrm>
            <a:off x="14986000" y="8636000"/>
            <a:ext cx="762000" cy="254000"/>
          </a:xfrm>
          <a:prstGeom prst="rect">
            <a:avLst/>
          </a:prstGeom>
          <a:noFill/>
          <a:ln/>
        </p:spPr>
        <p:txBody>
          <a:bodyPr wrap="none" lIns="0" tIns="0" rIns="0" bIns="0" rtlCol="0" anchor="ctr"/>
          <a:lstStyle/>
          <a:p>
            <a:pPr algn="r">
              <a:lnSpc>
                <a:spcPct val="140000"/>
              </a:lnSpc>
            </a:pPr>
            <a:r>
              <a:rPr lang="en-US" sz="1200" dirty="0">
                <a:solidFill>
                  <a:srgbClr val="8A8A8A"/>
                </a:solidFill>
                <a:latin typeface="QuattrocentoSans" pitchFamily="34" charset="0"/>
                <a:ea typeface="QuattrocentoSans" pitchFamily="34" charset="-122"/>
                <a:cs typeface="QuattrocentoSans" pitchFamily="34" charset="-120"/>
              </a:rPr>
              <a:t>04</a:t>
            </a:r>
            <a:endParaRPr lang="en-US" sz="1200" dirty="0"/>
          </a:p>
        </p:txBody>
      </p:sp>
    </p:spTree>
  </p:cSld>
  <p:clrMapOvr>
    <a:masterClrMapping/>
  </p:clrMapOvr>
  <p:transition>
    <p:fade/>
    <p:spd val="med"/>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0EB"/>
        </a:solidFill>
      </p:bgPr>
    </p:bg>
    <p:spTree>
      <p:nvGrpSpPr>
        <p:cNvPr id="1" name=""/>
        <p:cNvGrpSpPr/>
        <p:nvPr/>
      </p:nvGrpSpPr>
      <p:grpSpPr>
        <a:xfrm>
          <a:off x="0" y="0"/>
          <a:ext cx="0" cy="0"/>
          <a:chOff x="0" y="0"/>
          <a:chExt cx="0" cy="0"/>
        </a:xfrm>
      </p:grpSpPr>
      <p:sp>
        <p:nvSpPr>
          <p:cNvPr id="2" name="Shape 0"/>
          <p:cNvSpPr/>
          <p:nvPr/>
        </p:nvSpPr>
        <p:spPr>
          <a:xfrm>
            <a:off x="762000" y="635000"/>
            <a:ext cx="508000" cy="50800"/>
          </a:xfrm>
          <a:prstGeom prst="rect">
            <a:avLst/>
          </a:prstGeom>
          <a:solidFill>
            <a:srgbClr val="D35400"/>
          </a:solidFill>
          <a:ln/>
        </p:spPr>
      </p:sp>
      <p:sp>
        <p:nvSpPr>
          <p:cNvPr id="3" name="Text 1"/>
          <p:cNvSpPr/>
          <p:nvPr/>
        </p:nvSpPr>
        <p:spPr>
          <a:xfrm>
            <a:off x="762000" y="825500"/>
            <a:ext cx="2540000" cy="254000"/>
          </a:xfrm>
          <a:prstGeom prst="rect">
            <a:avLst/>
          </a:prstGeom>
          <a:noFill/>
          <a:ln/>
        </p:spPr>
        <p:txBody>
          <a:bodyPr wrap="none" lIns="0" tIns="0" rIns="0" bIns="0" rtlCol="0" anchor="ctr"/>
          <a:lstStyle/>
          <a:p>
            <a:pPr>
              <a:lnSpc>
                <a:spcPct val="120000"/>
              </a:lnSpc>
            </a:pPr>
            <a:r>
              <a:rPr lang="en-US" sz="1200" spc="200" kern="0" dirty="0">
                <a:solidFill>
                  <a:srgbClr val="D35400"/>
                </a:solidFill>
                <a:latin typeface="Liter" pitchFamily="34" charset="0"/>
                <a:ea typeface="Liter" pitchFamily="34" charset="-122"/>
                <a:cs typeface="Liter" pitchFamily="34" charset="-120"/>
              </a:rPr>
              <a:t>LE CONTEXTE</a:t>
            </a:r>
            <a:endParaRPr lang="en-US" sz="1200" dirty="0"/>
          </a:p>
        </p:txBody>
      </p:sp>
      <p:sp>
        <p:nvSpPr>
          <p:cNvPr id="4" name="Text 2"/>
          <p:cNvSpPr/>
          <p:nvPr/>
        </p:nvSpPr>
        <p:spPr>
          <a:xfrm>
            <a:off x="762000" y="1206500"/>
            <a:ext cx="11430000" cy="571500"/>
          </a:xfrm>
          <a:prstGeom prst="rect">
            <a:avLst/>
          </a:prstGeom>
          <a:noFill/>
          <a:ln/>
        </p:spPr>
        <p:txBody>
          <a:bodyPr wrap="none" lIns="0" tIns="0" rIns="0" bIns="0" rtlCol="0" anchor="ctr"/>
          <a:lstStyle/>
          <a:p>
            <a:pPr>
              <a:lnSpc>
                <a:spcPct val="130000"/>
              </a:lnSpc>
            </a:pPr>
            <a:r>
              <a:rPr lang="en-US" sz="3000" dirty="0">
                <a:solidFill>
                  <a:srgbClr val="1A1A1A"/>
                </a:solidFill>
                <a:latin typeface="Liter" pitchFamily="34" charset="0"/>
                <a:ea typeface="Liter" pitchFamily="34" charset="-122"/>
                <a:cs typeface="Liter" pitchFamily="34" charset="-120"/>
              </a:rPr>
              <a:t>Friction client, dossiers disperses, decisions opaques</a:t>
            </a:r>
            <a:endParaRPr lang="en-US" sz="3000" dirty="0"/>
          </a:p>
        </p:txBody>
      </p:sp>
      <p:sp>
        <p:nvSpPr>
          <p:cNvPr id="5" name="Shape 3"/>
          <p:cNvSpPr/>
          <p:nvPr/>
        </p:nvSpPr>
        <p:spPr>
          <a:xfrm>
            <a:off x="762000" y="2095500"/>
            <a:ext cx="7048500" cy="6096000"/>
          </a:xfrm>
          <a:prstGeom prst="rect">
            <a:avLst/>
          </a:prstGeom>
          <a:solidFill>
            <a:srgbClr val="FFFFFF"/>
          </a:solidFill>
          <a:ln w="12700">
            <a:solidFill>
              <a:srgbClr val="E0DCD8"/>
            </a:solidFill>
            <a:prstDash val="solid"/>
          </a:ln>
        </p:spPr>
      </p:sp>
      <p:sp>
        <p:nvSpPr>
          <p:cNvPr id="6" name="Shape 4"/>
          <p:cNvSpPr/>
          <p:nvPr/>
        </p:nvSpPr>
        <p:spPr>
          <a:xfrm>
            <a:off x="762000" y="2095500"/>
            <a:ext cx="7048500" cy="635000"/>
          </a:xfrm>
          <a:prstGeom prst="rect">
            <a:avLst/>
          </a:prstGeom>
          <a:solidFill>
            <a:srgbClr val="8B4513"/>
          </a:solidFill>
          <a:ln/>
        </p:spPr>
      </p:sp>
      <p:sp>
        <p:nvSpPr>
          <p:cNvPr id="7" name="Text 5"/>
          <p:cNvSpPr/>
          <p:nvPr/>
        </p:nvSpPr>
        <p:spPr>
          <a:xfrm>
            <a:off x="1016000" y="2222500"/>
            <a:ext cx="2540000" cy="381000"/>
          </a:xfrm>
          <a:prstGeom prst="rect">
            <a:avLst/>
          </a:prstGeom>
          <a:noFill/>
          <a:ln/>
        </p:spPr>
        <p:txBody>
          <a:bodyPr wrap="none" lIns="0" tIns="0" rIns="0" bIns="0" rtlCol="0" anchor="ctr"/>
          <a:lstStyle/>
          <a:p>
            <a:pPr>
              <a:lnSpc>
                <a:spcPct val="100000"/>
              </a:lnSpc>
            </a:pPr>
            <a:r>
              <a:rPr lang="en-US" sz="1800" dirty="0">
                <a:solidFill>
                  <a:srgbClr val="FFFFFF"/>
                </a:solidFill>
                <a:latin typeface="Liter" pitchFamily="34" charset="0"/>
                <a:ea typeface="Liter" pitchFamily="34" charset="-122"/>
                <a:cs typeface="Liter" pitchFamily="34" charset="-120"/>
              </a:rPr>
              <a:t>AVANT</a:t>
            </a:r>
            <a:endParaRPr lang="en-US" sz="1600" dirty="0"/>
          </a:p>
        </p:txBody>
      </p:sp>
      <p:sp>
        <p:nvSpPr>
          <p:cNvPr id="8" name="Shape 6"/>
          <p:cNvSpPr/>
          <p:nvPr/>
        </p:nvSpPr>
        <p:spPr>
          <a:xfrm>
            <a:off x="6858000" y="2222500"/>
            <a:ext cx="355600" cy="355600"/>
          </a:xfrm>
          <a:custGeom>
            <a:avLst/>
            <a:gdLst/>
            <a:ahLst/>
            <a:cxnLst/>
            <a:rect l="l" t="t" r="r" b="b"/>
            <a:pathLst>
              <a:path w="355600" h="355600">
                <a:moveTo>
                  <a:pt x="177800" y="355600"/>
                </a:moveTo>
                <a:cubicBezTo>
                  <a:pt x="275930" y="355600"/>
                  <a:pt x="355600" y="275930"/>
                  <a:pt x="355600" y="177800"/>
                </a:cubicBezTo>
                <a:cubicBezTo>
                  <a:pt x="355600" y="79670"/>
                  <a:pt x="275930" y="0"/>
                  <a:pt x="177800" y="0"/>
                </a:cubicBezTo>
                <a:cubicBezTo>
                  <a:pt x="79670" y="0"/>
                  <a:pt x="0" y="79670"/>
                  <a:pt x="0" y="177800"/>
                </a:cubicBezTo>
                <a:cubicBezTo>
                  <a:pt x="0" y="275930"/>
                  <a:pt x="79670" y="355600"/>
                  <a:pt x="177800" y="355600"/>
                </a:cubicBezTo>
                <a:close/>
                <a:moveTo>
                  <a:pt x="115987" y="115987"/>
                </a:moveTo>
                <a:cubicBezTo>
                  <a:pt x="122515" y="109458"/>
                  <a:pt x="133072" y="109458"/>
                  <a:pt x="139531" y="115987"/>
                </a:cubicBezTo>
                <a:lnTo>
                  <a:pt x="177731" y="154186"/>
                </a:lnTo>
                <a:lnTo>
                  <a:pt x="215930" y="115987"/>
                </a:lnTo>
                <a:cubicBezTo>
                  <a:pt x="222458" y="109458"/>
                  <a:pt x="233015" y="109458"/>
                  <a:pt x="239474" y="115987"/>
                </a:cubicBezTo>
                <a:cubicBezTo>
                  <a:pt x="245934" y="122515"/>
                  <a:pt x="246003" y="133072"/>
                  <a:pt x="239474" y="139531"/>
                </a:cubicBezTo>
                <a:lnTo>
                  <a:pt x="201275" y="177731"/>
                </a:lnTo>
                <a:lnTo>
                  <a:pt x="239474" y="215930"/>
                </a:lnTo>
                <a:cubicBezTo>
                  <a:pt x="246003" y="222458"/>
                  <a:pt x="246003" y="233015"/>
                  <a:pt x="239474" y="239474"/>
                </a:cubicBezTo>
                <a:cubicBezTo>
                  <a:pt x="232946" y="245934"/>
                  <a:pt x="222389" y="246003"/>
                  <a:pt x="215930" y="239474"/>
                </a:cubicBezTo>
                <a:lnTo>
                  <a:pt x="177731" y="201275"/>
                </a:lnTo>
                <a:lnTo>
                  <a:pt x="139531" y="239474"/>
                </a:lnTo>
                <a:cubicBezTo>
                  <a:pt x="133003" y="246003"/>
                  <a:pt x="122446" y="246003"/>
                  <a:pt x="115987" y="239474"/>
                </a:cubicBezTo>
                <a:cubicBezTo>
                  <a:pt x="109528" y="232946"/>
                  <a:pt x="109458" y="222389"/>
                  <a:pt x="115987" y="215930"/>
                </a:cubicBezTo>
                <a:lnTo>
                  <a:pt x="154186" y="177731"/>
                </a:lnTo>
                <a:lnTo>
                  <a:pt x="115987" y="139531"/>
                </a:lnTo>
                <a:cubicBezTo>
                  <a:pt x="109458" y="133003"/>
                  <a:pt x="109458" y="122446"/>
                  <a:pt x="115987" y="115987"/>
                </a:cubicBezTo>
                <a:close/>
              </a:path>
            </a:pathLst>
          </a:custGeom>
          <a:solidFill>
            <a:srgbClr val="FFFFFF">
              <a:alpha val="33333"/>
            </a:srgbClr>
          </a:solidFill>
          <a:ln/>
        </p:spPr>
      </p:sp>
      <p:sp>
        <p:nvSpPr>
          <p:cNvPr id="9" name="Text 7"/>
          <p:cNvSpPr/>
          <p:nvPr/>
        </p:nvSpPr>
        <p:spPr>
          <a:xfrm>
            <a:off x="1016000" y="2984500"/>
            <a:ext cx="6540500" cy="4953000"/>
          </a:xfrm>
          <a:prstGeom prst="rect">
            <a:avLst/>
          </a:prstGeom>
          <a:noFill/>
          <a:ln/>
        </p:spPr>
        <p:txBody>
          <a:bodyPr wrap="square" lIns="0" tIns="0" rIns="0" bIns="0" rtlCol="0" anchor="ctr"/>
          <a:lstStyle/>
          <a:p>
            <a:pPr>
              <a:lnSpc>
                <a:spcPct val="180000"/>
              </a:lnSpc>
            </a:pPr>
            <a:r>
              <a:rPr lang="en-US" sz="1600" dirty="0">
                <a:solidFill>
                  <a:srgbClr val="8B4513"/>
                </a:solidFill>
                <a:latin typeface="Quattrocento Sans" pitchFamily="34" charset="0"/>
                <a:ea typeface="Quattrocento Sans" pitchFamily="34" charset="-122"/>
                <a:cs typeface="Quattrocento Sans" pitchFamily="34" charset="-120"/>
              </a:rPr>
              <a:t>■</a:t>
            </a:r>
            <a:pPr>
              <a:lnSpc>
                <a:spcPct val="180000"/>
              </a:lnSpc>
            </a:pPr>
            <a:r>
              <a:rPr lang="en-US" sz="1600" dirty="0">
                <a:solidFill>
                  <a:srgbClr val="1A1A1A"/>
                </a:solidFill>
                <a:latin typeface="Quattrocento Sans" pitchFamily="34" charset="0"/>
                <a:ea typeface="Quattrocento Sans" pitchFamily="34" charset="-122"/>
                <a:cs typeface="Quattrocento Sans" pitchFamily="34" charset="-120"/>
              </a:rPr>
              <a:t> Pieces deposees </a:t>
            </a:r>
            <a:pPr>
              <a:lnSpc>
                <a:spcPct val="180000"/>
              </a:lnSpc>
            </a:pPr>
            <a:r>
              <a:rPr lang="en-US" sz="1600" b="1" dirty="0">
                <a:solidFill>
                  <a:srgbClr val="1A1A1A"/>
                </a:solidFill>
                <a:latin typeface="Quattrocento Sans" pitchFamily="34" charset="0"/>
                <a:ea typeface="Quattrocento Sans" pitchFamily="34" charset="-122"/>
                <a:cs typeface="Quattrocento Sans" pitchFamily="34" charset="-120"/>
              </a:rPr>
              <a:t>physiquement</a:t>
            </a:r>
            <a:pPr>
              <a:lnSpc>
                <a:spcPct val="180000"/>
              </a:lnSpc>
            </a:pPr>
            <a:r>
              <a:rPr lang="en-US" sz="1600" dirty="0">
                <a:solidFill>
                  <a:srgbClr val="1A1A1A"/>
                </a:solidFill>
                <a:latin typeface="Quattrocento Sans" pitchFamily="34" charset="0"/>
                <a:ea typeface="Quattrocento Sans" pitchFamily="34" charset="-122"/>
                <a:cs typeface="Quattrocento Sans" pitchFamily="34" charset="-120"/>
              </a:rPr>
              <a:t> en agence</a:t>
            </a:r>
            <a:endParaRPr lang="en-US" sz="1600" dirty="0"/>
          </a:p>
          <a:p>
            <a:pPr>
              <a:lnSpc>
                <a:spcPct val="180000"/>
              </a:lnSpc>
            </a:pPr>
            <a:r>
              <a:rPr lang="en-US" sz="1600" dirty="0">
                <a:solidFill>
                  <a:srgbClr val="8B4513"/>
                </a:solidFill>
                <a:latin typeface="Quattrocento Sans" pitchFamily="34" charset="0"/>
                <a:ea typeface="Quattrocento Sans" pitchFamily="34" charset="-122"/>
                <a:cs typeface="Quattrocento Sans" pitchFamily="34" charset="-120"/>
              </a:rPr>
              <a:t>■</a:t>
            </a:r>
            <a:pPr>
              <a:lnSpc>
                <a:spcPct val="180000"/>
              </a:lnSpc>
            </a:pPr>
            <a:r>
              <a:rPr lang="en-US" sz="1600" dirty="0">
                <a:solidFill>
                  <a:srgbClr val="1A1A1A"/>
                </a:solidFill>
                <a:latin typeface="Quattrocento Sans" pitchFamily="34" charset="0"/>
                <a:ea typeface="Quattrocento Sans" pitchFamily="34" charset="-122"/>
                <a:cs typeface="Quattrocento Sans" pitchFamily="34" charset="-120"/>
              </a:rPr>
              <a:t> Dossiers </a:t>
            </a:r>
            <a:pPr>
              <a:lnSpc>
                <a:spcPct val="180000"/>
              </a:lnSpc>
            </a:pPr>
            <a:r>
              <a:rPr lang="en-US" sz="1600" b="1" dirty="0">
                <a:solidFill>
                  <a:srgbClr val="1A1A1A"/>
                </a:solidFill>
                <a:latin typeface="Quattrocento Sans" pitchFamily="34" charset="0"/>
                <a:ea typeface="Quattrocento Sans" pitchFamily="34" charset="-122"/>
                <a:cs typeface="Quattrocento Sans" pitchFamily="34" charset="-120"/>
              </a:rPr>
              <a:t>incomplets</a:t>
            </a:r>
            <a:pPr>
              <a:lnSpc>
                <a:spcPct val="180000"/>
              </a:lnSpc>
            </a:pPr>
            <a:r>
              <a:rPr lang="en-US" sz="1600" dirty="0">
                <a:solidFill>
                  <a:srgbClr val="1A1A1A"/>
                </a:solidFill>
                <a:latin typeface="Quattrocento Sans" pitchFamily="34" charset="0"/>
                <a:ea typeface="Quattrocento Sans" pitchFamily="34" charset="-122"/>
                <a:cs typeface="Quattrocento Sans" pitchFamily="34" charset="-120"/>
              </a:rPr>
              <a:t> au premier passage</a:t>
            </a:r>
            <a:endParaRPr lang="en-US" sz="1600" dirty="0"/>
          </a:p>
          <a:p>
            <a:pPr>
              <a:lnSpc>
                <a:spcPct val="180000"/>
              </a:lnSpc>
            </a:pPr>
            <a:r>
              <a:rPr lang="en-US" sz="1600" dirty="0">
                <a:solidFill>
                  <a:srgbClr val="8B4513"/>
                </a:solidFill>
                <a:latin typeface="Quattrocento Sans" pitchFamily="34" charset="0"/>
                <a:ea typeface="Quattrocento Sans" pitchFamily="34" charset="-122"/>
                <a:cs typeface="Quattrocento Sans" pitchFamily="34" charset="-120"/>
              </a:rPr>
              <a:t>■</a:t>
            </a:r>
            <a:pPr>
              <a:lnSpc>
                <a:spcPct val="180000"/>
              </a:lnSpc>
            </a:pPr>
            <a:r>
              <a:rPr lang="en-US" sz="1600" dirty="0">
                <a:solidFill>
                  <a:srgbClr val="1A1A1A"/>
                </a:solidFill>
                <a:latin typeface="Quattrocento Sans" pitchFamily="34" charset="0"/>
                <a:ea typeface="Quattrocento Sans" pitchFamily="34" charset="-122"/>
                <a:cs typeface="Quattrocento Sans" pitchFamily="34" charset="-120"/>
              </a:rPr>
              <a:t> </a:t>
            </a:r>
            <a:pPr>
              <a:lnSpc>
                <a:spcPct val="180000"/>
              </a:lnSpc>
            </a:pPr>
            <a:r>
              <a:rPr lang="en-US" sz="1600" b="1" dirty="0">
                <a:solidFill>
                  <a:srgbClr val="1A1A1A"/>
                </a:solidFill>
                <a:latin typeface="Quattrocento Sans" pitchFamily="34" charset="0"/>
                <a:ea typeface="Quattrocento Sans" pitchFamily="34" charset="-122"/>
                <a:cs typeface="Quattrocento Sans" pitchFamily="34" charset="-120"/>
              </a:rPr>
              <a:t>Ressaisie manuelle</a:t>
            </a:r>
            <a:pPr>
              <a:lnSpc>
                <a:spcPct val="180000"/>
              </a:lnSpc>
            </a:pPr>
            <a:r>
              <a:rPr lang="en-US" sz="1600" dirty="0">
                <a:solidFill>
                  <a:srgbClr val="1A1A1A"/>
                </a:solidFill>
                <a:latin typeface="Quattrocento Sans" pitchFamily="34" charset="0"/>
                <a:ea typeface="Quattrocento Sans" pitchFamily="34" charset="-122"/>
                <a:cs typeface="Quattrocento Sans" pitchFamily="34" charset="-120"/>
              </a:rPr>
              <a:t> par les agents</a:t>
            </a:r>
            <a:endParaRPr lang="en-US" sz="1600" dirty="0"/>
          </a:p>
          <a:p>
            <a:pPr>
              <a:lnSpc>
                <a:spcPct val="180000"/>
              </a:lnSpc>
            </a:pPr>
            <a:r>
              <a:rPr lang="en-US" sz="1600" dirty="0">
                <a:solidFill>
                  <a:srgbClr val="8B4513"/>
                </a:solidFill>
                <a:latin typeface="Quattrocento Sans" pitchFamily="34" charset="0"/>
                <a:ea typeface="Quattrocento Sans" pitchFamily="34" charset="-122"/>
                <a:cs typeface="Quattrocento Sans" pitchFamily="34" charset="-120"/>
              </a:rPr>
              <a:t>■</a:t>
            </a:r>
            <a:pPr>
              <a:lnSpc>
                <a:spcPct val="180000"/>
              </a:lnSpc>
            </a:pPr>
            <a:r>
              <a:rPr lang="en-US" sz="1600" dirty="0">
                <a:solidFill>
                  <a:srgbClr val="1A1A1A"/>
                </a:solidFill>
                <a:latin typeface="Quattrocento Sans" pitchFamily="34" charset="0"/>
                <a:ea typeface="Quattrocento Sans" pitchFamily="34" charset="-122"/>
                <a:cs typeface="Quattrocento Sans" pitchFamily="34" charset="-120"/>
              </a:rPr>
              <a:t> Relances client </a:t>
            </a:r>
            <a:pPr>
              <a:lnSpc>
                <a:spcPct val="180000"/>
              </a:lnSpc>
            </a:pPr>
            <a:r>
              <a:rPr lang="en-US" sz="1600" b="1" dirty="0">
                <a:solidFill>
                  <a:srgbClr val="1A1A1A"/>
                </a:solidFill>
                <a:latin typeface="Quattrocento Sans" pitchFamily="34" charset="0"/>
                <a:ea typeface="Quattrocento Sans" pitchFamily="34" charset="-122"/>
                <a:cs typeface="Quattrocento Sans" pitchFamily="34" charset="-120"/>
              </a:rPr>
              <a:t>repetees</a:t>
            </a:r>
            <a:endParaRPr lang="en-US" sz="1600" dirty="0"/>
          </a:p>
          <a:p>
            <a:pPr>
              <a:lnSpc>
                <a:spcPct val="180000"/>
              </a:lnSpc>
            </a:pPr>
            <a:r>
              <a:rPr lang="en-US" sz="1600" dirty="0">
                <a:solidFill>
                  <a:srgbClr val="8B4513"/>
                </a:solidFill>
                <a:latin typeface="Quattrocento Sans" pitchFamily="34" charset="0"/>
                <a:ea typeface="Quattrocento Sans" pitchFamily="34" charset="-122"/>
                <a:cs typeface="Quattrocento Sans" pitchFamily="34" charset="-120"/>
              </a:rPr>
              <a:t>■</a:t>
            </a:r>
            <a:pPr>
              <a:lnSpc>
                <a:spcPct val="180000"/>
              </a:lnSpc>
            </a:pPr>
            <a:r>
              <a:rPr lang="en-US" sz="1600" dirty="0">
                <a:solidFill>
                  <a:srgbClr val="1A1A1A"/>
                </a:solidFill>
                <a:latin typeface="Quattrocento Sans" pitchFamily="34" charset="0"/>
                <a:ea typeface="Quattrocento Sans" pitchFamily="34" charset="-122"/>
                <a:cs typeface="Quattrocento Sans" pitchFamily="34" charset="-120"/>
              </a:rPr>
              <a:t> Decisions </a:t>
            </a:r>
            <a:pPr>
              <a:lnSpc>
                <a:spcPct val="180000"/>
              </a:lnSpc>
            </a:pPr>
            <a:r>
              <a:rPr lang="en-US" sz="1600" b="1" dirty="0">
                <a:solidFill>
                  <a:srgbClr val="1A1A1A"/>
                </a:solidFill>
                <a:latin typeface="Quattrocento Sans" pitchFamily="34" charset="0"/>
                <a:ea typeface="Quattrocento Sans" pitchFamily="34" charset="-122"/>
                <a:cs typeface="Quattrocento Sans" pitchFamily="34" charset="-120"/>
              </a:rPr>
              <a:t>difficiles a reconstituer</a:t>
            </a:r>
            <a:endParaRPr lang="en-US" sz="1600" dirty="0"/>
          </a:p>
          <a:p>
            <a:pPr>
              <a:lnSpc>
                <a:spcPct val="180000"/>
              </a:lnSpc>
            </a:pPr>
            <a:r>
              <a:rPr lang="en-US" sz="1600" dirty="0">
                <a:solidFill>
                  <a:srgbClr val="8B4513"/>
                </a:solidFill>
                <a:latin typeface="Quattrocento Sans" pitchFamily="34" charset="0"/>
                <a:ea typeface="Quattrocento Sans" pitchFamily="34" charset="-122"/>
                <a:cs typeface="Quattrocento Sans" pitchFamily="34" charset="-120"/>
              </a:rPr>
              <a:t>■</a:t>
            </a:r>
            <a:pPr>
              <a:lnSpc>
                <a:spcPct val="180000"/>
              </a:lnSpc>
            </a:pPr>
            <a:r>
              <a:rPr lang="en-US" sz="1600" dirty="0">
                <a:solidFill>
                  <a:srgbClr val="1A1A1A"/>
                </a:solidFill>
                <a:latin typeface="Quattrocento Sans" pitchFamily="34" charset="0"/>
                <a:ea typeface="Quattrocento Sans" pitchFamily="34" charset="-122"/>
                <a:cs typeface="Quattrocento Sans" pitchFamily="34" charset="-120"/>
              </a:rPr>
              <a:t> Delai : </a:t>
            </a:r>
            <a:pPr>
              <a:lnSpc>
                <a:spcPct val="180000"/>
              </a:lnSpc>
            </a:pPr>
            <a:r>
              <a:rPr lang="en-US" sz="1600" b="1" dirty="0">
                <a:solidFill>
                  <a:srgbClr val="1A1A1A"/>
                </a:solidFill>
                <a:latin typeface="Quattrocento Sans" pitchFamily="34" charset="0"/>
                <a:ea typeface="Quattrocento Sans" pitchFamily="34" charset="-122"/>
                <a:cs typeface="Quattrocento Sans" pitchFamily="34" charset="-120"/>
              </a:rPr>
              <a:t>48h a 14 jours</a:t>
            </a:r>
            <a:endParaRPr lang="en-US" sz="1600" dirty="0"/>
          </a:p>
          <a:p>
            <a:pPr>
              <a:lnSpc>
                <a:spcPct val="180000"/>
              </a:lnSpc>
              <a:spcBef>
                <a:spcPts val="1600"/>
              </a:spcBef>
            </a:pPr>
            <a:r>
              <a:rPr lang="en-US" sz="1400" dirty="0">
                <a:solidFill>
                  <a:srgbClr val="8A8A8A"/>
                </a:solidFill>
                <a:latin typeface="Quattrocento Sans" pitchFamily="34" charset="0"/>
                <a:ea typeface="Quattrocento Sans" pitchFamily="34" charset="-122"/>
                <a:cs typeface="Quattrocento Sans" pitchFamily="34" charset="-120"/>
              </a:rPr>
              <a:t>Le parcours reste fortement physique, alors que le client attend vitesse et tracabilite.</a:t>
            </a:r>
            <a:endParaRPr lang="en-US" sz="1600" dirty="0"/>
          </a:p>
        </p:txBody>
      </p:sp>
      <p:sp>
        <p:nvSpPr>
          <p:cNvPr id="10" name="Shape 8"/>
          <p:cNvSpPr/>
          <p:nvPr/>
        </p:nvSpPr>
        <p:spPr>
          <a:xfrm>
            <a:off x="7937500" y="4699000"/>
            <a:ext cx="381000" cy="381000"/>
          </a:xfrm>
          <a:custGeom>
            <a:avLst/>
            <a:gdLst/>
            <a:ahLst/>
            <a:cxnLst/>
            <a:rect l="l" t="t" r="r" b="b"/>
            <a:pathLst>
              <a:path w="381000" h="381000">
                <a:moveTo>
                  <a:pt x="374005" y="207318"/>
                </a:moveTo>
                <a:cubicBezTo>
                  <a:pt x="383307" y="198016"/>
                  <a:pt x="383307" y="182910"/>
                  <a:pt x="374005" y="173608"/>
                </a:cubicBezTo>
                <a:lnTo>
                  <a:pt x="254943" y="54546"/>
                </a:lnTo>
                <a:cubicBezTo>
                  <a:pt x="245641" y="45244"/>
                  <a:pt x="230535" y="45244"/>
                  <a:pt x="221233" y="54546"/>
                </a:cubicBezTo>
                <a:cubicBezTo>
                  <a:pt x="211931" y="63847"/>
                  <a:pt x="211931" y="78953"/>
                  <a:pt x="221233" y="88255"/>
                </a:cubicBezTo>
                <a:lnTo>
                  <a:pt x="299665" y="166688"/>
                </a:lnTo>
                <a:lnTo>
                  <a:pt x="23812" y="166688"/>
                </a:lnTo>
                <a:cubicBezTo>
                  <a:pt x="10641" y="166688"/>
                  <a:pt x="0" y="177329"/>
                  <a:pt x="0" y="190500"/>
                </a:cubicBezTo>
                <a:cubicBezTo>
                  <a:pt x="0" y="203671"/>
                  <a:pt x="10641" y="214313"/>
                  <a:pt x="23812" y="214313"/>
                </a:cubicBezTo>
                <a:lnTo>
                  <a:pt x="299665" y="214313"/>
                </a:lnTo>
                <a:lnTo>
                  <a:pt x="221233" y="292745"/>
                </a:lnTo>
                <a:cubicBezTo>
                  <a:pt x="211931" y="302047"/>
                  <a:pt x="211931" y="317153"/>
                  <a:pt x="221233" y="326454"/>
                </a:cubicBezTo>
                <a:cubicBezTo>
                  <a:pt x="230535" y="335756"/>
                  <a:pt x="245641" y="335756"/>
                  <a:pt x="254943" y="326454"/>
                </a:cubicBezTo>
                <a:lnTo>
                  <a:pt x="374005" y="207392"/>
                </a:lnTo>
                <a:close/>
              </a:path>
            </a:pathLst>
          </a:custGeom>
          <a:solidFill>
            <a:srgbClr val="D35400"/>
          </a:solidFill>
          <a:ln/>
        </p:spPr>
      </p:sp>
      <p:sp>
        <p:nvSpPr>
          <p:cNvPr id="11" name="Shape 9"/>
          <p:cNvSpPr/>
          <p:nvPr/>
        </p:nvSpPr>
        <p:spPr>
          <a:xfrm>
            <a:off x="8445500" y="2095500"/>
            <a:ext cx="7048500" cy="6096000"/>
          </a:xfrm>
          <a:prstGeom prst="rect">
            <a:avLst/>
          </a:prstGeom>
          <a:solidFill>
            <a:srgbClr val="FFFFFF"/>
          </a:solidFill>
          <a:ln w="12700">
            <a:solidFill>
              <a:srgbClr val="E0DCD8"/>
            </a:solidFill>
            <a:prstDash val="solid"/>
          </a:ln>
        </p:spPr>
      </p:sp>
      <p:sp>
        <p:nvSpPr>
          <p:cNvPr id="12" name="Shape 10"/>
          <p:cNvSpPr/>
          <p:nvPr/>
        </p:nvSpPr>
        <p:spPr>
          <a:xfrm>
            <a:off x="8445500" y="2095500"/>
            <a:ext cx="7048500" cy="635000"/>
          </a:xfrm>
          <a:prstGeom prst="rect">
            <a:avLst/>
          </a:prstGeom>
          <a:solidFill>
            <a:srgbClr val="D35400"/>
          </a:solidFill>
          <a:ln/>
        </p:spPr>
      </p:sp>
      <p:sp>
        <p:nvSpPr>
          <p:cNvPr id="13" name="Text 11"/>
          <p:cNvSpPr/>
          <p:nvPr/>
        </p:nvSpPr>
        <p:spPr>
          <a:xfrm>
            <a:off x="8699500" y="2222500"/>
            <a:ext cx="2540000" cy="381000"/>
          </a:xfrm>
          <a:prstGeom prst="rect">
            <a:avLst/>
          </a:prstGeom>
          <a:noFill/>
          <a:ln/>
        </p:spPr>
        <p:txBody>
          <a:bodyPr wrap="none" lIns="0" tIns="0" rIns="0" bIns="0" rtlCol="0" anchor="ctr"/>
          <a:lstStyle/>
          <a:p>
            <a:pPr>
              <a:lnSpc>
                <a:spcPct val="100000"/>
              </a:lnSpc>
            </a:pPr>
            <a:r>
              <a:rPr lang="en-US" sz="1800" dirty="0">
                <a:solidFill>
                  <a:srgbClr val="FFFFFF"/>
                </a:solidFill>
                <a:latin typeface="Liter" pitchFamily="34" charset="0"/>
                <a:ea typeface="Liter" pitchFamily="34" charset="-122"/>
                <a:cs typeface="Liter" pitchFamily="34" charset="-120"/>
              </a:rPr>
              <a:t>APRES VERIPASS</a:t>
            </a:r>
            <a:endParaRPr lang="en-US" sz="1600" dirty="0"/>
          </a:p>
        </p:txBody>
      </p:sp>
      <p:sp>
        <p:nvSpPr>
          <p:cNvPr id="14" name="Shape 12"/>
          <p:cNvSpPr/>
          <p:nvPr/>
        </p:nvSpPr>
        <p:spPr>
          <a:xfrm>
            <a:off x="14541500" y="2222500"/>
            <a:ext cx="355600" cy="355600"/>
          </a:xfrm>
          <a:custGeom>
            <a:avLst/>
            <a:gdLst/>
            <a:ahLst/>
            <a:cxnLst/>
            <a:rect l="l" t="t" r="r" b="b"/>
            <a:pathLst>
              <a:path w="355600" h="355600">
                <a:moveTo>
                  <a:pt x="177800" y="355600"/>
                </a:moveTo>
                <a:cubicBezTo>
                  <a:pt x="275930" y="355600"/>
                  <a:pt x="355600" y="275930"/>
                  <a:pt x="355600" y="177800"/>
                </a:cubicBezTo>
                <a:cubicBezTo>
                  <a:pt x="355600" y="79670"/>
                  <a:pt x="275930" y="0"/>
                  <a:pt x="177800" y="0"/>
                </a:cubicBezTo>
                <a:cubicBezTo>
                  <a:pt x="79670" y="0"/>
                  <a:pt x="0" y="79670"/>
                  <a:pt x="0" y="177800"/>
                </a:cubicBezTo>
                <a:cubicBezTo>
                  <a:pt x="0" y="275930"/>
                  <a:pt x="79670" y="355600"/>
                  <a:pt x="177800" y="355600"/>
                </a:cubicBezTo>
                <a:close/>
                <a:moveTo>
                  <a:pt x="236418" y="147727"/>
                </a:moveTo>
                <a:lnTo>
                  <a:pt x="180856" y="236627"/>
                </a:lnTo>
                <a:cubicBezTo>
                  <a:pt x="177939" y="241280"/>
                  <a:pt x="172938" y="244197"/>
                  <a:pt x="167451" y="244475"/>
                </a:cubicBezTo>
                <a:cubicBezTo>
                  <a:pt x="161965" y="244753"/>
                  <a:pt x="156686" y="242253"/>
                  <a:pt x="153422" y="237808"/>
                </a:cubicBezTo>
                <a:lnTo>
                  <a:pt x="120084" y="193357"/>
                </a:lnTo>
                <a:cubicBezTo>
                  <a:pt x="114528" y="185995"/>
                  <a:pt x="116056" y="175577"/>
                  <a:pt x="123418" y="170021"/>
                </a:cubicBezTo>
                <a:cubicBezTo>
                  <a:pt x="130780" y="164465"/>
                  <a:pt x="141198" y="165993"/>
                  <a:pt x="146754" y="173355"/>
                </a:cubicBezTo>
                <a:lnTo>
                  <a:pt x="165507" y="198358"/>
                </a:lnTo>
                <a:lnTo>
                  <a:pt x="208151" y="130086"/>
                </a:lnTo>
                <a:cubicBezTo>
                  <a:pt x="213013" y="122307"/>
                  <a:pt x="223292" y="119876"/>
                  <a:pt x="231140" y="124807"/>
                </a:cubicBezTo>
                <a:cubicBezTo>
                  <a:pt x="238988" y="129738"/>
                  <a:pt x="241350" y="139948"/>
                  <a:pt x="236418" y="147796"/>
                </a:cubicBezTo>
                <a:close/>
              </a:path>
            </a:pathLst>
          </a:custGeom>
          <a:solidFill>
            <a:srgbClr val="FFFFFF">
              <a:alpha val="33333"/>
            </a:srgbClr>
          </a:solidFill>
          <a:ln/>
        </p:spPr>
      </p:sp>
      <p:sp>
        <p:nvSpPr>
          <p:cNvPr id="15" name="Text 13"/>
          <p:cNvSpPr/>
          <p:nvPr/>
        </p:nvSpPr>
        <p:spPr>
          <a:xfrm>
            <a:off x="8699500" y="2984500"/>
            <a:ext cx="6540500" cy="4953000"/>
          </a:xfrm>
          <a:prstGeom prst="rect">
            <a:avLst/>
          </a:prstGeom>
          <a:noFill/>
          <a:ln/>
        </p:spPr>
        <p:txBody>
          <a:bodyPr wrap="square" lIns="0" tIns="0" rIns="0" bIns="0" rtlCol="0" anchor="ctr"/>
          <a:lstStyle/>
          <a:p>
            <a:pPr>
              <a:lnSpc>
                <a:spcPct val="180000"/>
              </a:lnSpc>
            </a:pPr>
            <a:r>
              <a:rPr lang="en-US" sz="1600" dirty="0">
                <a:solidFill>
                  <a:srgbClr val="D35400"/>
                </a:solidFill>
                <a:latin typeface="Quattrocento Sans" pitchFamily="34" charset="0"/>
                <a:ea typeface="Quattrocento Sans" pitchFamily="34" charset="-122"/>
                <a:cs typeface="Quattrocento Sans" pitchFamily="34" charset="-120"/>
              </a:rPr>
              <a:t>■</a:t>
            </a:r>
            <a:pPr>
              <a:lnSpc>
                <a:spcPct val="180000"/>
              </a:lnSpc>
            </a:pPr>
            <a:r>
              <a:rPr lang="en-US" sz="1600" dirty="0">
                <a:solidFill>
                  <a:srgbClr val="1A1A1A"/>
                </a:solidFill>
                <a:latin typeface="Quattrocento Sans" pitchFamily="34" charset="0"/>
                <a:ea typeface="Quattrocento Sans" pitchFamily="34" charset="-122"/>
                <a:cs typeface="Quattrocento Sans" pitchFamily="34" charset="-120"/>
              </a:rPr>
              <a:t> Captures </a:t>
            </a:r>
            <a:pPr>
              <a:lnSpc>
                <a:spcPct val="180000"/>
              </a:lnSpc>
            </a:pPr>
            <a:r>
              <a:rPr lang="en-US" sz="1600" b="1" dirty="0">
                <a:solidFill>
                  <a:srgbClr val="1A1A1A"/>
                </a:solidFill>
                <a:latin typeface="Quattrocento Sans" pitchFamily="34" charset="0"/>
                <a:ea typeface="Quattrocento Sans" pitchFamily="34" charset="-122"/>
                <a:cs typeface="Quattrocento Sans" pitchFamily="34" charset="-120"/>
              </a:rPr>
              <a:t>guidees</a:t>
            </a:r>
            <a:pPr>
              <a:lnSpc>
                <a:spcPct val="180000"/>
              </a:lnSpc>
            </a:pPr>
            <a:r>
              <a:rPr lang="en-US" sz="1600" dirty="0">
                <a:solidFill>
                  <a:srgbClr val="1A1A1A"/>
                </a:solidFill>
                <a:latin typeface="Quattrocento Sans" pitchFamily="34" charset="0"/>
                <a:ea typeface="Quattrocento Sans" pitchFamily="34" charset="-122"/>
                <a:cs typeface="Quattrocento Sans" pitchFamily="34" charset="-120"/>
              </a:rPr>
              <a:t> depuis le mobile</a:t>
            </a:r>
            <a:endParaRPr lang="en-US" sz="1600" dirty="0"/>
          </a:p>
          <a:p>
            <a:pPr>
              <a:lnSpc>
                <a:spcPct val="180000"/>
              </a:lnSpc>
            </a:pPr>
            <a:r>
              <a:rPr lang="en-US" sz="1600" dirty="0">
                <a:solidFill>
                  <a:srgbClr val="D35400"/>
                </a:solidFill>
                <a:latin typeface="Quattrocento Sans" pitchFamily="34" charset="0"/>
                <a:ea typeface="Quattrocento Sans" pitchFamily="34" charset="-122"/>
                <a:cs typeface="Quattrocento Sans" pitchFamily="34" charset="-120"/>
              </a:rPr>
              <a:t>■</a:t>
            </a:r>
            <a:pPr>
              <a:lnSpc>
                <a:spcPct val="180000"/>
              </a:lnSpc>
            </a:pPr>
            <a:r>
              <a:rPr lang="en-US" sz="1600" dirty="0">
                <a:solidFill>
                  <a:srgbClr val="1A1A1A"/>
                </a:solidFill>
                <a:latin typeface="Quattrocento Sans" pitchFamily="34" charset="0"/>
                <a:ea typeface="Quattrocento Sans" pitchFamily="34" charset="-122"/>
                <a:cs typeface="Quattrocento Sans" pitchFamily="34" charset="-120"/>
              </a:rPr>
              <a:t> OCR + controles de </a:t>
            </a:r>
            <a:pPr>
              <a:lnSpc>
                <a:spcPct val="180000"/>
              </a:lnSpc>
            </a:pPr>
            <a:r>
              <a:rPr lang="en-US" sz="1600" b="1" dirty="0">
                <a:solidFill>
                  <a:srgbClr val="1A1A1A"/>
                </a:solidFill>
                <a:latin typeface="Quattrocento Sans" pitchFamily="34" charset="0"/>
                <a:ea typeface="Quattrocento Sans" pitchFamily="34" charset="-122"/>
                <a:cs typeface="Quattrocento Sans" pitchFamily="34" charset="-120"/>
              </a:rPr>
              <a:t>completude auto</a:t>
            </a:r>
            <a:endParaRPr lang="en-US" sz="1600" dirty="0"/>
          </a:p>
          <a:p>
            <a:pPr>
              <a:lnSpc>
                <a:spcPct val="180000"/>
              </a:lnSpc>
            </a:pPr>
            <a:r>
              <a:rPr lang="en-US" sz="1600" dirty="0">
                <a:solidFill>
                  <a:srgbClr val="D35400"/>
                </a:solidFill>
                <a:latin typeface="Quattrocento Sans" pitchFamily="34" charset="0"/>
                <a:ea typeface="Quattrocento Sans" pitchFamily="34" charset="-122"/>
                <a:cs typeface="Quattrocento Sans" pitchFamily="34" charset="-120"/>
              </a:rPr>
              <a:t>■</a:t>
            </a:r>
            <a:pPr>
              <a:lnSpc>
                <a:spcPct val="180000"/>
              </a:lnSpc>
            </a:pPr>
            <a:r>
              <a:rPr lang="en-US" sz="1600" dirty="0">
                <a:solidFill>
                  <a:srgbClr val="1A1A1A"/>
                </a:solidFill>
                <a:latin typeface="Quattrocento Sans" pitchFamily="34" charset="0"/>
                <a:ea typeface="Quattrocento Sans" pitchFamily="34" charset="-122"/>
                <a:cs typeface="Quattrocento Sans" pitchFamily="34" charset="-120"/>
              </a:rPr>
              <a:t> File back-office </a:t>
            </a:r>
            <a:pPr>
              <a:lnSpc>
                <a:spcPct val="180000"/>
              </a:lnSpc>
            </a:pPr>
            <a:r>
              <a:rPr lang="en-US" sz="1600" b="1" dirty="0">
                <a:solidFill>
                  <a:srgbClr val="1A1A1A"/>
                </a:solidFill>
                <a:latin typeface="Quattrocento Sans" pitchFamily="34" charset="0"/>
                <a:ea typeface="Quattrocento Sans" pitchFamily="34" charset="-122"/>
                <a:cs typeface="Quattrocento Sans" pitchFamily="34" charset="-120"/>
              </a:rPr>
              <a:t>structuree</a:t>
            </a:r>
            <a:endParaRPr lang="en-US" sz="1600" dirty="0"/>
          </a:p>
          <a:p>
            <a:pPr>
              <a:lnSpc>
                <a:spcPct val="180000"/>
              </a:lnSpc>
            </a:pPr>
            <a:r>
              <a:rPr lang="en-US" sz="1600" dirty="0">
                <a:solidFill>
                  <a:srgbClr val="D35400"/>
                </a:solidFill>
                <a:latin typeface="Quattrocento Sans" pitchFamily="34" charset="0"/>
                <a:ea typeface="Quattrocento Sans" pitchFamily="34" charset="-122"/>
                <a:cs typeface="Quattrocento Sans" pitchFamily="34" charset="-120"/>
              </a:rPr>
              <a:t>■</a:t>
            </a:r>
            <a:pPr>
              <a:lnSpc>
                <a:spcPct val="180000"/>
              </a:lnSpc>
            </a:pPr>
            <a:r>
              <a:rPr lang="en-US" sz="1600" dirty="0">
                <a:solidFill>
                  <a:srgbClr val="1A1A1A"/>
                </a:solidFill>
                <a:latin typeface="Quattrocento Sans" pitchFamily="34" charset="0"/>
                <a:ea typeface="Quattrocento Sans" pitchFamily="34" charset="-122"/>
                <a:cs typeface="Quattrocento Sans" pitchFamily="34" charset="-120"/>
              </a:rPr>
              <a:t> Blocage conformite </a:t>
            </a:r>
            <a:pPr>
              <a:lnSpc>
                <a:spcPct val="180000"/>
              </a:lnSpc>
            </a:pPr>
            <a:r>
              <a:rPr lang="en-US" sz="1600" b="1" dirty="0">
                <a:solidFill>
                  <a:srgbClr val="1A1A1A"/>
                </a:solidFill>
                <a:latin typeface="Quattrocento Sans" pitchFamily="34" charset="0"/>
                <a:ea typeface="Quattrocento Sans" pitchFamily="34" charset="-122"/>
                <a:cs typeface="Quattrocento Sans" pitchFamily="34" charset="-120"/>
              </a:rPr>
              <a:t>integre</a:t>
            </a:r>
            <a:pPr>
              <a:lnSpc>
                <a:spcPct val="180000"/>
              </a:lnSpc>
            </a:pPr>
            <a:r>
              <a:rPr lang="en-US" sz="1600" dirty="0">
                <a:solidFill>
                  <a:srgbClr val="1A1A1A"/>
                </a:solidFill>
                <a:latin typeface="Quattrocento Sans" pitchFamily="34" charset="0"/>
                <a:ea typeface="Quattrocento Sans" pitchFamily="34" charset="-122"/>
                <a:cs typeface="Quattrocento Sans" pitchFamily="34" charset="-120"/>
              </a:rPr>
              <a:t> (AML)</a:t>
            </a:r>
            <a:endParaRPr lang="en-US" sz="1600" dirty="0"/>
          </a:p>
          <a:p>
            <a:pPr>
              <a:lnSpc>
                <a:spcPct val="180000"/>
              </a:lnSpc>
            </a:pPr>
            <a:r>
              <a:rPr lang="en-US" sz="1600" dirty="0">
                <a:solidFill>
                  <a:srgbClr val="D35400"/>
                </a:solidFill>
                <a:latin typeface="Quattrocento Sans" pitchFamily="34" charset="0"/>
                <a:ea typeface="Quattrocento Sans" pitchFamily="34" charset="-122"/>
                <a:cs typeface="Quattrocento Sans" pitchFamily="34" charset="-120"/>
              </a:rPr>
              <a:t>■</a:t>
            </a:r>
            <a:pPr>
              <a:lnSpc>
                <a:spcPct val="180000"/>
              </a:lnSpc>
            </a:pPr>
            <a:r>
              <a:rPr lang="en-US" sz="1600" dirty="0">
                <a:solidFill>
                  <a:srgbClr val="1A1A1A"/>
                </a:solidFill>
                <a:latin typeface="Quattrocento Sans" pitchFamily="34" charset="0"/>
                <a:ea typeface="Quattrocento Sans" pitchFamily="34" charset="-122"/>
                <a:cs typeface="Quattrocento Sans" pitchFamily="34" charset="-120"/>
              </a:rPr>
              <a:t> Journal d'audit </a:t>
            </a:r>
            <a:pPr>
              <a:lnSpc>
                <a:spcPct val="180000"/>
              </a:lnSpc>
            </a:pPr>
            <a:r>
              <a:rPr lang="en-US" sz="1600" b="1" dirty="0">
                <a:solidFill>
                  <a:srgbClr val="1A1A1A"/>
                </a:solidFill>
                <a:latin typeface="Quattrocento Sans" pitchFamily="34" charset="0"/>
                <a:ea typeface="Quattrocento Sans" pitchFamily="34" charset="-122"/>
                <a:cs typeface="Quattrocento Sans" pitchFamily="34" charset="-120"/>
              </a:rPr>
              <a:t>exportable</a:t>
            </a:r>
            <a:endParaRPr lang="en-US" sz="1600" dirty="0"/>
          </a:p>
          <a:p>
            <a:pPr>
              <a:lnSpc>
                <a:spcPct val="180000"/>
              </a:lnSpc>
            </a:pPr>
            <a:r>
              <a:rPr lang="en-US" sz="1600" dirty="0">
                <a:solidFill>
                  <a:srgbClr val="D35400"/>
                </a:solidFill>
                <a:latin typeface="Quattrocento Sans" pitchFamily="34" charset="0"/>
                <a:ea typeface="Quattrocento Sans" pitchFamily="34" charset="-122"/>
                <a:cs typeface="Quattrocento Sans" pitchFamily="34" charset="-120"/>
              </a:rPr>
              <a:t>■</a:t>
            </a:r>
            <a:pPr>
              <a:lnSpc>
                <a:spcPct val="180000"/>
              </a:lnSpc>
            </a:pPr>
            <a:r>
              <a:rPr lang="en-US" sz="1600" dirty="0">
                <a:solidFill>
                  <a:srgbClr val="1A1A1A"/>
                </a:solidFill>
                <a:latin typeface="Quattrocento Sans" pitchFamily="34" charset="0"/>
                <a:ea typeface="Quattrocento Sans" pitchFamily="34" charset="-122"/>
                <a:cs typeface="Quattrocento Sans" pitchFamily="34" charset="-120"/>
              </a:rPr>
              <a:t> Dossier </a:t>
            </a:r>
            <a:pPr>
              <a:lnSpc>
                <a:spcPct val="180000"/>
              </a:lnSpc>
            </a:pPr>
            <a:r>
              <a:rPr lang="en-US" sz="1600" b="1" dirty="0">
                <a:solidFill>
                  <a:srgbClr val="1A1A1A"/>
                </a:solidFill>
                <a:latin typeface="Quattrocento Sans" pitchFamily="34" charset="0"/>
                <a:ea typeface="Quattrocento Sans" pitchFamily="34" charset="-122"/>
                <a:cs typeface="Quattrocento Sans" pitchFamily="34" charset="-120"/>
              </a:rPr>
              <a:t>pre-qualifie</a:t>
            </a:r>
            <a:pPr>
              <a:lnSpc>
                <a:spcPct val="180000"/>
              </a:lnSpc>
            </a:pPr>
            <a:r>
              <a:rPr lang="en-US" sz="1600" dirty="0">
                <a:solidFill>
                  <a:srgbClr val="1A1A1A"/>
                </a:solidFill>
                <a:latin typeface="Quattrocento Sans" pitchFamily="34" charset="0"/>
                <a:ea typeface="Quattrocento Sans" pitchFamily="34" charset="-122"/>
                <a:cs typeface="Quattrocento Sans" pitchFamily="34" charset="-120"/>
              </a:rPr>
              <a:t> avant agence</a:t>
            </a:r>
            <a:endParaRPr lang="en-US" sz="1600" dirty="0"/>
          </a:p>
          <a:p>
            <a:pPr>
              <a:lnSpc>
                <a:spcPct val="180000"/>
              </a:lnSpc>
              <a:spcBef>
                <a:spcPts val="1600"/>
              </a:spcBef>
            </a:pPr>
            <a:r>
              <a:rPr lang="en-US" sz="1400" b="1" dirty="0">
                <a:solidFill>
                  <a:srgbClr val="D35400"/>
                </a:solidFill>
                <a:latin typeface="Quattrocento Sans" pitchFamily="34" charset="0"/>
                <a:ea typeface="Quattrocento Sans" pitchFamily="34" charset="-122"/>
                <a:cs typeface="Quattrocento Sans" pitchFamily="34" charset="-120"/>
              </a:rPr>
              <a:t>Le digital ne remplace pas l'agence. Il la prepare.</a:t>
            </a:r>
            <a:endParaRPr lang="en-US" sz="1600" dirty="0"/>
          </a:p>
        </p:txBody>
      </p:sp>
      <p:sp>
        <p:nvSpPr>
          <p:cNvPr id="16" name="Text 14"/>
          <p:cNvSpPr/>
          <p:nvPr/>
        </p:nvSpPr>
        <p:spPr>
          <a:xfrm>
            <a:off x="14986000" y="8636000"/>
            <a:ext cx="762000" cy="254000"/>
          </a:xfrm>
          <a:prstGeom prst="rect">
            <a:avLst/>
          </a:prstGeom>
          <a:noFill/>
          <a:ln/>
        </p:spPr>
        <p:txBody>
          <a:bodyPr wrap="none" lIns="0" tIns="0" rIns="0" bIns="0" rtlCol="0" anchor="ctr"/>
          <a:lstStyle/>
          <a:p>
            <a:pPr algn="r">
              <a:lnSpc>
                <a:spcPct val="140000"/>
              </a:lnSpc>
            </a:pPr>
            <a:r>
              <a:rPr lang="en-US" sz="1200" dirty="0">
                <a:solidFill>
                  <a:srgbClr val="8A8A8A"/>
                </a:solidFill>
                <a:latin typeface="QuattrocentoSans" pitchFamily="34" charset="0"/>
                <a:ea typeface="QuattrocentoSans" pitchFamily="34" charset="-122"/>
                <a:cs typeface="QuattrocentoSans" pitchFamily="34" charset="-120"/>
              </a:rPr>
              <a:t>05</a:t>
            </a:r>
            <a:endParaRPr lang="en-US" sz="1200" dirty="0"/>
          </a:p>
        </p:txBody>
      </p:sp>
    </p:spTree>
  </p:cSld>
  <p:clrMapOvr>
    <a:masterClrMapping/>
  </p:clrMapOvr>
  <p:transition>
    <p:fade/>
    <p:spd val="med"/>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https://kimi-img.moonshot.cn/pub/slides/okc/eqhpli636fwka/mnt/agents/output/veripass-presentation/images/4_Successful_financial_inclusion_tool.png">    </p:cNvPr>
          <p:cNvPicPr>
            <a:picLocks noChangeAspect="1"/>
          </p:cNvPicPr>
          <p:nvPr/>
        </p:nvPicPr>
        <p:blipFill>
          <a:blip r:embed="rId1"/>
          <a:srcRect l="0" r="0" t="7833" b="7833"/>
          <a:stretch/>
        </p:blipFill>
        <p:spPr>
          <a:xfrm>
            <a:off x="0" y="0"/>
            <a:ext cx="16256000" cy="9144000"/>
          </a:xfrm>
          <a:prstGeom prst="rect">
            <a:avLst/>
          </a:prstGeom>
        </p:spPr>
      </p:pic>
      <p:sp>
        <p:nvSpPr>
          <p:cNvPr id="3" name="Shape 0"/>
          <p:cNvSpPr/>
          <p:nvPr/>
        </p:nvSpPr>
        <p:spPr>
          <a:xfrm>
            <a:off x="0" y="0"/>
            <a:ext cx="16256000" cy="9144000"/>
          </a:xfrm>
          <a:prstGeom prst="rect">
            <a:avLst/>
          </a:prstGeom>
          <a:gradFill rotWithShape="1" flip="none">
            <a:gsLst>
              <a:gs pos="0">
                <a:srgbClr val="0F0F0F">
                  <a:alpha val="93000"/>
                </a:srgbClr>
              </a:gs>
              <a:gs pos="60000">
                <a:srgbClr val="0F0F0F">
                  <a:alpha val="87000"/>
                </a:srgbClr>
              </a:gs>
              <a:gs pos="100000">
                <a:srgbClr val="0F0F0F">
                  <a:alpha val="60000"/>
                </a:srgbClr>
              </a:gs>
            </a:gsLst>
            <a:lin ang="0" scaled="1"/>
          </a:gradFill>
          <a:ln w="12700">
            <a:solidFill>
              <a:srgbClr val="333333"/>
            </a:solidFill>
            <a:prstDash val="solid"/>
          </a:ln>
        </p:spPr>
      </p:sp>
      <p:sp>
        <p:nvSpPr>
          <p:cNvPr id="4" name="Text 1"/>
          <p:cNvSpPr/>
          <p:nvPr/>
        </p:nvSpPr>
        <p:spPr>
          <a:xfrm>
            <a:off x="762000" y="1524000"/>
            <a:ext cx="5080000" cy="2540000"/>
          </a:xfrm>
          <a:prstGeom prst="rect">
            <a:avLst/>
          </a:prstGeom>
          <a:noFill/>
          <a:ln/>
        </p:spPr>
        <p:txBody>
          <a:bodyPr wrap="none" lIns="0" tIns="0" rIns="0" bIns="0" rtlCol="0" anchor="ctr"/>
          <a:lstStyle/>
          <a:p>
            <a:pPr>
              <a:lnSpc>
                <a:spcPct val="100000"/>
              </a:lnSpc>
            </a:pPr>
            <a:r>
              <a:rPr lang="en-US" sz="18000" dirty="0">
                <a:solidFill>
                  <a:srgbClr val="D35400">
                    <a:alpha val="9412"/>
                  </a:srgbClr>
                </a:solidFill>
                <a:latin typeface="Liter" pitchFamily="34" charset="0"/>
                <a:ea typeface="Liter" pitchFamily="34" charset="-122"/>
                <a:cs typeface="Liter" pitchFamily="34" charset="-120"/>
              </a:rPr>
              <a:t>02</a:t>
            </a:r>
            <a:endParaRPr lang="en-US" sz="1600" dirty="0"/>
          </a:p>
        </p:txBody>
      </p:sp>
      <p:sp>
        <p:nvSpPr>
          <p:cNvPr id="5" name="Text 2"/>
          <p:cNvSpPr/>
          <p:nvPr/>
        </p:nvSpPr>
        <p:spPr>
          <a:xfrm>
            <a:off x="762000" y="3048000"/>
            <a:ext cx="1524000" cy="381000"/>
          </a:xfrm>
          <a:prstGeom prst="rect">
            <a:avLst/>
          </a:prstGeom>
          <a:noFill/>
          <a:ln/>
        </p:spPr>
        <p:txBody>
          <a:bodyPr wrap="none" lIns="0" tIns="0" rIns="0" bIns="0" rtlCol="0" anchor="ctr"/>
          <a:lstStyle/>
          <a:p>
            <a:pPr>
              <a:lnSpc>
                <a:spcPct val="120000"/>
              </a:lnSpc>
            </a:pPr>
            <a:r>
              <a:rPr lang="en-US" sz="1200" spc="200" kern="0" dirty="0">
                <a:solidFill>
                  <a:srgbClr val="D35400"/>
                </a:solidFill>
                <a:latin typeface="Liter" pitchFamily="34" charset="0"/>
                <a:ea typeface="Liter" pitchFamily="34" charset="-122"/>
                <a:cs typeface="Liter" pitchFamily="34" charset="-120"/>
              </a:rPr>
              <a:t>CHAPITRE 02</a:t>
            </a:r>
            <a:endParaRPr lang="en-US" sz="1200" dirty="0"/>
          </a:p>
        </p:txBody>
      </p:sp>
      <p:sp>
        <p:nvSpPr>
          <p:cNvPr id="6" name="Shape 3"/>
          <p:cNvSpPr/>
          <p:nvPr/>
        </p:nvSpPr>
        <p:spPr>
          <a:xfrm>
            <a:off x="762000" y="3556000"/>
            <a:ext cx="762000" cy="50800"/>
          </a:xfrm>
          <a:prstGeom prst="rect">
            <a:avLst/>
          </a:prstGeom>
          <a:solidFill>
            <a:srgbClr val="D35400"/>
          </a:solidFill>
          <a:ln/>
        </p:spPr>
      </p:sp>
      <p:sp>
        <p:nvSpPr>
          <p:cNvPr id="7" name="Text 4"/>
          <p:cNvSpPr/>
          <p:nvPr/>
        </p:nvSpPr>
        <p:spPr>
          <a:xfrm>
            <a:off x="762000" y="3810000"/>
            <a:ext cx="7620000" cy="762000"/>
          </a:xfrm>
          <a:prstGeom prst="rect">
            <a:avLst/>
          </a:prstGeom>
          <a:noFill/>
          <a:ln/>
        </p:spPr>
        <p:txBody>
          <a:bodyPr wrap="none" lIns="0" tIns="0" rIns="0" bIns="0" rtlCol="0" anchor="ctr"/>
          <a:lstStyle/>
          <a:p>
            <a:pPr>
              <a:lnSpc>
                <a:spcPct val="120000"/>
              </a:lnSpc>
            </a:pPr>
            <a:r>
              <a:rPr lang="en-US" sz="4400" spc="300" kern="0" dirty="0">
                <a:solidFill>
                  <a:srgbClr val="FFFFFF"/>
                </a:solidFill>
                <a:latin typeface="Liter" pitchFamily="34" charset="0"/>
                <a:ea typeface="Liter" pitchFamily="34" charset="-122"/>
                <a:cs typeface="Liter" pitchFamily="34" charset="-120"/>
              </a:rPr>
              <a:t>LA SOLUTION</a:t>
            </a:r>
            <a:endParaRPr lang="en-US" sz="4800" dirty="0"/>
          </a:p>
        </p:txBody>
      </p:sp>
      <p:sp>
        <p:nvSpPr>
          <p:cNvPr id="8" name="Text 5"/>
          <p:cNvSpPr/>
          <p:nvPr/>
        </p:nvSpPr>
        <p:spPr>
          <a:xfrm>
            <a:off x="762000" y="4826000"/>
            <a:ext cx="8255000" cy="1524000"/>
          </a:xfrm>
          <a:prstGeom prst="rect">
            <a:avLst/>
          </a:prstGeom>
          <a:noFill/>
          <a:ln/>
        </p:spPr>
        <p:txBody>
          <a:bodyPr wrap="square" lIns="0" tIns="0" rIns="0" bIns="0" rtlCol="0" anchor="ctr"/>
          <a:lstStyle/>
          <a:p>
            <a:pPr>
              <a:lnSpc>
                <a:spcPct val="160000"/>
              </a:lnSpc>
            </a:pPr>
            <a:r>
              <a:rPr lang="en-US" sz="2000" dirty="0">
                <a:solidFill>
                  <a:srgbClr val="FFFFFF">
                    <a:alpha val="73333"/>
                  </a:srgbClr>
                </a:solidFill>
                <a:latin typeface="Quattrocento Sans" pitchFamily="34" charset="0"/>
                <a:ea typeface="Quattrocento Sans" pitchFamily="34" charset="-122"/>
                <a:cs typeface="Quattrocento Sans" pitchFamily="34" charset="-120"/>
              </a:rPr>
              <a:t>VeriPass ne remplace pas la banque ni ses agents. Il reduit la friction client, structure les preuves KYC et donne aux equipes BICEC une chaine de validation tracable, sur site, pilotable et controlable.</a:t>
            </a:r>
            <a:endParaRPr lang="en-US" sz="1600" dirty="0"/>
          </a:p>
        </p:txBody>
      </p:sp>
      <p:sp>
        <p:nvSpPr>
          <p:cNvPr id="9" name="Shape 6"/>
          <p:cNvSpPr/>
          <p:nvPr/>
        </p:nvSpPr>
        <p:spPr>
          <a:xfrm>
            <a:off x="0" y="8890000"/>
            <a:ext cx="16256000" cy="254000"/>
          </a:xfrm>
          <a:prstGeom prst="rect">
            <a:avLst/>
          </a:prstGeom>
          <a:solidFill>
            <a:srgbClr val="D35400"/>
          </a:solidFill>
          <a:ln/>
        </p:spPr>
      </p:sp>
    </p:spTree>
  </p:cSld>
  <p:clrMapOvr>
    <a:masterClrMapping/>
  </p:clrMapOvr>
  <p:transition>
    <p:fade/>
    <p:spd val="med"/>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0EB"/>
        </a:solidFill>
      </p:bgPr>
    </p:bg>
    <p:spTree>
      <p:nvGrpSpPr>
        <p:cNvPr id="1" name=""/>
        <p:cNvGrpSpPr/>
        <p:nvPr/>
      </p:nvGrpSpPr>
      <p:grpSpPr>
        <a:xfrm>
          <a:off x="0" y="0"/>
          <a:ext cx="0" cy="0"/>
          <a:chOff x="0" y="0"/>
          <a:chExt cx="0" cy="0"/>
        </a:xfrm>
      </p:grpSpPr>
      <p:sp>
        <p:nvSpPr>
          <p:cNvPr id="2" name="Shape 0"/>
          <p:cNvSpPr/>
          <p:nvPr/>
        </p:nvSpPr>
        <p:spPr>
          <a:xfrm>
            <a:off x="762000" y="635000"/>
            <a:ext cx="508000" cy="50800"/>
          </a:xfrm>
          <a:prstGeom prst="rect">
            <a:avLst/>
          </a:prstGeom>
          <a:solidFill>
            <a:srgbClr val="D35400"/>
          </a:solidFill>
          <a:ln/>
        </p:spPr>
      </p:sp>
      <p:sp>
        <p:nvSpPr>
          <p:cNvPr id="3" name="Text 1"/>
          <p:cNvSpPr/>
          <p:nvPr/>
        </p:nvSpPr>
        <p:spPr>
          <a:xfrm>
            <a:off x="762000" y="825500"/>
            <a:ext cx="2540000" cy="254000"/>
          </a:xfrm>
          <a:prstGeom prst="rect">
            <a:avLst/>
          </a:prstGeom>
          <a:noFill/>
          <a:ln/>
        </p:spPr>
        <p:txBody>
          <a:bodyPr wrap="none" lIns="0" tIns="0" rIns="0" bIns="0" rtlCol="0" anchor="ctr"/>
          <a:lstStyle/>
          <a:p>
            <a:pPr>
              <a:lnSpc>
                <a:spcPct val="120000"/>
              </a:lnSpc>
            </a:pPr>
            <a:r>
              <a:rPr lang="en-US" sz="1200" spc="200" kern="0" dirty="0">
                <a:solidFill>
                  <a:srgbClr val="D35400"/>
                </a:solidFill>
                <a:latin typeface="Liter" pitchFamily="34" charset="0"/>
                <a:ea typeface="Liter" pitchFamily="34" charset="-122"/>
                <a:cs typeface="Liter" pitchFamily="34" charset="-120"/>
              </a:rPr>
              <a:t>LA SOLUTION</a:t>
            </a:r>
            <a:endParaRPr lang="en-US" sz="1200" dirty="0"/>
          </a:p>
        </p:txBody>
      </p:sp>
      <p:sp>
        <p:nvSpPr>
          <p:cNvPr id="4" name="Text 2"/>
          <p:cNvSpPr/>
          <p:nvPr/>
        </p:nvSpPr>
        <p:spPr>
          <a:xfrm>
            <a:off x="762000" y="1206500"/>
            <a:ext cx="12700000" cy="571500"/>
          </a:xfrm>
          <a:prstGeom prst="rect">
            <a:avLst/>
          </a:prstGeom>
          <a:noFill/>
          <a:ln/>
        </p:spPr>
        <p:txBody>
          <a:bodyPr wrap="square" lIns="0" tIns="0" rIns="0" bIns="0" rtlCol="0" anchor="ctr"/>
          <a:lstStyle/>
          <a:p>
            <a:pPr>
              <a:lnSpc>
                <a:spcPct val="130000"/>
              </a:lnSpc>
            </a:pPr>
            <a:r>
              <a:rPr lang="en-US" sz="3000" dirty="0">
                <a:solidFill>
                  <a:srgbClr val="1A1A1A"/>
                </a:solidFill>
                <a:latin typeface="Liter" pitchFamily="34" charset="0"/>
                <a:ea typeface="Liter" pitchFamily="34" charset="-122"/>
                <a:cs typeface="Liter" pitchFamily="34" charset="-120"/>
              </a:rPr>
              <a:t>Chaque role recoit exactement ce qu'il doit controler</a:t>
            </a:r>
            <a:endParaRPr lang="en-US" sz="3000" dirty="0"/>
          </a:p>
        </p:txBody>
      </p:sp>
      <p:sp>
        <p:nvSpPr>
          <p:cNvPr id="5" name="Shape 3"/>
          <p:cNvSpPr/>
          <p:nvPr/>
        </p:nvSpPr>
        <p:spPr>
          <a:xfrm>
            <a:off x="762000" y="2032000"/>
            <a:ext cx="14732000" cy="1524000"/>
          </a:xfrm>
          <a:prstGeom prst="rect">
            <a:avLst/>
          </a:prstGeom>
          <a:solidFill>
            <a:srgbClr val="5D2E18"/>
          </a:solidFill>
          <a:ln/>
        </p:spPr>
      </p:sp>
      <p:sp>
        <p:nvSpPr>
          <p:cNvPr id="6" name="Text 4"/>
          <p:cNvSpPr/>
          <p:nvPr/>
        </p:nvSpPr>
        <p:spPr>
          <a:xfrm>
            <a:off x="1016000" y="2222500"/>
            <a:ext cx="14224000" cy="1143000"/>
          </a:xfrm>
          <a:prstGeom prst="rect">
            <a:avLst/>
          </a:prstGeom>
          <a:noFill/>
          <a:ln/>
        </p:spPr>
        <p:txBody>
          <a:bodyPr wrap="square" lIns="0" tIns="0" rIns="0" bIns="0" rtlCol="0" anchor="ctr"/>
          <a:lstStyle/>
          <a:p>
            <a:pPr algn="ctr">
              <a:lnSpc>
                <a:spcPct val="160000"/>
              </a:lnSpc>
            </a:pPr>
            <a:r>
              <a:rPr lang="en-US" sz="1400" b="1" dirty="0">
                <a:solidFill>
                  <a:srgbClr val="F39C12"/>
                </a:solidFill>
                <a:latin typeface="Quattrocento Sans" pitchFamily="34" charset="0"/>
                <a:ea typeface="Quattrocento Sans" pitchFamily="34" charset="-122"/>
                <a:cs typeface="Quattrocento Sans" pitchFamily="34" charset="-120"/>
              </a:rPr>
              <a:t>FLOW COMPLET</a:t>
            </a:r>
            <a:endParaRPr lang="en-US" sz="1600" dirty="0"/>
          </a:p>
          <a:p>
            <a:pPr algn="ctr">
              <a:lnSpc>
                <a:spcPct val="160000"/>
              </a:lnSpc>
            </a:pPr>
            <a:r>
              <a:rPr lang="en-US" sz="1400" dirty="0">
                <a:solidFill>
                  <a:srgbClr val="FFFFFF"/>
                </a:solidFill>
                <a:latin typeface="Quattrocento Sans" pitchFamily="34" charset="0"/>
                <a:ea typeface="Quattrocento Sans" pitchFamily="34" charset="-122"/>
                <a:cs typeface="Quattrocento Sans" pitchFamily="34" charset="-120"/>
              </a:rPr>
              <a:t>Client Mobile (PWA) → API KYC (FastAPI) → OCR + Biometrie → Jean (Validation) → Thomas (Conformite) → Sylvie (Pilotage/Audit) → </a:t>
            </a:r>
            <a:pPr algn="ctr">
              <a:lnSpc>
                <a:spcPct val="160000"/>
              </a:lnSpc>
            </a:pPr>
            <a:r>
              <a:rPr lang="en-US" sz="1400" b="1" dirty="0">
                <a:solidFill>
                  <a:srgbClr val="FFFFFF"/>
                </a:solidFill>
                <a:latin typeface="Quattrocento Sans" pitchFamily="34" charset="0"/>
                <a:ea typeface="Quattrocento Sans" pitchFamily="34" charset="-122"/>
                <a:cs typeface="Quattrocento Sans" pitchFamily="34" charset="-120"/>
              </a:rPr>
              <a:t>Decision</a:t>
            </a:r>
            <a:endParaRPr lang="en-US" sz="1600" dirty="0"/>
          </a:p>
        </p:txBody>
      </p:sp>
      <p:sp>
        <p:nvSpPr>
          <p:cNvPr id="7" name="Shape 5"/>
          <p:cNvSpPr/>
          <p:nvPr/>
        </p:nvSpPr>
        <p:spPr>
          <a:xfrm>
            <a:off x="762000" y="3937000"/>
            <a:ext cx="2794000" cy="3937000"/>
          </a:xfrm>
          <a:prstGeom prst="rect">
            <a:avLst/>
          </a:prstGeom>
          <a:solidFill>
            <a:srgbClr val="FFFFFF"/>
          </a:solidFill>
          <a:ln w="12700">
            <a:solidFill>
              <a:srgbClr val="E0DCD8"/>
            </a:solidFill>
            <a:prstDash val="solid"/>
          </a:ln>
        </p:spPr>
      </p:sp>
      <p:sp>
        <p:nvSpPr>
          <p:cNvPr id="8" name="Shape 6"/>
          <p:cNvSpPr/>
          <p:nvPr/>
        </p:nvSpPr>
        <p:spPr>
          <a:xfrm>
            <a:off x="762000" y="3937000"/>
            <a:ext cx="2794000" cy="63500"/>
          </a:xfrm>
          <a:prstGeom prst="rect">
            <a:avLst/>
          </a:prstGeom>
          <a:solidFill>
            <a:srgbClr val="D35400"/>
          </a:solidFill>
          <a:ln/>
        </p:spPr>
      </p:sp>
      <p:sp>
        <p:nvSpPr>
          <p:cNvPr id="9" name="Shape 7"/>
          <p:cNvSpPr/>
          <p:nvPr/>
        </p:nvSpPr>
        <p:spPr>
          <a:xfrm>
            <a:off x="1066800" y="4191000"/>
            <a:ext cx="304800" cy="406400"/>
          </a:xfrm>
          <a:custGeom>
            <a:avLst/>
            <a:gdLst/>
            <a:ahLst/>
            <a:cxnLst/>
            <a:rect l="l" t="t" r="r" b="b"/>
            <a:pathLst>
              <a:path w="304800" h="406400">
                <a:moveTo>
                  <a:pt x="12700" y="50800"/>
                </a:moveTo>
                <a:cubicBezTo>
                  <a:pt x="12700" y="22781"/>
                  <a:pt x="35481" y="0"/>
                  <a:pt x="63500" y="0"/>
                </a:cubicBezTo>
                <a:lnTo>
                  <a:pt x="241300" y="0"/>
                </a:lnTo>
                <a:cubicBezTo>
                  <a:pt x="269319" y="0"/>
                  <a:pt x="292100" y="22781"/>
                  <a:pt x="292100" y="50800"/>
                </a:cubicBezTo>
                <a:lnTo>
                  <a:pt x="292100" y="355600"/>
                </a:lnTo>
                <a:cubicBezTo>
                  <a:pt x="292100" y="383619"/>
                  <a:pt x="269319" y="406400"/>
                  <a:pt x="241300" y="406400"/>
                </a:cubicBezTo>
                <a:lnTo>
                  <a:pt x="63500" y="406400"/>
                </a:lnTo>
                <a:cubicBezTo>
                  <a:pt x="35481" y="406400"/>
                  <a:pt x="12700" y="383619"/>
                  <a:pt x="12700" y="355600"/>
                </a:cubicBezTo>
                <a:lnTo>
                  <a:pt x="12700" y="50800"/>
                </a:lnTo>
                <a:close/>
                <a:moveTo>
                  <a:pt x="63500" y="50800"/>
                </a:moveTo>
                <a:lnTo>
                  <a:pt x="63500" y="292100"/>
                </a:lnTo>
                <a:lnTo>
                  <a:pt x="241300" y="292100"/>
                </a:lnTo>
                <a:lnTo>
                  <a:pt x="241300" y="50800"/>
                </a:lnTo>
                <a:lnTo>
                  <a:pt x="63500" y="50800"/>
                </a:lnTo>
                <a:close/>
                <a:moveTo>
                  <a:pt x="152400" y="374650"/>
                </a:moveTo>
                <a:cubicBezTo>
                  <a:pt x="166449" y="374650"/>
                  <a:pt x="177800" y="363299"/>
                  <a:pt x="177800" y="349250"/>
                </a:cubicBezTo>
                <a:cubicBezTo>
                  <a:pt x="177800" y="335201"/>
                  <a:pt x="166449" y="323850"/>
                  <a:pt x="152400" y="323850"/>
                </a:cubicBezTo>
                <a:cubicBezTo>
                  <a:pt x="138351" y="323850"/>
                  <a:pt x="127000" y="335201"/>
                  <a:pt x="127000" y="349250"/>
                </a:cubicBezTo>
                <a:cubicBezTo>
                  <a:pt x="127000" y="363299"/>
                  <a:pt x="138351" y="374650"/>
                  <a:pt x="152400" y="374650"/>
                </a:cubicBezTo>
                <a:close/>
              </a:path>
            </a:pathLst>
          </a:custGeom>
          <a:solidFill>
            <a:srgbClr val="D35400"/>
          </a:solidFill>
          <a:ln/>
        </p:spPr>
      </p:sp>
      <p:sp>
        <p:nvSpPr>
          <p:cNvPr id="10" name="Text 8"/>
          <p:cNvSpPr/>
          <p:nvPr/>
        </p:nvSpPr>
        <p:spPr>
          <a:xfrm>
            <a:off x="1016000" y="4724400"/>
            <a:ext cx="2286000" cy="317500"/>
          </a:xfrm>
          <a:prstGeom prst="rect">
            <a:avLst/>
          </a:prstGeom>
          <a:noFill/>
          <a:ln/>
        </p:spPr>
        <p:txBody>
          <a:bodyPr wrap="none" lIns="0" tIns="0" rIns="0" bIns="0" rtlCol="0" anchor="ctr"/>
          <a:lstStyle/>
          <a:p>
            <a:pPr>
              <a:lnSpc>
                <a:spcPct val="100000"/>
              </a:lnSpc>
            </a:pPr>
            <a:r>
              <a:rPr lang="en-US" sz="1600" dirty="0">
                <a:solidFill>
                  <a:srgbClr val="1A1A1A"/>
                </a:solidFill>
                <a:latin typeface="Liter" pitchFamily="34" charset="0"/>
                <a:ea typeface="Liter" pitchFamily="34" charset="-122"/>
                <a:cs typeface="Liter" pitchFamily="34" charset="-120"/>
              </a:rPr>
              <a:t>MARIE</a:t>
            </a:r>
            <a:endParaRPr lang="en-US" sz="1600" dirty="0"/>
          </a:p>
        </p:txBody>
      </p:sp>
      <p:sp>
        <p:nvSpPr>
          <p:cNvPr id="11" name="Text 9"/>
          <p:cNvSpPr/>
          <p:nvPr/>
        </p:nvSpPr>
        <p:spPr>
          <a:xfrm>
            <a:off x="1016000" y="5041900"/>
            <a:ext cx="2286000" cy="254000"/>
          </a:xfrm>
          <a:prstGeom prst="rect">
            <a:avLst/>
          </a:prstGeom>
          <a:noFill/>
          <a:ln/>
        </p:spPr>
        <p:txBody>
          <a:bodyPr wrap="none" lIns="0" tIns="0" rIns="0" bIns="0" rtlCol="0" anchor="ctr"/>
          <a:lstStyle/>
          <a:p>
            <a:pPr>
              <a:lnSpc>
                <a:spcPct val="100000"/>
              </a:lnSpc>
            </a:pPr>
            <a:r>
              <a:rPr lang="en-US" sz="1200" dirty="0">
                <a:solidFill>
                  <a:srgbClr val="D35400"/>
                </a:solidFill>
                <a:latin typeface="Quattrocento Sans" pitchFamily="34" charset="0"/>
                <a:ea typeface="Quattrocento Sans" pitchFamily="34" charset="-122"/>
                <a:cs typeface="Quattrocento Sans" pitchFamily="34" charset="-120"/>
              </a:rPr>
              <a:t>Cliente</a:t>
            </a:r>
            <a:endParaRPr lang="en-US" sz="1600" dirty="0"/>
          </a:p>
        </p:txBody>
      </p:sp>
      <p:sp>
        <p:nvSpPr>
          <p:cNvPr id="12" name="Text 10"/>
          <p:cNvSpPr/>
          <p:nvPr/>
        </p:nvSpPr>
        <p:spPr>
          <a:xfrm>
            <a:off x="1016000" y="5397500"/>
            <a:ext cx="2286000" cy="2286000"/>
          </a:xfrm>
          <a:prstGeom prst="rect">
            <a:avLst/>
          </a:prstGeom>
          <a:noFill/>
          <a:ln/>
        </p:spPr>
        <p:txBody>
          <a:bodyPr wrap="square" lIns="0" tIns="0" rIns="0" bIns="0" rtlCol="0" anchor="ctr"/>
          <a:lstStyle/>
          <a:p>
            <a:pPr>
              <a:lnSpc>
                <a:spcPct val="160000"/>
              </a:lnSpc>
            </a:pPr>
            <a:r>
              <a:rPr lang="en-US" sz="1300" dirty="0">
                <a:solidFill>
                  <a:srgbClr val="1A1A1A"/>
                </a:solidFill>
                <a:latin typeface="Quattrocento Sans" pitchFamily="34" charset="0"/>
                <a:ea typeface="Quattrocento Sans" pitchFamily="34" charset="-122"/>
                <a:cs typeface="Quattrocento Sans" pitchFamily="34" charset="-120"/>
              </a:rPr>
              <a:t>• PWA Mobile</a:t>
            </a:r>
            <a:endParaRPr lang="en-US" sz="1600" dirty="0"/>
          </a:p>
          <a:p>
            <a:pPr>
              <a:lnSpc>
                <a:spcPct val="160000"/>
              </a:lnSpc>
            </a:pPr>
            <a:r>
              <a:rPr lang="en-US" sz="1300" dirty="0">
                <a:solidFill>
                  <a:srgbClr val="1A1A1A"/>
                </a:solidFill>
                <a:latin typeface="Quattrocento Sans" pitchFamily="34" charset="0"/>
                <a:ea typeface="Quattrocento Sans" pitchFamily="34" charset="-122"/>
                <a:cs typeface="Quattrocento Sans" pitchFamily="34" charset="-120"/>
              </a:rPr>
              <a:t>• Capture CNI</a:t>
            </a:r>
            <a:endParaRPr lang="en-US" sz="1600" dirty="0"/>
          </a:p>
          <a:p>
            <a:pPr>
              <a:lnSpc>
                <a:spcPct val="160000"/>
              </a:lnSpc>
            </a:pPr>
            <a:r>
              <a:rPr lang="en-US" sz="1300" dirty="0">
                <a:solidFill>
                  <a:srgbClr val="1A1A1A"/>
                </a:solidFill>
                <a:latin typeface="Quattrocento Sans" pitchFamily="34" charset="0"/>
                <a:ea typeface="Quattrocento Sans" pitchFamily="34" charset="-122"/>
                <a:cs typeface="Quattrocento Sans" pitchFamily="34" charset="-120"/>
              </a:rPr>
              <a:t>• Liveness selfie</a:t>
            </a:r>
            <a:endParaRPr lang="en-US" sz="1600" dirty="0"/>
          </a:p>
          <a:p>
            <a:pPr>
              <a:lnSpc>
                <a:spcPct val="160000"/>
              </a:lnSpc>
            </a:pPr>
            <a:r>
              <a:rPr lang="en-US" sz="1300" dirty="0">
                <a:solidFill>
                  <a:srgbClr val="1A1A1A"/>
                </a:solidFill>
                <a:latin typeface="Quattrocento Sans" pitchFamily="34" charset="0"/>
                <a:ea typeface="Quattrocento Sans" pitchFamily="34" charset="-122"/>
                <a:cs typeface="Quattrocento Sans" pitchFamily="34" charset="-120"/>
              </a:rPr>
              <a:t>• Consentement</a:t>
            </a:r>
            <a:endParaRPr lang="en-US" sz="1600" dirty="0"/>
          </a:p>
          <a:p>
            <a:pPr>
              <a:lnSpc>
                <a:spcPct val="160000"/>
              </a:lnSpc>
            </a:pPr>
            <a:r>
              <a:rPr lang="en-US" sz="1300" dirty="0">
                <a:solidFill>
                  <a:srgbClr val="1A1A1A"/>
                </a:solidFill>
                <a:latin typeface="Quattrocento Sans" pitchFamily="34" charset="0"/>
                <a:ea typeface="Quattrocento Sans" pitchFamily="34" charset="-122"/>
                <a:cs typeface="Quattrocento Sans" pitchFamily="34" charset="-120"/>
              </a:rPr>
              <a:t>• Signature</a:t>
            </a:r>
            <a:endParaRPr lang="en-US" sz="1600" dirty="0"/>
          </a:p>
          <a:p>
            <a:pPr>
              <a:lnSpc>
                <a:spcPct val="160000"/>
              </a:lnSpc>
            </a:pPr>
            <a:r>
              <a:rPr lang="en-US" sz="1300" dirty="0">
                <a:solidFill>
                  <a:srgbClr val="1A1A1A"/>
                </a:solidFill>
                <a:latin typeface="Quattrocento Sans" pitchFamily="34" charset="0"/>
                <a:ea typeface="Quattrocento Sans" pitchFamily="34" charset="-122"/>
                <a:cs typeface="Quattrocento Sans" pitchFamily="34" charset="-120"/>
              </a:rPr>
              <a:t>• Reprise session</a:t>
            </a:r>
            <a:endParaRPr lang="en-US" sz="1600" dirty="0"/>
          </a:p>
        </p:txBody>
      </p:sp>
      <p:sp>
        <p:nvSpPr>
          <p:cNvPr id="13" name="Shape 11"/>
          <p:cNvSpPr/>
          <p:nvPr/>
        </p:nvSpPr>
        <p:spPr>
          <a:xfrm>
            <a:off x="3810000" y="3937000"/>
            <a:ext cx="2794000" cy="3937000"/>
          </a:xfrm>
          <a:prstGeom prst="rect">
            <a:avLst/>
          </a:prstGeom>
          <a:solidFill>
            <a:srgbClr val="FFFFFF"/>
          </a:solidFill>
          <a:ln w="12700">
            <a:solidFill>
              <a:srgbClr val="E0DCD8"/>
            </a:solidFill>
            <a:prstDash val="solid"/>
          </a:ln>
        </p:spPr>
      </p:sp>
      <p:sp>
        <p:nvSpPr>
          <p:cNvPr id="14" name="Shape 12"/>
          <p:cNvSpPr/>
          <p:nvPr/>
        </p:nvSpPr>
        <p:spPr>
          <a:xfrm>
            <a:off x="3810000" y="3937000"/>
            <a:ext cx="2794000" cy="63500"/>
          </a:xfrm>
          <a:prstGeom prst="rect">
            <a:avLst/>
          </a:prstGeom>
          <a:solidFill>
            <a:srgbClr val="D35400"/>
          </a:solidFill>
          <a:ln/>
        </p:spPr>
      </p:sp>
      <p:sp>
        <p:nvSpPr>
          <p:cNvPr id="15" name="Shape 13"/>
          <p:cNvSpPr/>
          <p:nvPr/>
        </p:nvSpPr>
        <p:spPr>
          <a:xfrm>
            <a:off x="4013200" y="4191000"/>
            <a:ext cx="508000" cy="406400"/>
          </a:xfrm>
          <a:custGeom>
            <a:avLst/>
            <a:gdLst/>
            <a:ahLst/>
            <a:cxnLst/>
            <a:rect l="l" t="t" r="r" b="b"/>
            <a:pathLst>
              <a:path w="508000" h="406400">
                <a:moveTo>
                  <a:pt x="107950" y="101600"/>
                </a:moveTo>
                <a:cubicBezTo>
                  <a:pt x="107950" y="49030"/>
                  <a:pt x="150630" y="6350"/>
                  <a:pt x="203200" y="6350"/>
                </a:cubicBezTo>
                <a:cubicBezTo>
                  <a:pt x="255770" y="6350"/>
                  <a:pt x="298450" y="49030"/>
                  <a:pt x="298450" y="101600"/>
                </a:cubicBezTo>
                <a:cubicBezTo>
                  <a:pt x="298450" y="154170"/>
                  <a:pt x="255770" y="196850"/>
                  <a:pt x="203200" y="196850"/>
                </a:cubicBezTo>
                <a:cubicBezTo>
                  <a:pt x="150630" y="196850"/>
                  <a:pt x="107950" y="154170"/>
                  <a:pt x="107950" y="101600"/>
                </a:cubicBezTo>
                <a:close/>
                <a:moveTo>
                  <a:pt x="38100" y="382826"/>
                </a:moveTo>
                <a:cubicBezTo>
                  <a:pt x="38100" y="304641"/>
                  <a:pt x="101441" y="241300"/>
                  <a:pt x="179626" y="241300"/>
                </a:cubicBezTo>
                <a:lnTo>
                  <a:pt x="226774" y="241300"/>
                </a:lnTo>
                <a:cubicBezTo>
                  <a:pt x="304959" y="241300"/>
                  <a:pt x="368300" y="304641"/>
                  <a:pt x="368300" y="382826"/>
                </a:cubicBezTo>
                <a:cubicBezTo>
                  <a:pt x="368300" y="395843"/>
                  <a:pt x="357743" y="406400"/>
                  <a:pt x="344726" y="406400"/>
                </a:cubicBezTo>
                <a:lnTo>
                  <a:pt x="61674" y="406400"/>
                </a:lnTo>
                <a:cubicBezTo>
                  <a:pt x="48657" y="406400"/>
                  <a:pt x="38100" y="395843"/>
                  <a:pt x="38100" y="382826"/>
                </a:cubicBezTo>
                <a:close/>
                <a:moveTo>
                  <a:pt x="486092" y="105331"/>
                </a:moveTo>
                <a:lnTo>
                  <a:pt x="422592" y="206931"/>
                </a:lnTo>
                <a:cubicBezTo>
                  <a:pt x="419259" y="212249"/>
                  <a:pt x="413544" y="215582"/>
                  <a:pt x="407273" y="215900"/>
                </a:cubicBezTo>
                <a:cubicBezTo>
                  <a:pt x="401003" y="216218"/>
                  <a:pt x="394970" y="213360"/>
                  <a:pt x="391239" y="208280"/>
                </a:cubicBezTo>
                <a:lnTo>
                  <a:pt x="353139" y="157480"/>
                </a:lnTo>
                <a:cubicBezTo>
                  <a:pt x="346789" y="149066"/>
                  <a:pt x="348536" y="137160"/>
                  <a:pt x="356949" y="130810"/>
                </a:cubicBezTo>
                <a:cubicBezTo>
                  <a:pt x="365363" y="124460"/>
                  <a:pt x="377269" y="126206"/>
                  <a:pt x="383619" y="134620"/>
                </a:cubicBezTo>
                <a:lnTo>
                  <a:pt x="405051" y="163195"/>
                </a:lnTo>
                <a:lnTo>
                  <a:pt x="453787" y="85169"/>
                </a:lnTo>
                <a:cubicBezTo>
                  <a:pt x="459343" y="76279"/>
                  <a:pt x="471091" y="73501"/>
                  <a:pt x="480060" y="79137"/>
                </a:cubicBezTo>
                <a:cubicBezTo>
                  <a:pt x="489029" y="84773"/>
                  <a:pt x="491728" y="96441"/>
                  <a:pt x="486093" y="105410"/>
                </a:cubicBezTo>
                <a:close/>
              </a:path>
            </a:pathLst>
          </a:custGeom>
          <a:solidFill>
            <a:srgbClr val="D35400"/>
          </a:solidFill>
          <a:ln/>
        </p:spPr>
      </p:sp>
      <p:sp>
        <p:nvSpPr>
          <p:cNvPr id="16" name="Text 14"/>
          <p:cNvSpPr/>
          <p:nvPr/>
        </p:nvSpPr>
        <p:spPr>
          <a:xfrm>
            <a:off x="4064000" y="4724400"/>
            <a:ext cx="2286000" cy="317500"/>
          </a:xfrm>
          <a:prstGeom prst="rect">
            <a:avLst/>
          </a:prstGeom>
          <a:noFill/>
          <a:ln/>
        </p:spPr>
        <p:txBody>
          <a:bodyPr wrap="none" lIns="0" tIns="0" rIns="0" bIns="0" rtlCol="0" anchor="ctr"/>
          <a:lstStyle/>
          <a:p>
            <a:pPr>
              <a:lnSpc>
                <a:spcPct val="100000"/>
              </a:lnSpc>
            </a:pPr>
            <a:r>
              <a:rPr lang="en-US" sz="1600" dirty="0">
                <a:solidFill>
                  <a:srgbClr val="1A1A1A"/>
                </a:solidFill>
                <a:latin typeface="Liter" pitchFamily="34" charset="0"/>
                <a:ea typeface="Liter" pitchFamily="34" charset="-122"/>
                <a:cs typeface="Liter" pitchFamily="34" charset="-120"/>
              </a:rPr>
              <a:t>JEAN</a:t>
            </a:r>
            <a:endParaRPr lang="en-US" sz="1600" dirty="0"/>
          </a:p>
        </p:txBody>
      </p:sp>
      <p:sp>
        <p:nvSpPr>
          <p:cNvPr id="17" name="Text 15"/>
          <p:cNvSpPr/>
          <p:nvPr/>
        </p:nvSpPr>
        <p:spPr>
          <a:xfrm>
            <a:off x="4064000" y="5041900"/>
            <a:ext cx="2286000" cy="254000"/>
          </a:xfrm>
          <a:prstGeom prst="rect">
            <a:avLst/>
          </a:prstGeom>
          <a:noFill/>
          <a:ln/>
        </p:spPr>
        <p:txBody>
          <a:bodyPr wrap="none" lIns="0" tIns="0" rIns="0" bIns="0" rtlCol="0" anchor="ctr"/>
          <a:lstStyle/>
          <a:p>
            <a:pPr>
              <a:lnSpc>
                <a:spcPct val="100000"/>
              </a:lnSpc>
            </a:pPr>
            <a:r>
              <a:rPr lang="en-US" sz="1200" dirty="0">
                <a:solidFill>
                  <a:srgbClr val="D35400"/>
                </a:solidFill>
                <a:latin typeface="Quattrocento Sans" pitchFamily="34" charset="0"/>
                <a:ea typeface="Quattrocento Sans" pitchFamily="34" charset="-122"/>
                <a:cs typeface="Quattrocento Sans" pitchFamily="34" charset="-120"/>
              </a:rPr>
              <a:t>Agent KYC</a:t>
            </a:r>
            <a:endParaRPr lang="en-US" sz="1600" dirty="0"/>
          </a:p>
        </p:txBody>
      </p:sp>
      <p:sp>
        <p:nvSpPr>
          <p:cNvPr id="18" name="Text 16"/>
          <p:cNvSpPr/>
          <p:nvPr/>
        </p:nvSpPr>
        <p:spPr>
          <a:xfrm>
            <a:off x="4064000" y="5397500"/>
            <a:ext cx="2286000" cy="2286000"/>
          </a:xfrm>
          <a:prstGeom prst="rect">
            <a:avLst/>
          </a:prstGeom>
          <a:noFill/>
          <a:ln/>
        </p:spPr>
        <p:txBody>
          <a:bodyPr wrap="square" lIns="0" tIns="0" rIns="0" bIns="0" rtlCol="0" anchor="ctr"/>
          <a:lstStyle/>
          <a:p>
            <a:pPr>
              <a:lnSpc>
                <a:spcPct val="160000"/>
              </a:lnSpc>
            </a:pPr>
            <a:r>
              <a:rPr lang="en-US" sz="1300" dirty="0">
                <a:solidFill>
                  <a:srgbClr val="1A1A1A"/>
                </a:solidFill>
                <a:latin typeface="Quattrocento Sans" pitchFamily="34" charset="0"/>
                <a:ea typeface="Quattrocento Sans" pitchFamily="34" charset="-122"/>
                <a:cs typeface="Quattrocento Sans" pitchFamily="34" charset="-120"/>
              </a:rPr>
              <a:t>• File de dossiers</a:t>
            </a:r>
            <a:endParaRPr lang="en-US" sz="1600" dirty="0"/>
          </a:p>
          <a:p>
            <a:pPr>
              <a:lnSpc>
                <a:spcPct val="160000"/>
              </a:lnSpc>
            </a:pPr>
            <a:r>
              <a:rPr lang="en-US" sz="1300" dirty="0">
                <a:solidFill>
                  <a:srgbClr val="1A1A1A"/>
                </a:solidFill>
                <a:latin typeface="Quattrocento Sans" pitchFamily="34" charset="0"/>
                <a:ea typeface="Quattrocento Sans" pitchFamily="34" charset="-122"/>
                <a:cs typeface="Quattrocento Sans" pitchFamily="34" charset="-120"/>
              </a:rPr>
              <a:t>• Inspection HR</a:t>
            </a:r>
            <a:endParaRPr lang="en-US" sz="1600" dirty="0"/>
          </a:p>
          <a:p>
            <a:pPr>
              <a:lnSpc>
                <a:spcPct val="160000"/>
              </a:lnSpc>
            </a:pPr>
            <a:r>
              <a:rPr lang="en-US" sz="1300" dirty="0">
                <a:solidFill>
                  <a:srgbClr val="1A1A1A"/>
                </a:solidFill>
                <a:latin typeface="Quattrocento Sans" pitchFamily="34" charset="0"/>
                <a:ea typeface="Quattrocento Sans" pitchFamily="34" charset="-122"/>
                <a:cs typeface="Quattrocento Sans" pitchFamily="34" charset="-120"/>
              </a:rPr>
              <a:t>• OCR review</a:t>
            </a:r>
            <a:endParaRPr lang="en-US" sz="1600" dirty="0"/>
          </a:p>
          <a:p>
            <a:pPr>
              <a:lnSpc>
                <a:spcPct val="160000"/>
              </a:lnSpc>
            </a:pPr>
            <a:r>
              <a:rPr lang="en-US" sz="1300" dirty="0">
                <a:solidFill>
                  <a:srgbClr val="1A1A1A"/>
                </a:solidFill>
                <a:latin typeface="Quattrocento Sans" pitchFamily="34" charset="0"/>
                <a:ea typeface="Quattrocento Sans" pitchFamily="34" charset="-122"/>
                <a:cs typeface="Quattrocento Sans" pitchFamily="34" charset="-120"/>
              </a:rPr>
              <a:t>• Biometrie flag</a:t>
            </a:r>
            <a:endParaRPr lang="en-US" sz="1600" dirty="0"/>
          </a:p>
          <a:p>
            <a:pPr>
              <a:lnSpc>
                <a:spcPct val="160000"/>
              </a:lnSpc>
            </a:pPr>
            <a:r>
              <a:rPr lang="en-US" sz="1300" dirty="0">
                <a:solidFill>
                  <a:srgbClr val="1A1A1A"/>
                </a:solidFill>
                <a:latin typeface="Quattrocento Sans" pitchFamily="34" charset="0"/>
                <a:ea typeface="Quattrocento Sans" pitchFamily="34" charset="-122"/>
                <a:cs typeface="Quattrocento Sans" pitchFamily="34" charset="-120"/>
              </a:rPr>
              <a:t>• Approve/Reject</a:t>
            </a:r>
            <a:endParaRPr lang="en-US" sz="1600" dirty="0"/>
          </a:p>
          <a:p>
            <a:pPr>
              <a:lnSpc>
                <a:spcPct val="160000"/>
              </a:lnSpc>
            </a:pPr>
            <a:r>
              <a:rPr lang="en-US" sz="1300" dirty="0">
                <a:solidFill>
                  <a:srgbClr val="1A1A1A"/>
                </a:solidFill>
                <a:latin typeface="Quattrocento Sans" pitchFamily="34" charset="0"/>
                <a:ea typeface="Quattrocento Sans" pitchFamily="34" charset="-122"/>
                <a:cs typeface="Quattrocento Sans" pitchFamily="34" charset="-120"/>
              </a:rPr>
              <a:t>• Audit trail</a:t>
            </a:r>
            <a:endParaRPr lang="en-US" sz="1600" dirty="0"/>
          </a:p>
        </p:txBody>
      </p:sp>
      <p:sp>
        <p:nvSpPr>
          <p:cNvPr id="19" name="Shape 17"/>
          <p:cNvSpPr/>
          <p:nvPr/>
        </p:nvSpPr>
        <p:spPr>
          <a:xfrm>
            <a:off x="6858000" y="3937000"/>
            <a:ext cx="2794000" cy="3937000"/>
          </a:xfrm>
          <a:prstGeom prst="rect">
            <a:avLst/>
          </a:prstGeom>
          <a:solidFill>
            <a:srgbClr val="FFFFFF"/>
          </a:solidFill>
          <a:ln w="12700">
            <a:solidFill>
              <a:srgbClr val="E0DCD8"/>
            </a:solidFill>
            <a:prstDash val="solid"/>
          </a:ln>
        </p:spPr>
      </p:sp>
      <p:sp>
        <p:nvSpPr>
          <p:cNvPr id="20" name="Shape 18"/>
          <p:cNvSpPr/>
          <p:nvPr/>
        </p:nvSpPr>
        <p:spPr>
          <a:xfrm>
            <a:off x="6858000" y="3937000"/>
            <a:ext cx="2794000" cy="63500"/>
          </a:xfrm>
          <a:prstGeom prst="rect">
            <a:avLst/>
          </a:prstGeom>
          <a:solidFill>
            <a:srgbClr val="D35400"/>
          </a:solidFill>
          <a:ln/>
        </p:spPr>
      </p:sp>
      <p:sp>
        <p:nvSpPr>
          <p:cNvPr id="21" name="Shape 19"/>
          <p:cNvSpPr/>
          <p:nvPr/>
        </p:nvSpPr>
        <p:spPr>
          <a:xfrm>
            <a:off x="7112000" y="4191000"/>
            <a:ext cx="406400" cy="406400"/>
          </a:xfrm>
          <a:custGeom>
            <a:avLst/>
            <a:gdLst/>
            <a:ahLst/>
            <a:cxnLst/>
            <a:rect l="l" t="t" r="r" b="b"/>
            <a:pathLst>
              <a:path w="406400" h="406400">
                <a:moveTo>
                  <a:pt x="203200" y="0"/>
                </a:moveTo>
                <a:cubicBezTo>
                  <a:pt x="206851" y="0"/>
                  <a:pt x="210503" y="794"/>
                  <a:pt x="213836" y="2302"/>
                </a:cubicBezTo>
                <a:lnTo>
                  <a:pt x="363379" y="65723"/>
                </a:lnTo>
                <a:cubicBezTo>
                  <a:pt x="380841" y="73104"/>
                  <a:pt x="393859" y="90329"/>
                  <a:pt x="393779" y="111125"/>
                </a:cubicBezTo>
                <a:cubicBezTo>
                  <a:pt x="393383" y="189865"/>
                  <a:pt x="360998" y="333931"/>
                  <a:pt x="224234" y="399415"/>
                </a:cubicBezTo>
                <a:cubicBezTo>
                  <a:pt x="210979" y="405765"/>
                  <a:pt x="195580" y="405765"/>
                  <a:pt x="182324" y="399415"/>
                </a:cubicBezTo>
                <a:cubicBezTo>
                  <a:pt x="45482" y="333931"/>
                  <a:pt x="13176" y="189865"/>
                  <a:pt x="12779" y="111125"/>
                </a:cubicBezTo>
                <a:cubicBezTo>
                  <a:pt x="12700" y="90329"/>
                  <a:pt x="25717" y="73104"/>
                  <a:pt x="43180" y="65723"/>
                </a:cubicBezTo>
                <a:lnTo>
                  <a:pt x="192643" y="2302"/>
                </a:lnTo>
                <a:cubicBezTo>
                  <a:pt x="195977" y="794"/>
                  <a:pt x="199549" y="0"/>
                  <a:pt x="203200" y="0"/>
                </a:cubicBezTo>
                <a:close/>
                <a:moveTo>
                  <a:pt x="203200" y="53022"/>
                </a:moveTo>
                <a:lnTo>
                  <a:pt x="203200" y="353139"/>
                </a:lnTo>
                <a:cubicBezTo>
                  <a:pt x="312738" y="300117"/>
                  <a:pt x="342186" y="182642"/>
                  <a:pt x="342900" y="112316"/>
                </a:cubicBezTo>
                <a:lnTo>
                  <a:pt x="203200" y="53102"/>
                </a:lnTo>
                <a:lnTo>
                  <a:pt x="203200" y="53102"/>
                </a:lnTo>
                <a:close/>
              </a:path>
            </a:pathLst>
          </a:custGeom>
          <a:solidFill>
            <a:srgbClr val="D35400"/>
          </a:solidFill>
          <a:ln/>
        </p:spPr>
      </p:sp>
      <p:sp>
        <p:nvSpPr>
          <p:cNvPr id="22" name="Text 20"/>
          <p:cNvSpPr/>
          <p:nvPr/>
        </p:nvSpPr>
        <p:spPr>
          <a:xfrm>
            <a:off x="7112000" y="4724400"/>
            <a:ext cx="2286000" cy="317500"/>
          </a:xfrm>
          <a:prstGeom prst="rect">
            <a:avLst/>
          </a:prstGeom>
          <a:noFill/>
          <a:ln/>
        </p:spPr>
        <p:txBody>
          <a:bodyPr wrap="none" lIns="0" tIns="0" rIns="0" bIns="0" rtlCol="0" anchor="ctr"/>
          <a:lstStyle/>
          <a:p>
            <a:pPr>
              <a:lnSpc>
                <a:spcPct val="100000"/>
              </a:lnSpc>
            </a:pPr>
            <a:r>
              <a:rPr lang="en-US" sz="1600" dirty="0">
                <a:solidFill>
                  <a:srgbClr val="1A1A1A"/>
                </a:solidFill>
                <a:latin typeface="Liter" pitchFamily="34" charset="0"/>
                <a:ea typeface="Liter" pitchFamily="34" charset="-122"/>
                <a:cs typeface="Liter" pitchFamily="34" charset="-120"/>
              </a:rPr>
              <a:t>THOMAS</a:t>
            </a:r>
            <a:endParaRPr lang="en-US" sz="1600" dirty="0"/>
          </a:p>
        </p:txBody>
      </p:sp>
      <p:sp>
        <p:nvSpPr>
          <p:cNvPr id="23" name="Text 21"/>
          <p:cNvSpPr/>
          <p:nvPr/>
        </p:nvSpPr>
        <p:spPr>
          <a:xfrm>
            <a:off x="7112000" y="5041900"/>
            <a:ext cx="2286000" cy="254000"/>
          </a:xfrm>
          <a:prstGeom prst="rect">
            <a:avLst/>
          </a:prstGeom>
          <a:noFill/>
          <a:ln/>
        </p:spPr>
        <p:txBody>
          <a:bodyPr wrap="none" lIns="0" tIns="0" rIns="0" bIns="0" rtlCol="0" anchor="ctr"/>
          <a:lstStyle/>
          <a:p>
            <a:pPr>
              <a:lnSpc>
                <a:spcPct val="100000"/>
              </a:lnSpc>
            </a:pPr>
            <a:r>
              <a:rPr lang="en-US" sz="1200" dirty="0">
                <a:solidFill>
                  <a:srgbClr val="D35400"/>
                </a:solidFill>
                <a:latin typeface="Quattrocento Sans" pitchFamily="34" charset="0"/>
                <a:ea typeface="Quattrocento Sans" pitchFamily="34" charset="-122"/>
                <a:cs typeface="Quattrocento Sans" pitchFamily="34" charset="-120"/>
              </a:rPr>
              <a:t>Conformite AML</a:t>
            </a:r>
            <a:endParaRPr lang="en-US" sz="1600" dirty="0"/>
          </a:p>
        </p:txBody>
      </p:sp>
      <p:sp>
        <p:nvSpPr>
          <p:cNvPr id="24" name="Text 22"/>
          <p:cNvSpPr/>
          <p:nvPr/>
        </p:nvSpPr>
        <p:spPr>
          <a:xfrm>
            <a:off x="7112000" y="5397500"/>
            <a:ext cx="2286000" cy="2286000"/>
          </a:xfrm>
          <a:prstGeom prst="rect">
            <a:avLst/>
          </a:prstGeom>
          <a:noFill/>
          <a:ln/>
        </p:spPr>
        <p:txBody>
          <a:bodyPr wrap="square" lIns="0" tIns="0" rIns="0" bIns="0" rtlCol="0" anchor="ctr"/>
          <a:lstStyle/>
          <a:p>
            <a:pPr>
              <a:lnSpc>
                <a:spcPct val="160000"/>
              </a:lnSpc>
            </a:pPr>
            <a:r>
              <a:rPr lang="en-US" sz="1300" dirty="0">
                <a:solidFill>
                  <a:srgbClr val="1A1A1A"/>
                </a:solidFill>
                <a:latin typeface="Quattrocento Sans" pitchFamily="34" charset="0"/>
                <a:ea typeface="Quattrocento Sans" pitchFamily="34" charset="-122"/>
                <a:cs typeface="Quattrocento Sans" pitchFamily="34" charset="-120"/>
              </a:rPr>
              <a:t>• Screening PEP</a:t>
            </a:r>
            <a:endParaRPr lang="en-US" sz="1600" dirty="0"/>
          </a:p>
          <a:p>
            <a:pPr>
              <a:lnSpc>
                <a:spcPct val="160000"/>
              </a:lnSpc>
            </a:pPr>
            <a:r>
              <a:rPr lang="en-US" sz="1300" dirty="0">
                <a:solidFill>
                  <a:srgbClr val="1A1A1A"/>
                </a:solidFill>
                <a:latin typeface="Quattrocento Sans" pitchFamily="34" charset="0"/>
                <a:ea typeface="Quattrocento Sans" pitchFamily="34" charset="-122"/>
                <a:cs typeface="Quattrocento Sans" pitchFamily="34" charset="-120"/>
              </a:rPr>
              <a:t>• Alertes sanctions</a:t>
            </a:r>
            <a:endParaRPr lang="en-US" sz="1600" dirty="0"/>
          </a:p>
          <a:p>
            <a:pPr>
              <a:lnSpc>
                <a:spcPct val="160000"/>
              </a:lnSpc>
            </a:pPr>
            <a:r>
              <a:rPr lang="en-US" sz="1300" dirty="0">
                <a:solidFill>
                  <a:srgbClr val="1A1A1A"/>
                </a:solidFill>
                <a:latin typeface="Quattrocento Sans" pitchFamily="34" charset="0"/>
                <a:ea typeface="Quattrocento Sans" pitchFamily="34" charset="-122"/>
                <a:cs typeface="Quattrocento Sans" pitchFamily="34" charset="-120"/>
              </a:rPr>
              <a:t>• Faux positifs</a:t>
            </a:r>
            <a:endParaRPr lang="en-US" sz="1600" dirty="0"/>
          </a:p>
          <a:p>
            <a:pPr>
              <a:lnSpc>
                <a:spcPct val="160000"/>
              </a:lnSpc>
            </a:pPr>
            <a:r>
              <a:rPr lang="en-US" sz="1300" dirty="0">
                <a:solidFill>
                  <a:srgbClr val="1A1A1A"/>
                </a:solidFill>
                <a:latin typeface="Quattrocento Sans" pitchFamily="34" charset="0"/>
                <a:ea typeface="Quattrocento Sans" pitchFamily="34" charset="-122"/>
                <a:cs typeface="Quattrocento Sans" pitchFamily="34" charset="-120"/>
              </a:rPr>
              <a:t>• Deduplication</a:t>
            </a:r>
            <a:endParaRPr lang="en-US" sz="1600" dirty="0"/>
          </a:p>
          <a:p>
            <a:pPr>
              <a:lnSpc>
                <a:spcPct val="160000"/>
              </a:lnSpc>
            </a:pPr>
            <a:r>
              <a:rPr lang="en-US" sz="1300" dirty="0">
                <a:solidFill>
                  <a:srgbClr val="1A1A1A"/>
                </a:solidFill>
                <a:latin typeface="Quattrocento Sans" pitchFamily="34" charset="0"/>
                <a:ea typeface="Quattrocento Sans" pitchFamily="34" charset="-122"/>
                <a:cs typeface="Quattrocento Sans" pitchFamily="34" charset="-120"/>
              </a:rPr>
              <a:t>• Blocage approb.</a:t>
            </a:r>
            <a:endParaRPr lang="en-US" sz="1600" dirty="0"/>
          </a:p>
          <a:p>
            <a:pPr>
              <a:lnSpc>
                <a:spcPct val="160000"/>
              </a:lnSpc>
            </a:pPr>
            <a:r>
              <a:rPr lang="en-US" sz="1300" dirty="0">
                <a:solidFill>
                  <a:srgbClr val="1A1A1A"/>
                </a:solidFill>
                <a:latin typeface="Quattrocento Sans" pitchFamily="34" charset="0"/>
                <a:ea typeface="Quattrocento Sans" pitchFamily="34" charset="-122"/>
                <a:cs typeface="Quattrocento Sans" pitchFamily="34" charset="-120"/>
              </a:rPr>
              <a:t>• Justification</a:t>
            </a:r>
            <a:endParaRPr lang="en-US" sz="1600" dirty="0"/>
          </a:p>
        </p:txBody>
      </p:sp>
      <p:sp>
        <p:nvSpPr>
          <p:cNvPr id="25" name="Shape 23"/>
          <p:cNvSpPr/>
          <p:nvPr/>
        </p:nvSpPr>
        <p:spPr>
          <a:xfrm>
            <a:off x="9906000" y="3937000"/>
            <a:ext cx="2794000" cy="3937000"/>
          </a:xfrm>
          <a:prstGeom prst="rect">
            <a:avLst/>
          </a:prstGeom>
          <a:solidFill>
            <a:srgbClr val="FFFFFF"/>
          </a:solidFill>
          <a:ln w="12700">
            <a:solidFill>
              <a:srgbClr val="E0DCD8"/>
            </a:solidFill>
            <a:prstDash val="solid"/>
          </a:ln>
        </p:spPr>
      </p:sp>
      <p:sp>
        <p:nvSpPr>
          <p:cNvPr id="26" name="Shape 24"/>
          <p:cNvSpPr/>
          <p:nvPr/>
        </p:nvSpPr>
        <p:spPr>
          <a:xfrm>
            <a:off x="9906000" y="3937000"/>
            <a:ext cx="2794000" cy="63500"/>
          </a:xfrm>
          <a:prstGeom prst="rect">
            <a:avLst/>
          </a:prstGeom>
          <a:solidFill>
            <a:srgbClr val="D35400"/>
          </a:solidFill>
          <a:ln/>
        </p:spPr>
      </p:sp>
      <p:sp>
        <p:nvSpPr>
          <p:cNvPr id="27" name="Shape 25"/>
          <p:cNvSpPr/>
          <p:nvPr/>
        </p:nvSpPr>
        <p:spPr>
          <a:xfrm>
            <a:off x="10160000" y="4191000"/>
            <a:ext cx="406400" cy="406400"/>
          </a:xfrm>
          <a:custGeom>
            <a:avLst/>
            <a:gdLst/>
            <a:ahLst/>
            <a:cxnLst/>
            <a:rect l="l" t="t" r="r" b="b"/>
            <a:pathLst>
              <a:path w="406400" h="406400">
                <a:moveTo>
                  <a:pt x="50800" y="50800"/>
                </a:moveTo>
                <a:cubicBezTo>
                  <a:pt x="50800" y="36751"/>
                  <a:pt x="39449" y="25400"/>
                  <a:pt x="25400" y="25400"/>
                </a:cubicBezTo>
                <a:cubicBezTo>
                  <a:pt x="11351" y="25400"/>
                  <a:pt x="0" y="36751"/>
                  <a:pt x="0" y="50800"/>
                </a:cubicBezTo>
                <a:lnTo>
                  <a:pt x="0" y="317500"/>
                </a:lnTo>
                <a:cubicBezTo>
                  <a:pt x="0" y="352584"/>
                  <a:pt x="28416" y="381000"/>
                  <a:pt x="63500" y="381000"/>
                </a:cubicBezTo>
                <a:lnTo>
                  <a:pt x="381000" y="381000"/>
                </a:lnTo>
                <a:cubicBezTo>
                  <a:pt x="395049" y="381000"/>
                  <a:pt x="406400" y="369649"/>
                  <a:pt x="406400" y="355600"/>
                </a:cubicBezTo>
                <a:cubicBezTo>
                  <a:pt x="406400" y="341551"/>
                  <a:pt x="395049" y="330200"/>
                  <a:pt x="381000" y="330200"/>
                </a:cubicBezTo>
                <a:lnTo>
                  <a:pt x="63500" y="330200"/>
                </a:lnTo>
                <a:cubicBezTo>
                  <a:pt x="56515" y="330200"/>
                  <a:pt x="50800" y="324485"/>
                  <a:pt x="50800" y="317500"/>
                </a:cubicBezTo>
                <a:lnTo>
                  <a:pt x="50800" y="50800"/>
                </a:lnTo>
                <a:close/>
                <a:moveTo>
                  <a:pt x="373539" y="119539"/>
                </a:moveTo>
                <a:cubicBezTo>
                  <a:pt x="383461" y="109617"/>
                  <a:pt x="383461" y="93504"/>
                  <a:pt x="373539" y="83582"/>
                </a:cubicBezTo>
                <a:cubicBezTo>
                  <a:pt x="363617" y="73660"/>
                  <a:pt x="347504" y="73660"/>
                  <a:pt x="337582" y="83582"/>
                </a:cubicBezTo>
                <a:lnTo>
                  <a:pt x="254000" y="167243"/>
                </a:lnTo>
                <a:lnTo>
                  <a:pt x="208439" y="121761"/>
                </a:lnTo>
                <a:cubicBezTo>
                  <a:pt x="198517" y="111839"/>
                  <a:pt x="182404" y="111839"/>
                  <a:pt x="172482" y="121761"/>
                </a:cubicBezTo>
                <a:lnTo>
                  <a:pt x="96282" y="197961"/>
                </a:lnTo>
                <a:cubicBezTo>
                  <a:pt x="86360" y="207883"/>
                  <a:pt x="86360" y="223996"/>
                  <a:pt x="96282" y="233918"/>
                </a:cubicBezTo>
                <a:cubicBezTo>
                  <a:pt x="106204" y="243840"/>
                  <a:pt x="122317" y="243840"/>
                  <a:pt x="132239" y="233918"/>
                </a:cubicBezTo>
                <a:lnTo>
                  <a:pt x="190500" y="175657"/>
                </a:lnTo>
                <a:lnTo>
                  <a:pt x="236061" y="221218"/>
                </a:lnTo>
                <a:cubicBezTo>
                  <a:pt x="245983" y="231140"/>
                  <a:pt x="262096" y="231140"/>
                  <a:pt x="272018" y="221218"/>
                </a:cubicBezTo>
                <a:lnTo>
                  <a:pt x="373618" y="119618"/>
                </a:lnTo>
                <a:close/>
              </a:path>
            </a:pathLst>
          </a:custGeom>
          <a:solidFill>
            <a:srgbClr val="D35400"/>
          </a:solidFill>
          <a:ln/>
        </p:spPr>
      </p:sp>
      <p:sp>
        <p:nvSpPr>
          <p:cNvPr id="28" name="Text 26"/>
          <p:cNvSpPr/>
          <p:nvPr/>
        </p:nvSpPr>
        <p:spPr>
          <a:xfrm>
            <a:off x="10160000" y="4724400"/>
            <a:ext cx="2286000" cy="317500"/>
          </a:xfrm>
          <a:prstGeom prst="rect">
            <a:avLst/>
          </a:prstGeom>
          <a:noFill/>
          <a:ln/>
        </p:spPr>
        <p:txBody>
          <a:bodyPr wrap="none" lIns="0" tIns="0" rIns="0" bIns="0" rtlCol="0" anchor="ctr"/>
          <a:lstStyle/>
          <a:p>
            <a:pPr>
              <a:lnSpc>
                <a:spcPct val="100000"/>
              </a:lnSpc>
            </a:pPr>
            <a:r>
              <a:rPr lang="en-US" sz="1600" dirty="0">
                <a:solidFill>
                  <a:srgbClr val="1A1A1A"/>
                </a:solidFill>
                <a:latin typeface="Liter" pitchFamily="34" charset="0"/>
                <a:ea typeface="Liter" pitchFamily="34" charset="-122"/>
                <a:cs typeface="Liter" pitchFamily="34" charset="-120"/>
              </a:rPr>
              <a:t>SYLVIE</a:t>
            </a:r>
            <a:endParaRPr lang="en-US" sz="1600" dirty="0"/>
          </a:p>
        </p:txBody>
      </p:sp>
      <p:sp>
        <p:nvSpPr>
          <p:cNvPr id="29" name="Text 27"/>
          <p:cNvSpPr/>
          <p:nvPr/>
        </p:nvSpPr>
        <p:spPr>
          <a:xfrm>
            <a:off x="10160000" y="5041900"/>
            <a:ext cx="2286000" cy="254000"/>
          </a:xfrm>
          <a:prstGeom prst="rect">
            <a:avLst/>
          </a:prstGeom>
          <a:noFill/>
          <a:ln/>
        </p:spPr>
        <p:txBody>
          <a:bodyPr wrap="none" lIns="0" tIns="0" rIns="0" bIns="0" rtlCol="0" anchor="ctr"/>
          <a:lstStyle/>
          <a:p>
            <a:pPr>
              <a:lnSpc>
                <a:spcPct val="100000"/>
              </a:lnSpc>
            </a:pPr>
            <a:r>
              <a:rPr lang="en-US" sz="1200" dirty="0">
                <a:solidFill>
                  <a:srgbClr val="D35400"/>
                </a:solidFill>
                <a:latin typeface="Quattrocento Sans" pitchFamily="34" charset="0"/>
                <a:ea typeface="Quattrocento Sans" pitchFamily="34" charset="-122"/>
                <a:cs typeface="Quattrocento Sans" pitchFamily="34" charset="-120"/>
              </a:rPr>
              <a:t>Manager</a:t>
            </a:r>
            <a:endParaRPr lang="en-US" sz="1600" dirty="0"/>
          </a:p>
        </p:txBody>
      </p:sp>
      <p:sp>
        <p:nvSpPr>
          <p:cNvPr id="30" name="Text 28"/>
          <p:cNvSpPr/>
          <p:nvPr/>
        </p:nvSpPr>
        <p:spPr>
          <a:xfrm>
            <a:off x="10160000" y="5397500"/>
            <a:ext cx="2286000" cy="2286000"/>
          </a:xfrm>
          <a:prstGeom prst="rect">
            <a:avLst/>
          </a:prstGeom>
          <a:noFill/>
          <a:ln/>
        </p:spPr>
        <p:txBody>
          <a:bodyPr wrap="square" lIns="0" tIns="0" rIns="0" bIns="0" rtlCol="0" anchor="ctr"/>
          <a:lstStyle/>
          <a:p>
            <a:pPr>
              <a:lnSpc>
                <a:spcPct val="160000"/>
              </a:lnSpc>
            </a:pPr>
            <a:r>
              <a:rPr lang="en-US" sz="1300" dirty="0">
                <a:solidFill>
                  <a:srgbClr val="1A1A1A"/>
                </a:solidFill>
                <a:latin typeface="Quattrocento Sans" pitchFamily="34" charset="0"/>
                <a:ea typeface="Quattrocento Sans" pitchFamily="34" charset="-122"/>
                <a:cs typeface="Quattrocento Sans" pitchFamily="34" charset="-120"/>
              </a:rPr>
              <a:t>• Dashboard R/Y/G</a:t>
            </a:r>
            <a:endParaRPr lang="en-US" sz="1600" dirty="0"/>
          </a:p>
          <a:p>
            <a:pPr>
              <a:lnSpc>
                <a:spcPct val="160000"/>
              </a:lnSpc>
            </a:pPr>
            <a:r>
              <a:rPr lang="en-US" sz="1300" dirty="0">
                <a:solidFill>
                  <a:srgbClr val="1A1A1A"/>
                </a:solidFill>
                <a:latin typeface="Quattrocento Sans" pitchFamily="34" charset="0"/>
                <a:ea typeface="Quattrocento Sans" pitchFamily="34" charset="-122"/>
                <a:cs typeface="Quattrocento Sans" pitchFamily="34" charset="-120"/>
              </a:rPr>
              <a:t>• SLA monitoring</a:t>
            </a:r>
            <a:endParaRPr lang="en-US" sz="1600" dirty="0"/>
          </a:p>
          <a:p>
            <a:pPr>
              <a:lnSpc>
                <a:spcPct val="160000"/>
              </a:lnSpc>
            </a:pPr>
            <a:r>
              <a:rPr lang="en-US" sz="1300" dirty="0">
                <a:solidFill>
                  <a:srgbClr val="1A1A1A"/>
                </a:solidFill>
                <a:latin typeface="Quattrocento Sans" pitchFamily="34" charset="0"/>
                <a:ea typeface="Quattrocento Sans" pitchFamily="34" charset="-122"/>
                <a:cs typeface="Quattrocento Sans" pitchFamily="34" charset="-120"/>
              </a:rPr>
              <a:t>• Charge agents</a:t>
            </a:r>
            <a:endParaRPr lang="en-US" sz="1600" dirty="0"/>
          </a:p>
          <a:p>
            <a:pPr>
              <a:lnSpc>
                <a:spcPct val="160000"/>
              </a:lnSpc>
            </a:pPr>
            <a:r>
              <a:rPr lang="en-US" sz="1300" dirty="0">
                <a:solidFill>
                  <a:srgbClr val="1A1A1A"/>
                </a:solidFill>
                <a:latin typeface="Quattrocento Sans" pitchFamily="34" charset="0"/>
                <a:ea typeface="Quattrocento Sans" pitchFamily="34" charset="-122"/>
                <a:cs typeface="Quattrocento Sans" pitchFamily="34" charset="-120"/>
              </a:rPr>
              <a:t>• Funnel analytics</a:t>
            </a:r>
            <a:endParaRPr lang="en-US" sz="1600" dirty="0"/>
          </a:p>
          <a:p>
            <a:pPr>
              <a:lnSpc>
                <a:spcPct val="160000"/>
              </a:lnSpc>
            </a:pPr>
            <a:r>
              <a:rPr lang="en-US" sz="1300" dirty="0">
                <a:solidFill>
                  <a:srgbClr val="1A1A1A"/>
                </a:solidFill>
                <a:latin typeface="Quattrocento Sans" pitchFamily="34" charset="0"/>
                <a:ea typeface="Quattrocento Sans" pitchFamily="34" charset="-122"/>
                <a:cs typeface="Quattrocento Sans" pitchFamily="34" charset="-120"/>
              </a:rPr>
              <a:t>• Export audit</a:t>
            </a:r>
            <a:endParaRPr lang="en-US" sz="1600" dirty="0"/>
          </a:p>
          <a:p>
            <a:pPr>
              <a:lnSpc>
                <a:spcPct val="160000"/>
              </a:lnSpc>
            </a:pPr>
            <a:r>
              <a:rPr lang="en-US" sz="1300" dirty="0">
                <a:solidFill>
                  <a:srgbClr val="1A1A1A"/>
                </a:solidFill>
                <a:latin typeface="Quattrocento Sans" pitchFamily="34" charset="0"/>
                <a:ea typeface="Quattrocento Sans" pitchFamily="34" charset="-122"/>
                <a:cs typeface="Quattrocento Sans" pitchFamily="34" charset="-120"/>
              </a:rPr>
              <a:t>• Escalade auto</a:t>
            </a:r>
            <a:endParaRPr lang="en-US" sz="1600" dirty="0"/>
          </a:p>
        </p:txBody>
      </p:sp>
      <p:sp>
        <p:nvSpPr>
          <p:cNvPr id="31" name="Shape 29"/>
          <p:cNvSpPr/>
          <p:nvPr/>
        </p:nvSpPr>
        <p:spPr>
          <a:xfrm>
            <a:off x="12954000" y="3937000"/>
            <a:ext cx="2540000" cy="3937000"/>
          </a:xfrm>
          <a:prstGeom prst="rect">
            <a:avLst/>
          </a:prstGeom>
          <a:solidFill>
            <a:srgbClr val="1E1E1E"/>
          </a:solidFill>
          <a:ln w="12700">
            <a:solidFill>
              <a:srgbClr val="333333"/>
            </a:solidFill>
            <a:prstDash val="solid"/>
          </a:ln>
        </p:spPr>
      </p:sp>
      <p:sp>
        <p:nvSpPr>
          <p:cNvPr id="32" name="Shape 30"/>
          <p:cNvSpPr/>
          <p:nvPr/>
        </p:nvSpPr>
        <p:spPr>
          <a:xfrm>
            <a:off x="12954000" y="3937000"/>
            <a:ext cx="2540000" cy="63500"/>
          </a:xfrm>
          <a:prstGeom prst="rect">
            <a:avLst/>
          </a:prstGeom>
          <a:solidFill>
            <a:srgbClr val="F39C12"/>
          </a:solidFill>
          <a:ln/>
        </p:spPr>
      </p:sp>
      <p:sp>
        <p:nvSpPr>
          <p:cNvPr id="33" name="Shape 31"/>
          <p:cNvSpPr/>
          <p:nvPr/>
        </p:nvSpPr>
        <p:spPr>
          <a:xfrm>
            <a:off x="13233400" y="4191000"/>
            <a:ext cx="355600" cy="406400"/>
          </a:xfrm>
          <a:custGeom>
            <a:avLst/>
            <a:gdLst/>
            <a:ahLst/>
            <a:cxnLst/>
            <a:rect l="l" t="t" r="r" b="b"/>
            <a:pathLst>
              <a:path w="355600" h="406400">
                <a:moveTo>
                  <a:pt x="50800" y="25400"/>
                </a:moveTo>
                <a:cubicBezTo>
                  <a:pt x="22781" y="25400"/>
                  <a:pt x="0" y="48181"/>
                  <a:pt x="0" y="76200"/>
                </a:cubicBezTo>
                <a:lnTo>
                  <a:pt x="0" y="127000"/>
                </a:lnTo>
                <a:cubicBezTo>
                  <a:pt x="0" y="155019"/>
                  <a:pt x="22781" y="177800"/>
                  <a:pt x="50800" y="177800"/>
                </a:cubicBezTo>
                <a:lnTo>
                  <a:pt x="304800" y="177800"/>
                </a:lnTo>
                <a:cubicBezTo>
                  <a:pt x="332819" y="177800"/>
                  <a:pt x="355600" y="155019"/>
                  <a:pt x="355600" y="127000"/>
                </a:cubicBezTo>
                <a:lnTo>
                  <a:pt x="355600" y="76200"/>
                </a:lnTo>
                <a:cubicBezTo>
                  <a:pt x="355600" y="48181"/>
                  <a:pt x="332819" y="25400"/>
                  <a:pt x="304800" y="25400"/>
                </a:cubicBezTo>
                <a:lnTo>
                  <a:pt x="50800" y="25400"/>
                </a:lnTo>
                <a:close/>
                <a:moveTo>
                  <a:pt x="222250" y="82550"/>
                </a:moveTo>
                <a:cubicBezTo>
                  <a:pt x="232764" y="82550"/>
                  <a:pt x="241300" y="91086"/>
                  <a:pt x="241300" y="101600"/>
                </a:cubicBezTo>
                <a:cubicBezTo>
                  <a:pt x="241300" y="112114"/>
                  <a:pt x="232764" y="120650"/>
                  <a:pt x="222250" y="120650"/>
                </a:cubicBezTo>
                <a:cubicBezTo>
                  <a:pt x="211736" y="120650"/>
                  <a:pt x="203200" y="112114"/>
                  <a:pt x="203200" y="101600"/>
                </a:cubicBezTo>
                <a:cubicBezTo>
                  <a:pt x="203200" y="91086"/>
                  <a:pt x="211736" y="82550"/>
                  <a:pt x="222250" y="82550"/>
                </a:cubicBezTo>
                <a:close/>
                <a:moveTo>
                  <a:pt x="266700" y="101600"/>
                </a:moveTo>
                <a:cubicBezTo>
                  <a:pt x="266700" y="91086"/>
                  <a:pt x="275236" y="82550"/>
                  <a:pt x="285750" y="82550"/>
                </a:cubicBezTo>
                <a:cubicBezTo>
                  <a:pt x="296264" y="82550"/>
                  <a:pt x="304800" y="91086"/>
                  <a:pt x="304800" y="101600"/>
                </a:cubicBezTo>
                <a:cubicBezTo>
                  <a:pt x="304800" y="112114"/>
                  <a:pt x="296264" y="120650"/>
                  <a:pt x="285750" y="120650"/>
                </a:cubicBezTo>
                <a:cubicBezTo>
                  <a:pt x="275236" y="120650"/>
                  <a:pt x="266700" y="112114"/>
                  <a:pt x="266700" y="101600"/>
                </a:cubicBezTo>
                <a:close/>
                <a:moveTo>
                  <a:pt x="50800" y="228600"/>
                </a:moveTo>
                <a:cubicBezTo>
                  <a:pt x="22781" y="228600"/>
                  <a:pt x="0" y="251381"/>
                  <a:pt x="0" y="279400"/>
                </a:cubicBezTo>
                <a:lnTo>
                  <a:pt x="0" y="330200"/>
                </a:lnTo>
                <a:cubicBezTo>
                  <a:pt x="0" y="358219"/>
                  <a:pt x="22781" y="381000"/>
                  <a:pt x="50800" y="381000"/>
                </a:cubicBezTo>
                <a:lnTo>
                  <a:pt x="304800" y="381000"/>
                </a:lnTo>
                <a:cubicBezTo>
                  <a:pt x="332819" y="381000"/>
                  <a:pt x="355600" y="358219"/>
                  <a:pt x="355600" y="330200"/>
                </a:cubicBezTo>
                <a:lnTo>
                  <a:pt x="355600" y="279400"/>
                </a:lnTo>
                <a:cubicBezTo>
                  <a:pt x="355600" y="251381"/>
                  <a:pt x="332819" y="228600"/>
                  <a:pt x="304800" y="228600"/>
                </a:cubicBezTo>
                <a:lnTo>
                  <a:pt x="50800" y="228600"/>
                </a:lnTo>
                <a:close/>
                <a:moveTo>
                  <a:pt x="222250" y="285750"/>
                </a:moveTo>
                <a:cubicBezTo>
                  <a:pt x="232764" y="285750"/>
                  <a:pt x="241300" y="294286"/>
                  <a:pt x="241300" y="304800"/>
                </a:cubicBezTo>
                <a:cubicBezTo>
                  <a:pt x="241300" y="315314"/>
                  <a:pt x="232764" y="323850"/>
                  <a:pt x="222250" y="323850"/>
                </a:cubicBezTo>
                <a:cubicBezTo>
                  <a:pt x="211736" y="323850"/>
                  <a:pt x="203200" y="315314"/>
                  <a:pt x="203200" y="304800"/>
                </a:cubicBezTo>
                <a:cubicBezTo>
                  <a:pt x="203200" y="294286"/>
                  <a:pt x="211736" y="285750"/>
                  <a:pt x="222250" y="285750"/>
                </a:cubicBezTo>
                <a:close/>
                <a:moveTo>
                  <a:pt x="266700" y="304800"/>
                </a:moveTo>
                <a:cubicBezTo>
                  <a:pt x="266700" y="294286"/>
                  <a:pt x="275236" y="285750"/>
                  <a:pt x="285750" y="285750"/>
                </a:cubicBezTo>
                <a:cubicBezTo>
                  <a:pt x="296264" y="285750"/>
                  <a:pt x="304800" y="294286"/>
                  <a:pt x="304800" y="304800"/>
                </a:cubicBezTo>
                <a:cubicBezTo>
                  <a:pt x="304800" y="315314"/>
                  <a:pt x="296264" y="323850"/>
                  <a:pt x="285750" y="323850"/>
                </a:cubicBezTo>
                <a:cubicBezTo>
                  <a:pt x="275236" y="323850"/>
                  <a:pt x="266700" y="315314"/>
                  <a:pt x="266700" y="304800"/>
                </a:cubicBezTo>
                <a:close/>
              </a:path>
            </a:pathLst>
          </a:custGeom>
          <a:solidFill>
            <a:srgbClr val="F39C12"/>
          </a:solidFill>
          <a:ln/>
        </p:spPr>
      </p:sp>
      <p:sp>
        <p:nvSpPr>
          <p:cNvPr id="34" name="Text 32"/>
          <p:cNvSpPr/>
          <p:nvPr/>
        </p:nvSpPr>
        <p:spPr>
          <a:xfrm>
            <a:off x="13208000" y="4724400"/>
            <a:ext cx="2032000" cy="317500"/>
          </a:xfrm>
          <a:prstGeom prst="rect">
            <a:avLst/>
          </a:prstGeom>
          <a:noFill/>
          <a:ln/>
        </p:spPr>
        <p:txBody>
          <a:bodyPr wrap="none" lIns="0" tIns="0" rIns="0" bIns="0" rtlCol="0" anchor="ctr"/>
          <a:lstStyle/>
          <a:p>
            <a:pPr>
              <a:lnSpc>
                <a:spcPct val="100000"/>
              </a:lnSpc>
            </a:pPr>
            <a:r>
              <a:rPr lang="en-US" sz="1600" dirty="0">
                <a:solidFill>
                  <a:srgbClr val="FFFFFF"/>
                </a:solidFill>
                <a:latin typeface="Liter" pitchFamily="34" charset="0"/>
                <a:ea typeface="Liter" pitchFamily="34" charset="-122"/>
                <a:cs typeface="Liter" pitchFamily="34" charset="-120"/>
              </a:rPr>
              <a:t>STACK</a:t>
            </a:r>
            <a:endParaRPr lang="en-US" sz="1600" dirty="0"/>
          </a:p>
        </p:txBody>
      </p:sp>
      <p:sp>
        <p:nvSpPr>
          <p:cNvPr id="35" name="Text 33"/>
          <p:cNvSpPr/>
          <p:nvPr/>
        </p:nvSpPr>
        <p:spPr>
          <a:xfrm>
            <a:off x="13208000" y="5041900"/>
            <a:ext cx="2032000" cy="254000"/>
          </a:xfrm>
          <a:prstGeom prst="rect">
            <a:avLst/>
          </a:prstGeom>
          <a:noFill/>
          <a:ln/>
        </p:spPr>
        <p:txBody>
          <a:bodyPr wrap="none" lIns="0" tIns="0" rIns="0" bIns="0" rtlCol="0" anchor="ctr"/>
          <a:lstStyle/>
          <a:p>
            <a:pPr>
              <a:lnSpc>
                <a:spcPct val="100000"/>
              </a:lnSpc>
            </a:pPr>
            <a:r>
              <a:rPr lang="en-US" sz="1200" dirty="0">
                <a:solidFill>
                  <a:srgbClr val="F39C12"/>
                </a:solidFill>
                <a:latin typeface="Quattrocento Sans" pitchFamily="34" charset="0"/>
                <a:ea typeface="Quattrocento Sans" pitchFamily="34" charset="-122"/>
                <a:cs typeface="Quattrocento Sans" pitchFamily="34" charset="-120"/>
              </a:rPr>
              <a:t>100% On-Premise</a:t>
            </a:r>
            <a:endParaRPr lang="en-US" sz="1600" dirty="0"/>
          </a:p>
        </p:txBody>
      </p:sp>
      <p:sp>
        <p:nvSpPr>
          <p:cNvPr id="36" name="Text 34"/>
          <p:cNvSpPr/>
          <p:nvPr/>
        </p:nvSpPr>
        <p:spPr>
          <a:xfrm>
            <a:off x="13208000" y="5397500"/>
            <a:ext cx="2032000" cy="2286000"/>
          </a:xfrm>
          <a:prstGeom prst="rect">
            <a:avLst/>
          </a:prstGeom>
          <a:noFill/>
          <a:ln/>
        </p:spPr>
        <p:txBody>
          <a:bodyPr wrap="square" lIns="0" tIns="0" rIns="0" bIns="0" rtlCol="0" anchor="ctr"/>
          <a:lstStyle/>
          <a:p>
            <a:pPr>
              <a:lnSpc>
                <a:spcPct val="160000"/>
              </a:lnSpc>
            </a:pPr>
            <a:r>
              <a:rPr lang="en-US" sz="1200" dirty="0">
                <a:solidFill>
                  <a:srgbClr val="FFFFFF"/>
                </a:solidFill>
                <a:latin typeface="Quattrocento Sans" pitchFamily="34" charset="0"/>
                <a:ea typeface="Quattrocento Sans" pitchFamily="34" charset="-122"/>
                <a:cs typeface="Quattrocento Sans" pitchFamily="34" charset="-120"/>
              </a:rPr>
              <a:t>• FastAPI</a:t>
            </a:r>
            <a:endParaRPr lang="en-US" sz="1600" dirty="0"/>
          </a:p>
          <a:p>
            <a:pPr>
              <a:lnSpc>
                <a:spcPct val="160000"/>
              </a:lnSpc>
            </a:pPr>
            <a:r>
              <a:rPr lang="en-US" sz="1200" dirty="0">
                <a:solidFill>
                  <a:srgbClr val="FFFFFF"/>
                </a:solidFill>
                <a:latin typeface="Quattrocento Sans" pitchFamily="34" charset="0"/>
                <a:ea typeface="Quattrocento Sans" pitchFamily="34" charset="-122"/>
                <a:cs typeface="Quattrocento Sans" pitchFamily="34" charset="-120"/>
              </a:rPr>
              <a:t>• PostgreSQL</a:t>
            </a:r>
            <a:endParaRPr lang="en-US" sz="1600" dirty="0"/>
          </a:p>
          <a:p>
            <a:pPr>
              <a:lnSpc>
                <a:spcPct val="160000"/>
              </a:lnSpc>
            </a:pPr>
            <a:r>
              <a:rPr lang="en-US" sz="1200" dirty="0">
                <a:solidFill>
                  <a:srgbClr val="FFFFFF"/>
                </a:solidFill>
                <a:latin typeface="Quattrocento Sans" pitchFamily="34" charset="0"/>
                <a:ea typeface="Quattrocento Sans" pitchFamily="34" charset="-122"/>
                <a:cs typeface="Quattrocento Sans" pitchFamily="34" charset="-120"/>
              </a:rPr>
              <a:t>• Redis + Celery</a:t>
            </a:r>
            <a:endParaRPr lang="en-US" sz="1600" dirty="0"/>
          </a:p>
          <a:p>
            <a:pPr>
              <a:lnSpc>
                <a:spcPct val="160000"/>
              </a:lnSpc>
            </a:pPr>
            <a:r>
              <a:rPr lang="en-US" sz="1200" dirty="0">
                <a:solidFill>
                  <a:srgbClr val="FFFFFF"/>
                </a:solidFill>
                <a:latin typeface="Quattrocento Sans" pitchFamily="34" charset="0"/>
                <a:ea typeface="Quattrocento Sans" pitchFamily="34" charset="-122"/>
                <a:cs typeface="Quattrocento Sans" pitchFamily="34" charset="-120"/>
              </a:rPr>
              <a:t>• PaddleOCR/GLM</a:t>
            </a:r>
            <a:endParaRPr lang="en-US" sz="1600" dirty="0"/>
          </a:p>
          <a:p>
            <a:pPr>
              <a:lnSpc>
                <a:spcPct val="160000"/>
              </a:lnSpc>
            </a:pPr>
            <a:r>
              <a:rPr lang="en-US" sz="1200" dirty="0">
                <a:solidFill>
                  <a:srgbClr val="FFFFFF"/>
                </a:solidFill>
                <a:latin typeface="Quattrocento Sans" pitchFamily="34" charset="0"/>
                <a:ea typeface="Quattrocento Sans" pitchFamily="34" charset="-122"/>
                <a:cs typeface="Quattrocento Sans" pitchFamily="34" charset="-120"/>
              </a:rPr>
              <a:t>• DeepFace</a:t>
            </a:r>
            <a:endParaRPr lang="en-US" sz="1600" dirty="0"/>
          </a:p>
          <a:p>
            <a:pPr>
              <a:lnSpc>
                <a:spcPct val="160000"/>
              </a:lnSpc>
            </a:pPr>
            <a:r>
              <a:rPr lang="en-US" sz="1200" dirty="0">
                <a:solidFill>
                  <a:srgbClr val="FFFFFF"/>
                </a:solidFill>
                <a:latin typeface="Quattrocento Sans" pitchFamily="34" charset="0"/>
                <a:ea typeface="Quattrocento Sans" pitchFamily="34" charset="-122"/>
                <a:cs typeface="Quattrocento Sans" pitchFamily="34" charset="-120"/>
              </a:rPr>
              <a:t>• Docker Compose</a:t>
            </a:r>
            <a:endParaRPr lang="en-US" sz="1600" dirty="0"/>
          </a:p>
        </p:txBody>
      </p:sp>
      <p:sp>
        <p:nvSpPr>
          <p:cNvPr id="37" name="Text 35"/>
          <p:cNvSpPr/>
          <p:nvPr/>
        </p:nvSpPr>
        <p:spPr>
          <a:xfrm>
            <a:off x="14986000" y="8636000"/>
            <a:ext cx="762000" cy="254000"/>
          </a:xfrm>
          <a:prstGeom prst="rect">
            <a:avLst/>
          </a:prstGeom>
          <a:noFill/>
          <a:ln/>
        </p:spPr>
        <p:txBody>
          <a:bodyPr wrap="none" lIns="0" tIns="0" rIns="0" bIns="0" rtlCol="0" anchor="ctr"/>
          <a:lstStyle/>
          <a:p>
            <a:pPr algn="r">
              <a:lnSpc>
                <a:spcPct val="140000"/>
              </a:lnSpc>
            </a:pPr>
            <a:r>
              <a:rPr lang="en-US" sz="1200" dirty="0">
                <a:solidFill>
                  <a:srgbClr val="8A8A8A"/>
                </a:solidFill>
                <a:latin typeface="QuattrocentoSans" pitchFamily="34" charset="0"/>
                <a:ea typeface="QuattrocentoSans" pitchFamily="34" charset="-122"/>
                <a:cs typeface="QuattrocentoSans" pitchFamily="34" charset="-120"/>
              </a:rPr>
              <a:t>07</a:t>
            </a:r>
            <a:endParaRPr lang="en-US" sz="1200" dirty="0"/>
          </a:p>
        </p:txBody>
      </p:sp>
    </p:spTree>
  </p:cSld>
  <p:clrMapOvr>
    <a:masterClrMapping/>
  </p:clrMapOvr>
  <p:transition>
    <p:fade/>
    <p:spd val="med"/>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0EB"/>
        </a:solidFill>
      </p:bgPr>
    </p:bg>
    <p:spTree>
      <p:nvGrpSpPr>
        <p:cNvPr id="1" name=""/>
        <p:cNvGrpSpPr/>
        <p:nvPr/>
      </p:nvGrpSpPr>
      <p:grpSpPr>
        <a:xfrm>
          <a:off x="0" y="0"/>
          <a:ext cx="0" cy="0"/>
          <a:chOff x="0" y="0"/>
          <a:chExt cx="0" cy="0"/>
        </a:xfrm>
      </p:grpSpPr>
      <p:sp>
        <p:nvSpPr>
          <p:cNvPr id="2" name="Shape 0"/>
          <p:cNvSpPr/>
          <p:nvPr/>
        </p:nvSpPr>
        <p:spPr>
          <a:xfrm>
            <a:off x="762000" y="635000"/>
            <a:ext cx="508000" cy="50800"/>
          </a:xfrm>
          <a:prstGeom prst="rect">
            <a:avLst/>
          </a:prstGeom>
          <a:solidFill>
            <a:srgbClr val="D35400"/>
          </a:solidFill>
          <a:ln/>
        </p:spPr>
      </p:sp>
      <p:sp>
        <p:nvSpPr>
          <p:cNvPr id="3" name="Text 1"/>
          <p:cNvSpPr/>
          <p:nvPr/>
        </p:nvSpPr>
        <p:spPr>
          <a:xfrm>
            <a:off x="762000" y="825500"/>
            <a:ext cx="2540000" cy="254000"/>
          </a:xfrm>
          <a:prstGeom prst="rect">
            <a:avLst/>
          </a:prstGeom>
          <a:noFill/>
          <a:ln/>
        </p:spPr>
        <p:txBody>
          <a:bodyPr wrap="none" lIns="0" tIns="0" rIns="0" bIns="0" rtlCol="0" anchor="ctr"/>
          <a:lstStyle/>
          <a:p>
            <a:pPr>
              <a:lnSpc>
                <a:spcPct val="120000"/>
              </a:lnSpc>
            </a:pPr>
            <a:r>
              <a:rPr lang="en-US" sz="1200" spc="200" kern="0" dirty="0">
                <a:solidFill>
                  <a:srgbClr val="D35400"/>
                </a:solidFill>
                <a:latin typeface="Liter" pitchFamily="34" charset="0"/>
                <a:ea typeface="Liter" pitchFamily="34" charset="-122"/>
                <a:cs typeface="Liter" pitchFamily="34" charset="-120"/>
              </a:rPr>
              <a:t>LA SOLUTION</a:t>
            </a:r>
            <a:endParaRPr lang="en-US" sz="1200" dirty="0"/>
          </a:p>
        </p:txBody>
      </p:sp>
      <p:sp>
        <p:nvSpPr>
          <p:cNvPr id="4" name="Text 2"/>
          <p:cNvSpPr/>
          <p:nvPr/>
        </p:nvSpPr>
        <p:spPr>
          <a:xfrm>
            <a:off x="762000" y="1206500"/>
            <a:ext cx="11430000" cy="571500"/>
          </a:xfrm>
          <a:prstGeom prst="rect">
            <a:avLst/>
          </a:prstGeom>
          <a:noFill/>
          <a:ln/>
        </p:spPr>
        <p:txBody>
          <a:bodyPr wrap="square" lIns="0" tIns="0" rIns="0" bIns="0" rtlCol="0" anchor="ctr"/>
          <a:lstStyle/>
          <a:p>
            <a:pPr>
              <a:lnSpc>
                <a:spcPct val="130000"/>
              </a:lnSpc>
            </a:pPr>
            <a:r>
              <a:rPr lang="en-US" sz="3000" dirty="0">
                <a:solidFill>
                  <a:srgbClr val="1A1A1A"/>
                </a:solidFill>
                <a:latin typeface="Liter" pitchFamily="34" charset="0"/>
                <a:ea typeface="Liter" pitchFamily="34" charset="-122"/>
                <a:cs typeface="Liter" pitchFamily="34" charset="-120"/>
              </a:rPr>
              <a:t>Parcours client : de la capture a la soumission</a:t>
            </a:r>
            <a:endParaRPr lang="en-US" sz="3000" dirty="0"/>
          </a:p>
        </p:txBody>
      </p:sp>
      <p:sp>
        <p:nvSpPr>
          <p:cNvPr id="5" name="Shape 3"/>
          <p:cNvSpPr/>
          <p:nvPr/>
        </p:nvSpPr>
        <p:spPr>
          <a:xfrm>
            <a:off x="12319000" y="1270000"/>
            <a:ext cx="3175000" cy="457200"/>
          </a:xfrm>
          <a:prstGeom prst="rect">
            <a:avLst/>
          </a:prstGeom>
          <a:solidFill>
            <a:srgbClr val="D35400"/>
          </a:solidFill>
          <a:ln/>
        </p:spPr>
      </p:sp>
      <p:sp>
        <p:nvSpPr>
          <p:cNvPr id="6" name="Text 4"/>
          <p:cNvSpPr/>
          <p:nvPr/>
        </p:nvSpPr>
        <p:spPr>
          <a:xfrm>
            <a:off x="12319000" y="1270000"/>
            <a:ext cx="3175000" cy="457200"/>
          </a:xfrm>
          <a:prstGeom prst="rect">
            <a:avLst/>
          </a:prstGeom>
          <a:noFill/>
          <a:ln/>
        </p:spPr>
        <p:txBody>
          <a:bodyPr wrap="none" lIns="0" tIns="0" rIns="0" bIns="0" rtlCol="0" anchor="ctr"/>
          <a:lstStyle/>
          <a:p>
            <a:pPr algn="ctr">
              <a:lnSpc>
                <a:spcPct val="100000"/>
              </a:lnSpc>
            </a:pPr>
            <a:r>
              <a:rPr lang="en-US" sz="1400" dirty="0">
                <a:solidFill>
                  <a:srgbClr val="FFFFFF"/>
                </a:solidFill>
                <a:latin typeface="Liter" pitchFamily="34" charset="0"/>
                <a:ea typeface="Liter" pitchFamily="34" charset="-122"/>
                <a:cs typeface="Liter" pitchFamily="34" charset="-120"/>
              </a:rPr>
              <a:t>&lt; 15 MINUTES TARGET</a:t>
            </a:r>
            <a:endParaRPr lang="en-US" sz="1600" dirty="0"/>
          </a:p>
        </p:txBody>
      </p:sp>
      <p:sp>
        <p:nvSpPr>
          <p:cNvPr id="7" name="Shape 5"/>
          <p:cNvSpPr/>
          <p:nvPr/>
        </p:nvSpPr>
        <p:spPr>
          <a:xfrm>
            <a:off x="1016000" y="2222500"/>
            <a:ext cx="558800" cy="558800"/>
          </a:xfrm>
          <a:prstGeom prst="ellipse">
            <a:avLst/>
          </a:prstGeom>
          <a:solidFill>
            <a:srgbClr val="D35400"/>
          </a:solidFill>
          <a:ln/>
        </p:spPr>
      </p:sp>
      <p:sp>
        <p:nvSpPr>
          <p:cNvPr id="8" name="Text 6"/>
          <p:cNvSpPr/>
          <p:nvPr/>
        </p:nvSpPr>
        <p:spPr>
          <a:xfrm>
            <a:off x="1016000" y="2222500"/>
            <a:ext cx="558800" cy="558800"/>
          </a:xfrm>
          <a:prstGeom prst="rect">
            <a:avLst/>
          </a:prstGeom>
          <a:noFill/>
          <a:ln/>
        </p:spPr>
        <p:txBody>
          <a:bodyPr wrap="none" lIns="0" tIns="0" rIns="0" bIns="0" rtlCol="0" anchor="ctr"/>
          <a:lstStyle/>
          <a:p>
            <a:pPr algn="ctr">
              <a:lnSpc>
                <a:spcPct val="100000"/>
              </a:lnSpc>
            </a:pPr>
            <a:r>
              <a:rPr lang="en-US" sz="1800" dirty="0">
                <a:solidFill>
                  <a:srgbClr val="FFFFFF"/>
                </a:solidFill>
                <a:latin typeface="Liter" pitchFamily="34" charset="0"/>
                <a:ea typeface="Liter" pitchFamily="34" charset="-122"/>
                <a:cs typeface="Liter" pitchFamily="34" charset="-120"/>
              </a:rPr>
              <a:t>1</a:t>
            </a:r>
            <a:endParaRPr lang="en-US" sz="1600" dirty="0"/>
          </a:p>
        </p:txBody>
      </p:sp>
      <p:sp>
        <p:nvSpPr>
          <p:cNvPr id="9" name="Text 7"/>
          <p:cNvSpPr/>
          <p:nvPr/>
        </p:nvSpPr>
        <p:spPr>
          <a:xfrm>
            <a:off x="1714500" y="2222500"/>
            <a:ext cx="2032000" cy="304800"/>
          </a:xfrm>
          <a:prstGeom prst="rect">
            <a:avLst/>
          </a:prstGeom>
          <a:noFill/>
          <a:ln/>
        </p:spPr>
        <p:txBody>
          <a:bodyPr wrap="none" lIns="0" tIns="0" rIns="0" bIns="0" rtlCol="0" anchor="ctr"/>
          <a:lstStyle/>
          <a:p>
            <a:pPr>
              <a:lnSpc>
                <a:spcPct val="100000"/>
              </a:lnSpc>
            </a:pPr>
            <a:r>
              <a:rPr lang="en-US" sz="1400" dirty="0">
                <a:solidFill>
                  <a:srgbClr val="1A1A1A"/>
                </a:solidFill>
                <a:latin typeface="Liter" pitchFamily="34" charset="0"/>
                <a:ea typeface="Liter" pitchFamily="34" charset="-122"/>
                <a:cs typeface="Liter" pitchFamily="34" charset="-120"/>
              </a:rPr>
              <a:t>AUTHENTIFICATION</a:t>
            </a:r>
            <a:endParaRPr lang="en-US" sz="1600" dirty="0"/>
          </a:p>
        </p:txBody>
      </p:sp>
      <p:sp>
        <p:nvSpPr>
          <p:cNvPr id="10" name="Text 8"/>
          <p:cNvSpPr/>
          <p:nvPr/>
        </p:nvSpPr>
        <p:spPr>
          <a:xfrm>
            <a:off x="1714500" y="2565400"/>
            <a:ext cx="2032000" cy="698500"/>
          </a:xfrm>
          <a:prstGeom prst="rect">
            <a:avLst/>
          </a:prstGeom>
          <a:noFill/>
          <a:ln/>
        </p:spPr>
        <p:txBody>
          <a:bodyPr wrap="square" lIns="0" tIns="0" rIns="0" bIns="0" rtlCol="0" anchor="ctr"/>
          <a:lstStyle/>
          <a:p>
            <a:pPr>
              <a:lnSpc>
                <a:spcPct val="140000"/>
              </a:lnSpc>
            </a:pPr>
            <a:r>
              <a:rPr lang="en-US" sz="1200" dirty="0">
                <a:solidFill>
                  <a:srgbClr val="8A8A8A"/>
                </a:solidFill>
                <a:latin typeface="Quattrocento Sans" pitchFamily="34" charset="0"/>
                <a:ea typeface="Quattrocento Sans" pitchFamily="34" charset="-122"/>
                <a:cs typeface="Quattrocento Sans" pitchFamily="34" charset="-120"/>
              </a:rPr>
              <a:t>OTP SMS/Email + PIN securise</a:t>
            </a:r>
            <a:endParaRPr lang="en-US" sz="1600" dirty="0"/>
          </a:p>
        </p:txBody>
      </p:sp>
      <p:sp>
        <p:nvSpPr>
          <p:cNvPr id="11" name="Shape 9"/>
          <p:cNvSpPr/>
          <p:nvPr/>
        </p:nvSpPr>
        <p:spPr>
          <a:xfrm>
            <a:off x="1295400" y="2794000"/>
            <a:ext cx="0" cy="508000"/>
          </a:xfrm>
          <a:prstGeom prst="straightConnector1">
            <a:avLst/>
          </a:prstGeom>
          <a:noFill/>
          <a:ln w="25400">
            <a:solidFill>
              <a:srgbClr val="D35400"/>
            </a:solidFill>
            <a:prstDash val="sysDot"/>
            <a:headEnd type="none"/>
            <a:tailEnd type="none"/>
          </a:ln>
        </p:spPr>
      </p:sp>
      <p:sp>
        <p:nvSpPr>
          <p:cNvPr id="12" name="Shape 10"/>
          <p:cNvSpPr/>
          <p:nvPr/>
        </p:nvSpPr>
        <p:spPr>
          <a:xfrm>
            <a:off x="1016000" y="3365500"/>
            <a:ext cx="558800" cy="558800"/>
          </a:xfrm>
          <a:prstGeom prst="ellipse">
            <a:avLst/>
          </a:prstGeom>
          <a:solidFill>
            <a:srgbClr val="D35400"/>
          </a:solidFill>
          <a:ln/>
        </p:spPr>
      </p:sp>
      <p:sp>
        <p:nvSpPr>
          <p:cNvPr id="13" name="Text 11"/>
          <p:cNvSpPr/>
          <p:nvPr/>
        </p:nvSpPr>
        <p:spPr>
          <a:xfrm>
            <a:off x="1016000" y="3365500"/>
            <a:ext cx="558800" cy="558800"/>
          </a:xfrm>
          <a:prstGeom prst="rect">
            <a:avLst/>
          </a:prstGeom>
          <a:noFill/>
          <a:ln/>
        </p:spPr>
        <p:txBody>
          <a:bodyPr wrap="none" lIns="0" tIns="0" rIns="0" bIns="0" rtlCol="0" anchor="ctr"/>
          <a:lstStyle/>
          <a:p>
            <a:pPr algn="ctr">
              <a:lnSpc>
                <a:spcPct val="100000"/>
              </a:lnSpc>
            </a:pPr>
            <a:r>
              <a:rPr lang="en-US" sz="1800" dirty="0">
                <a:solidFill>
                  <a:srgbClr val="FFFFFF"/>
                </a:solidFill>
                <a:latin typeface="Liter" pitchFamily="34" charset="0"/>
                <a:ea typeface="Liter" pitchFamily="34" charset="-122"/>
                <a:cs typeface="Liter" pitchFamily="34" charset="-120"/>
              </a:rPr>
              <a:t>2</a:t>
            </a:r>
            <a:endParaRPr lang="en-US" sz="1600" dirty="0"/>
          </a:p>
        </p:txBody>
      </p:sp>
      <p:sp>
        <p:nvSpPr>
          <p:cNvPr id="14" name="Text 12"/>
          <p:cNvSpPr/>
          <p:nvPr/>
        </p:nvSpPr>
        <p:spPr>
          <a:xfrm>
            <a:off x="1714500" y="3365500"/>
            <a:ext cx="2032000" cy="304800"/>
          </a:xfrm>
          <a:prstGeom prst="rect">
            <a:avLst/>
          </a:prstGeom>
          <a:noFill/>
          <a:ln/>
        </p:spPr>
        <p:txBody>
          <a:bodyPr wrap="none" lIns="0" tIns="0" rIns="0" bIns="0" rtlCol="0" anchor="ctr"/>
          <a:lstStyle/>
          <a:p>
            <a:pPr>
              <a:lnSpc>
                <a:spcPct val="100000"/>
              </a:lnSpc>
            </a:pPr>
            <a:r>
              <a:rPr lang="en-US" sz="1400" dirty="0">
                <a:solidFill>
                  <a:srgbClr val="1A1A1A"/>
                </a:solidFill>
                <a:latin typeface="Liter" pitchFamily="34" charset="0"/>
                <a:ea typeface="Liter" pitchFamily="34" charset="-122"/>
                <a:cs typeface="Liter" pitchFamily="34" charset="-120"/>
              </a:rPr>
              <a:t>CAPTURE CNI</a:t>
            </a:r>
            <a:endParaRPr lang="en-US" sz="1600" dirty="0"/>
          </a:p>
        </p:txBody>
      </p:sp>
      <p:sp>
        <p:nvSpPr>
          <p:cNvPr id="15" name="Text 13"/>
          <p:cNvSpPr/>
          <p:nvPr/>
        </p:nvSpPr>
        <p:spPr>
          <a:xfrm>
            <a:off x="1714500" y="3708400"/>
            <a:ext cx="2032000" cy="698500"/>
          </a:xfrm>
          <a:prstGeom prst="rect">
            <a:avLst/>
          </a:prstGeom>
          <a:noFill/>
          <a:ln/>
        </p:spPr>
        <p:txBody>
          <a:bodyPr wrap="square" lIns="0" tIns="0" rIns="0" bIns="0" rtlCol="0" anchor="ctr"/>
          <a:lstStyle/>
          <a:p>
            <a:pPr>
              <a:lnSpc>
                <a:spcPct val="140000"/>
              </a:lnSpc>
            </a:pPr>
            <a:r>
              <a:rPr lang="en-US" sz="1100" dirty="0">
                <a:solidFill>
                  <a:srgbClr val="8A8A8A"/>
                </a:solidFill>
                <a:latin typeface="Quattrocento Sans" pitchFamily="34" charset="0"/>
                <a:ea typeface="Quattrocento Sans" pitchFamily="34" charset="-122"/>
                <a:cs typeface="Quattrocento Sans" pitchFamily="34" charset="-120"/>
              </a:rPr>
              <a:t>Recto/verso avec guidage visuel et auto-check</a:t>
            </a:r>
            <a:endParaRPr lang="en-US" sz="1600" dirty="0"/>
          </a:p>
        </p:txBody>
      </p:sp>
      <p:sp>
        <p:nvSpPr>
          <p:cNvPr id="16" name="Shape 14"/>
          <p:cNvSpPr/>
          <p:nvPr/>
        </p:nvSpPr>
        <p:spPr>
          <a:xfrm>
            <a:off x="1295400" y="3937000"/>
            <a:ext cx="0" cy="508000"/>
          </a:xfrm>
          <a:prstGeom prst="straightConnector1">
            <a:avLst/>
          </a:prstGeom>
          <a:noFill/>
          <a:ln w="25400">
            <a:solidFill>
              <a:srgbClr val="D35400"/>
            </a:solidFill>
            <a:prstDash val="sysDot"/>
            <a:headEnd type="none"/>
            <a:tailEnd type="none"/>
          </a:ln>
        </p:spPr>
      </p:sp>
      <p:sp>
        <p:nvSpPr>
          <p:cNvPr id="17" name="Shape 15"/>
          <p:cNvSpPr/>
          <p:nvPr/>
        </p:nvSpPr>
        <p:spPr>
          <a:xfrm>
            <a:off x="1016000" y="4508500"/>
            <a:ext cx="558800" cy="558800"/>
          </a:xfrm>
          <a:prstGeom prst="ellipse">
            <a:avLst/>
          </a:prstGeom>
          <a:solidFill>
            <a:srgbClr val="D35400"/>
          </a:solidFill>
          <a:ln/>
        </p:spPr>
      </p:sp>
      <p:sp>
        <p:nvSpPr>
          <p:cNvPr id="18" name="Text 16"/>
          <p:cNvSpPr/>
          <p:nvPr/>
        </p:nvSpPr>
        <p:spPr>
          <a:xfrm>
            <a:off x="1016000" y="4508500"/>
            <a:ext cx="558800" cy="558800"/>
          </a:xfrm>
          <a:prstGeom prst="rect">
            <a:avLst/>
          </a:prstGeom>
          <a:noFill/>
          <a:ln/>
        </p:spPr>
        <p:txBody>
          <a:bodyPr wrap="none" lIns="0" tIns="0" rIns="0" bIns="0" rtlCol="0" anchor="ctr"/>
          <a:lstStyle/>
          <a:p>
            <a:pPr algn="ctr">
              <a:lnSpc>
                <a:spcPct val="100000"/>
              </a:lnSpc>
            </a:pPr>
            <a:r>
              <a:rPr lang="en-US" sz="1800" dirty="0">
                <a:solidFill>
                  <a:srgbClr val="FFFFFF"/>
                </a:solidFill>
                <a:latin typeface="Liter" pitchFamily="34" charset="0"/>
                <a:ea typeface="Liter" pitchFamily="34" charset="-122"/>
                <a:cs typeface="Liter" pitchFamily="34" charset="-120"/>
              </a:rPr>
              <a:t>3</a:t>
            </a:r>
            <a:endParaRPr lang="en-US" sz="1600" dirty="0"/>
          </a:p>
        </p:txBody>
      </p:sp>
      <p:sp>
        <p:nvSpPr>
          <p:cNvPr id="19" name="Text 17"/>
          <p:cNvSpPr/>
          <p:nvPr/>
        </p:nvSpPr>
        <p:spPr>
          <a:xfrm>
            <a:off x="1714500" y="4508500"/>
            <a:ext cx="2032000" cy="304800"/>
          </a:xfrm>
          <a:prstGeom prst="rect">
            <a:avLst/>
          </a:prstGeom>
          <a:noFill/>
          <a:ln/>
        </p:spPr>
        <p:txBody>
          <a:bodyPr wrap="none" lIns="0" tIns="0" rIns="0" bIns="0" rtlCol="0" anchor="ctr"/>
          <a:lstStyle/>
          <a:p>
            <a:pPr>
              <a:lnSpc>
                <a:spcPct val="100000"/>
              </a:lnSpc>
            </a:pPr>
            <a:r>
              <a:rPr lang="en-US" sz="1400" dirty="0">
                <a:solidFill>
                  <a:srgbClr val="1A1A1A"/>
                </a:solidFill>
                <a:latin typeface="Liter" pitchFamily="34" charset="0"/>
                <a:ea typeface="Liter" pitchFamily="34" charset="-122"/>
                <a:cs typeface="Liter" pitchFamily="34" charset="-120"/>
              </a:rPr>
              <a:t>OCR + REVUE</a:t>
            </a:r>
            <a:endParaRPr lang="en-US" sz="1600" dirty="0"/>
          </a:p>
        </p:txBody>
      </p:sp>
      <p:sp>
        <p:nvSpPr>
          <p:cNvPr id="20" name="Text 18"/>
          <p:cNvSpPr/>
          <p:nvPr/>
        </p:nvSpPr>
        <p:spPr>
          <a:xfrm>
            <a:off x="1714500" y="4851400"/>
            <a:ext cx="2032000" cy="698500"/>
          </a:xfrm>
          <a:prstGeom prst="rect">
            <a:avLst/>
          </a:prstGeom>
          <a:noFill/>
          <a:ln/>
        </p:spPr>
        <p:txBody>
          <a:bodyPr wrap="square" lIns="0" tIns="0" rIns="0" bIns="0" rtlCol="0" anchor="ctr"/>
          <a:lstStyle/>
          <a:p>
            <a:pPr>
              <a:lnSpc>
                <a:spcPct val="140000"/>
              </a:lnSpc>
            </a:pPr>
            <a:r>
              <a:rPr lang="en-US" sz="1100" dirty="0">
                <a:solidFill>
                  <a:srgbClr val="8A8A8A"/>
                </a:solidFill>
                <a:latin typeface="Quattrocento Sans" pitchFamily="34" charset="0"/>
                <a:ea typeface="Quattrocento Sans" pitchFamily="34" charset="-122"/>
                <a:cs typeface="Quattrocento Sans" pitchFamily="34" charset="-120"/>
              </a:rPr>
              <a:t>Confirmation ou correction des champs</a:t>
            </a:r>
            <a:endParaRPr lang="en-US" sz="1600" dirty="0"/>
          </a:p>
        </p:txBody>
      </p:sp>
      <p:sp>
        <p:nvSpPr>
          <p:cNvPr id="21" name="Shape 19"/>
          <p:cNvSpPr/>
          <p:nvPr/>
        </p:nvSpPr>
        <p:spPr>
          <a:xfrm>
            <a:off x="1295400" y="5080000"/>
            <a:ext cx="0" cy="508000"/>
          </a:xfrm>
          <a:prstGeom prst="straightConnector1">
            <a:avLst/>
          </a:prstGeom>
          <a:noFill/>
          <a:ln w="25400">
            <a:solidFill>
              <a:srgbClr val="D35400"/>
            </a:solidFill>
            <a:prstDash val="sysDot"/>
            <a:headEnd type="none"/>
            <a:tailEnd type="none"/>
          </a:ln>
        </p:spPr>
      </p:sp>
      <p:sp>
        <p:nvSpPr>
          <p:cNvPr id="22" name="Shape 20"/>
          <p:cNvSpPr/>
          <p:nvPr/>
        </p:nvSpPr>
        <p:spPr>
          <a:xfrm>
            <a:off x="1016000" y="5651500"/>
            <a:ext cx="558800" cy="558800"/>
          </a:xfrm>
          <a:prstGeom prst="ellipse">
            <a:avLst/>
          </a:prstGeom>
          <a:solidFill>
            <a:srgbClr val="D35400"/>
          </a:solidFill>
          <a:ln/>
        </p:spPr>
      </p:sp>
      <p:sp>
        <p:nvSpPr>
          <p:cNvPr id="23" name="Text 21"/>
          <p:cNvSpPr/>
          <p:nvPr/>
        </p:nvSpPr>
        <p:spPr>
          <a:xfrm>
            <a:off x="1016000" y="5651500"/>
            <a:ext cx="558800" cy="558800"/>
          </a:xfrm>
          <a:prstGeom prst="rect">
            <a:avLst/>
          </a:prstGeom>
          <a:noFill/>
          <a:ln/>
        </p:spPr>
        <p:txBody>
          <a:bodyPr wrap="none" lIns="0" tIns="0" rIns="0" bIns="0" rtlCol="0" anchor="ctr"/>
          <a:lstStyle/>
          <a:p>
            <a:pPr algn="ctr">
              <a:lnSpc>
                <a:spcPct val="100000"/>
              </a:lnSpc>
            </a:pPr>
            <a:r>
              <a:rPr lang="en-US" sz="1800" dirty="0">
                <a:solidFill>
                  <a:srgbClr val="FFFFFF"/>
                </a:solidFill>
                <a:latin typeface="Liter" pitchFamily="34" charset="0"/>
                <a:ea typeface="Liter" pitchFamily="34" charset="-122"/>
                <a:cs typeface="Liter" pitchFamily="34" charset="-120"/>
              </a:rPr>
              <a:t>4</a:t>
            </a:r>
            <a:endParaRPr lang="en-US" sz="1600" dirty="0"/>
          </a:p>
        </p:txBody>
      </p:sp>
      <p:sp>
        <p:nvSpPr>
          <p:cNvPr id="24" name="Text 22"/>
          <p:cNvSpPr/>
          <p:nvPr/>
        </p:nvSpPr>
        <p:spPr>
          <a:xfrm>
            <a:off x="1714500" y="5651500"/>
            <a:ext cx="2032000" cy="304800"/>
          </a:xfrm>
          <a:prstGeom prst="rect">
            <a:avLst/>
          </a:prstGeom>
          <a:noFill/>
          <a:ln/>
        </p:spPr>
        <p:txBody>
          <a:bodyPr wrap="none" lIns="0" tIns="0" rIns="0" bIns="0" rtlCol="0" anchor="ctr"/>
          <a:lstStyle/>
          <a:p>
            <a:pPr>
              <a:lnSpc>
                <a:spcPct val="100000"/>
              </a:lnSpc>
            </a:pPr>
            <a:r>
              <a:rPr lang="en-US" sz="1400" dirty="0">
                <a:solidFill>
                  <a:srgbClr val="1A1A1A"/>
                </a:solidFill>
                <a:latin typeface="Liter" pitchFamily="34" charset="0"/>
                <a:ea typeface="Liter" pitchFamily="34" charset="-122"/>
                <a:cs typeface="Liter" pitchFamily="34" charset="-120"/>
              </a:rPr>
              <a:t>LIVENESS</a:t>
            </a:r>
            <a:endParaRPr lang="en-US" sz="1600" dirty="0"/>
          </a:p>
        </p:txBody>
      </p:sp>
      <p:sp>
        <p:nvSpPr>
          <p:cNvPr id="25" name="Text 23"/>
          <p:cNvSpPr/>
          <p:nvPr/>
        </p:nvSpPr>
        <p:spPr>
          <a:xfrm>
            <a:off x="1714500" y="5994400"/>
            <a:ext cx="2032000" cy="698500"/>
          </a:xfrm>
          <a:prstGeom prst="rect">
            <a:avLst/>
          </a:prstGeom>
          <a:noFill/>
          <a:ln/>
        </p:spPr>
        <p:txBody>
          <a:bodyPr wrap="square" lIns="0" tIns="0" rIns="0" bIns="0" rtlCol="0" anchor="ctr"/>
          <a:lstStyle/>
          <a:p>
            <a:pPr>
              <a:lnSpc>
                <a:spcPct val="140000"/>
              </a:lnSpc>
            </a:pPr>
            <a:r>
              <a:rPr lang="en-US" sz="1200" dirty="0">
                <a:solidFill>
                  <a:srgbClr val="8A8A8A"/>
                </a:solidFill>
                <a:latin typeface="Quattrocento Sans" pitchFamily="34" charset="0"/>
                <a:ea typeface="Quattrocento Sans" pitchFamily="34" charset="-122"/>
                <a:cs typeface="Quattrocento Sans" pitchFamily="34" charset="-120"/>
              </a:rPr>
              <a:t>Selfie video, anti-spoofing, 3-strikes lockout</a:t>
            </a:r>
            <a:endParaRPr lang="en-US" sz="1600" dirty="0"/>
          </a:p>
        </p:txBody>
      </p:sp>
      <p:sp>
        <p:nvSpPr>
          <p:cNvPr id="26" name="Shape 24"/>
          <p:cNvSpPr/>
          <p:nvPr/>
        </p:nvSpPr>
        <p:spPr>
          <a:xfrm>
            <a:off x="1295400" y="6223000"/>
            <a:ext cx="0" cy="508000"/>
          </a:xfrm>
          <a:prstGeom prst="straightConnector1">
            <a:avLst/>
          </a:prstGeom>
          <a:noFill/>
          <a:ln w="25400">
            <a:solidFill>
              <a:srgbClr val="D35400"/>
            </a:solidFill>
            <a:prstDash val="sysDot"/>
            <a:headEnd type="none"/>
            <a:tailEnd type="none"/>
          </a:ln>
        </p:spPr>
      </p:sp>
      <p:sp>
        <p:nvSpPr>
          <p:cNvPr id="27" name="Shape 25"/>
          <p:cNvSpPr/>
          <p:nvPr/>
        </p:nvSpPr>
        <p:spPr>
          <a:xfrm>
            <a:off x="1016000" y="6794500"/>
            <a:ext cx="558800" cy="558800"/>
          </a:xfrm>
          <a:prstGeom prst="ellipse">
            <a:avLst/>
          </a:prstGeom>
          <a:solidFill>
            <a:srgbClr val="D35400"/>
          </a:solidFill>
          <a:ln/>
        </p:spPr>
      </p:sp>
      <p:sp>
        <p:nvSpPr>
          <p:cNvPr id="28" name="Text 26"/>
          <p:cNvSpPr/>
          <p:nvPr/>
        </p:nvSpPr>
        <p:spPr>
          <a:xfrm>
            <a:off x="1016000" y="6794500"/>
            <a:ext cx="558800" cy="558800"/>
          </a:xfrm>
          <a:prstGeom prst="rect">
            <a:avLst/>
          </a:prstGeom>
          <a:noFill/>
          <a:ln/>
        </p:spPr>
        <p:txBody>
          <a:bodyPr wrap="none" lIns="0" tIns="0" rIns="0" bIns="0" rtlCol="0" anchor="ctr"/>
          <a:lstStyle/>
          <a:p>
            <a:pPr algn="ctr">
              <a:lnSpc>
                <a:spcPct val="100000"/>
              </a:lnSpc>
            </a:pPr>
            <a:r>
              <a:rPr lang="en-US" sz="1800" dirty="0">
                <a:solidFill>
                  <a:srgbClr val="FFFFFF"/>
                </a:solidFill>
                <a:latin typeface="Liter" pitchFamily="34" charset="0"/>
                <a:ea typeface="Liter" pitchFamily="34" charset="-122"/>
                <a:cs typeface="Liter" pitchFamily="34" charset="-120"/>
              </a:rPr>
              <a:t>5</a:t>
            </a:r>
            <a:endParaRPr lang="en-US" sz="1600" dirty="0"/>
          </a:p>
        </p:txBody>
      </p:sp>
      <p:sp>
        <p:nvSpPr>
          <p:cNvPr id="29" name="Text 27"/>
          <p:cNvSpPr/>
          <p:nvPr/>
        </p:nvSpPr>
        <p:spPr>
          <a:xfrm>
            <a:off x="1714500" y="6794500"/>
            <a:ext cx="2032000" cy="304800"/>
          </a:xfrm>
          <a:prstGeom prst="rect">
            <a:avLst/>
          </a:prstGeom>
          <a:noFill/>
          <a:ln/>
        </p:spPr>
        <p:txBody>
          <a:bodyPr wrap="none" lIns="0" tIns="0" rIns="0" bIns="0" rtlCol="0" anchor="ctr"/>
          <a:lstStyle/>
          <a:p>
            <a:pPr>
              <a:lnSpc>
                <a:spcPct val="100000"/>
              </a:lnSpc>
            </a:pPr>
            <a:r>
              <a:rPr lang="en-US" sz="1400" dirty="0">
                <a:solidFill>
                  <a:srgbClr val="1A1A1A"/>
                </a:solidFill>
                <a:latin typeface="Liter" pitchFamily="34" charset="0"/>
                <a:ea typeface="Liter" pitchFamily="34" charset="-122"/>
                <a:cs typeface="Liter" pitchFamily="34" charset="-120"/>
              </a:rPr>
              <a:t>SOUMISSION</a:t>
            </a:r>
            <a:endParaRPr lang="en-US" sz="1600" dirty="0"/>
          </a:p>
        </p:txBody>
      </p:sp>
      <p:sp>
        <p:nvSpPr>
          <p:cNvPr id="30" name="Text 28"/>
          <p:cNvSpPr/>
          <p:nvPr/>
        </p:nvSpPr>
        <p:spPr>
          <a:xfrm>
            <a:off x="1714500" y="7137400"/>
            <a:ext cx="2032000" cy="698500"/>
          </a:xfrm>
          <a:prstGeom prst="rect">
            <a:avLst/>
          </a:prstGeom>
          <a:noFill/>
          <a:ln/>
        </p:spPr>
        <p:txBody>
          <a:bodyPr wrap="square" lIns="0" tIns="0" rIns="0" bIns="0" rtlCol="0" anchor="ctr"/>
          <a:lstStyle/>
          <a:p>
            <a:pPr>
              <a:lnSpc>
                <a:spcPct val="140000"/>
              </a:lnSpc>
            </a:pPr>
            <a:r>
              <a:rPr lang="en-US" sz="1100" dirty="0">
                <a:solidFill>
                  <a:srgbClr val="8A8A8A"/>
                </a:solidFill>
                <a:latin typeface="Quattrocento Sans" pitchFamily="34" charset="0"/>
                <a:ea typeface="Quattrocento Sans" pitchFamily="34" charset="-122"/>
                <a:cs typeface="Quattrocento Sans" pitchFamily="34" charset="-120"/>
              </a:rPr>
              <a:t>Consentement + signature, reponse &lt; 2h</a:t>
            </a:r>
            <a:endParaRPr lang="en-US" sz="1600" dirty="0"/>
          </a:p>
        </p:txBody>
      </p:sp>
      <p:sp>
        <p:nvSpPr>
          <p:cNvPr id="31" name="Shape 29"/>
          <p:cNvSpPr/>
          <p:nvPr/>
        </p:nvSpPr>
        <p:spPr>
          <a:xfrm>
            <a:off x="4318000" y="2032000"/>
            <a:ext cx="11176000" cy="6096000"/>
          </a:xfrm>
          <a:prstGeom prst="rect">
            <a:avLst/>
          </a:prstGeom>
          <a:solidFill>
            <a:srgbClr val="FFFFFF"/>
          </a:solidFill>
          <a:ln w="12700">
            <a:solidFill>
              <a:srgbClr val="E0DCD8"/>
            </a:solidFill>
            <a:prstDash val="solid"/>
          </a:ln>
        </p:spPr>
      </p:sp>
      <p:sp>
        <p:nvSpPr>
          <p:cNvPr id="32" name="Text 30"/>
          <p:cNvSpPr/>
          <p:nvPr/>
        </p:nvSpPr>
        <p:spPr>
          <a:xfrm>
            <a:off x="4699000" y="2286000"/>
            <a:ext cx="5080000" cy="381000"/>
          </a:xfrm>
          <a:prstGeom prst="rect">
            <a:avLst/>
          </a:prstGeom>
          <a:noFill/>
          <a:ln/>
        </p:spPr>
        <p:txBody>
          <a:bodyPr wrap="none" lIns="0" tIns="0" rIns="0" bIns="0" rtlCol="0" anchor="ctr"/>
          <a:lstStyle/>
          <a:p>
            <a:pPr>
              <a:lnSpc>
                <a:spcPct val="100000"/>
              </a:lnSpc>
            </a:pPr>
            <a:r>
              <a:rPr lang="en-US" sz="2000" dirty="0">
                <a:solidFill>
                  <a:srgbClr val="5D2E18"/>
                </a:solidFill>
                <a:latin typeface="Liter" pitchFamily="34" charset="0"/>
                <a:ea typeface="Liter" pitchFamily="34" charset="-122"/>
                <a:cs typeface="Liter" pitchFamily="34" charset="-120"/>
              </a:rPr>
              <a:t>POINTS CLES DU PARCOURS</a:t>
            </a:r>
            <a:endParaRPr lang="en-US" sz="1600" dirty="0"/>
          </a:p>
        </p:txBody>
      </p:sp>
      <p:sp>
        <p:nvSpPr>
          <p:cNvPr id="33" name="Shape 31"/>
          <p:cNvSpPr/>
          <p:nvPr/>
        </p:nvSpPr>
        <p:spPr>
          <a:xfrm>
            <a:off x="4699000" y="2730500"/>
            <a:ext cx="10414000" cy="12700"/>
          </a:xfrm>
          <a:prstGeom prst="rect">
            <a:avLst/>
          </a:prstGeom>
          <a:solidFill>
            <a:srgbClr val="E0DCD8"/>
          </a:solidFill>
          <a:ln/>
        </p:spPr>
      </p:sp>
      <p:sp>
        <p:nvSpPr>
          <p:cNvPr id="34" name="Shape 32"/>
          <p:cNvSpPr/>
          <p:nvPr/>
        </p:nvSpPr>
        <p:spPr>
          <a:xfrm>
            <a:off x="4721225" y="2984500"/>
            <a:ext cx="311150" cy="355600"/>
          </a:xfrm>
          <a:custGeom>
            <a:avLst/>
            <a:gdLst/>
            <a:ahLst/>
            <a:cxnLst/>
            <a:rect l="l" t="t" r="r" b="b"/>
            <a:pathLst>
              <a:path w="311150" h="355600">
                <a:moveTo>
                  <a:pt x="235307" y="-6876"/>
                </a:moveTo>
                <a:cubicBezTo>
                  <a:pt x="243572" y="-903"/>
                  <a:pt x="246628" y="9932"/>
                  <a:pt x="242878" y="19377"/>
                </a:cubicBezTo>
                <a:lnTo>
                  <a:pt x="188426" y="155575"/>
                </a:lnTo>
                <a:lnTo>
                  <a:pt x="288925" y="155575"/>
                </a:lnTo>
                <a:cubicBezTo>
                  <a:pt x="298301" y="155575"/>
                  <a:pt x="306636" y="161409"/>
                  <a:pt x="309830" y="170230"/>
                </a:cubicBezTo>
                <a:cubicBezTo>
                  <a:pt x="313025" y="179050"/>
                  <a:pt x="310317" y="188913"/>
                  <a:pt x="303163" y="194885"/>
                </a:cubicBezTo>
                <a:lnTo>
                  <a:pt x="103138" y="361573"/>
                </a:lnTo>
                <a:cubicBezTo>
                  <a:pt x="95290" y="368102"/>
                  <a:pt x="84108" y="368449"/>
                  <a:pt x="75843" y="362476"/>
                </a:cubicBezTo>
                <a:cubicBezTo>
                  <a:pt x="67578" y="356503"/>
                  <a:pt x="64522" y="345668"/>
                  <a:pt x="68272" y="336223"/>
                </a:cubicBezTo>
                <a:lnTo>
                  <a:pt x="122724" y="200025"/>
                </a:lnTo>
                <a:lnTo>
                  <a:pt x="22225" y="200025"/>
                </a:lnTo>
                <a:cubicBezTo>
                  <a:pt x="12849" y="200025"/>
                  <a:pt x="4514" y="194191"/>
                  <a:pt x="1320" y="185370"/>
                </a:cubicBezTo>
                <a:cubicBezTo>
                  <a:pt x="-1875" y="176550"/>
                  <a:pt x="833" y="166688"/>
                  <a:pt x="7987" y="160715"/>
                </a:cubicBezTo>
                <a:lnTo>
                  <a:pt x="208012" y="-5973"/>
                </a:lnTo>
                <a:cubicBezTo>
                  <a:pt x="215860" y="-12502"/>
                  <a:pt x="227042" y="-12849"/>
                  <a:pt x="235307" y="-6876"/>
                </a:cubicBezTo>
                <a:close/>
              </a:path>
            </a:pathLst>
          </a:custGeom>
          <a:solidFill>
            <a:srgbClr val="F39C12"/>
          </a:solidFill>
          <a:ln/>
        </p:spPr>
      </p:sp>
      <p:sp>
        <p:nvSpPr>
          <p:cNvPr id="35" name="Text 33"/>
          <p:cNvSpPr/>
          <p:nvPr/>
        </p:nvSpPr>
        <p:spPr>
          <a:xfrm>
            <a:off x="5207000" y="2946400"/>
            <a:ext cx="9525000" cy="698500"/>
          </a:xfrm>
          <a:prstGeom prst="rect">
            <a:avLst/>
          </a:prstGeom>
          <a:noFill/>
          <a:ln/>
        </p:spPr>
        <p:txBody>
          <a:bodyPr wrap="square" lIns="0" tIns="0" rIns="0" bIns="0" rtlCol="0" anchor="ctr"/>
          <a:lstStyle/>
          <a:p>
            <a:pPr>
              <a:lnSpc>
                <a:spcPct val="150000"/>
              </a:lnSpc>
            </a:pPr>
            <a:r>
              <a:rPr lang="en-US" sz="1500" b="1" dirty="0">
                <a:solidFill>
                  <a:srgbClr val="1A1A1A"/>
                </a:solidFill>
                <a:latin typeface="Quattrocento Sans" pitchFamily="34" charset="0"/>
                <a:ea typeface="Quattrocento Sans" pitchFamily="34" charset="-122"/>
                <a:cs typeface="Quattrocento Sans" pitchFamily="34" charset="-120"/>
              </a:rPr>
              <a:t>Resilience reseau</a:t>
            </a:r>
            <a:pPr>
              <a:lnSpc>
                <a:spcPct val="150000"/>
              </a:lnSpc>
            </a:pPr>
            <a:r>
              <a:rPr lang="en-US" sz="1500" dirty="0">
                <a:solidFill>
                  <a:srgbClr val="1A1A1A"/>
                </a:solidFill>
                <a:latin typeface="Quattrocento Sans" pitchFamily="34" charset="0"/>
                <a:ea typeface="Quattrocento Sans" pitchFamily="34" charset="-122"/>
                <a:cs typeface="Quattrocento Sans" pitchFamily="34" charset="-120"/>
              </a:rPr>
              <a:t> : reprise de session apres coupure 3G/delestage grace au cache local chiffre</a:t>
            </a:r>
            <a:endParaRPr lang="en-US" sz="1600" dirty="0"/>
          </a:p>
        </p:txBody>
      </p:sp>
      <p:sp>
        <p:nvSpPr>
          <p:cNvPr id="36" name="Shape 34"/>
          <p:cNvSpPr/>
          <p:nvPr/>
        </p:nvSpPr>
        <p:spPr>
          <a:xfrm>
            <a:off x="4699000" y="3810000"/>
            <a:ext cx="355600" cy="355600"/>
          </a:xfrm>
          <a:custGeom>
            <a:avLst/>
            <a:gdLst/>
            <a:ahLst/>
            <a:cxnLst/>
            <a:rect l="l" t="t" r="r" b="b"/>
            <a:pathLst>
              <a:path w="355600" h="355600">
                <a:moveTo>
                  <a:pt x="103555" y="45006"/>
                </a:moveTo>
                <a:lnTo>
                  <a:pt x="96331" y="66675"/>
                </a:lnTo>
                <a:lnTo>
                  <a:pt x="44450" y="66675"/>
                </a:lnTo>
                <a:cubicBezTo>
                  <a:pt x="19933" y="66675"/>
                  <a:pt x="0" y="86608"/>
                  <a:pt x="0" y="111125"/>
                </a:cubicBezTo>
                <a:lnTo>
                  <a:pt x="0" y="288925"/>
                </a:lnTo>
                <a:cubicBezTo>
                  <a:pt x="0" y="313442"/>
                  <a:pt x="19933" y="333375"/>
                  <a:pt x="44450" y="333375"/>
                </a:cubicBezTo>
                <a:lnTo>
                  <a:pt x="311150" y="333375"/>
                </a:lnTo>
                <a:cubicBezTo>
                  <a:pt x="335667" y="333375"/>
                  <a:pt x="355600" y="313442"/>
                  <a:pt x="355600" y="288925"/>
                </a:cubicBezTo>
                <a:lnTo>
                  <a:pt x="355600" y="111125"/>
                </a:lnTo>
                <a:cubicBezTo>
                  <a:pt x="355600" y="86608"/>
                  <a:pt x="335667" y="66675"/>
                  <a:pt x="311150" y="66675"/>
                </a:cubicBezTo>
                <a:lnTo>
                  <a:pt x="259269" y="66675"/>
                </a:lnTo>
                <a:lnTo>
                  <a:pt x="252045" y="45006"/>
                </a:lnTo>
                <a:cubicBezTo>
                  <a:pt x="247531" y="31393"/>
                  <a:pt x="234821" y="22225"/>
                  <a:pt x="220444" y="22225"/>
                </a:cubicBezTo>
                <a:lnTo>
                  <a:pt x="135156" y="22225"/>
                </a:lnTo>
                <a:cubicBezTo>
                  <a:pt x="120779" y="22225"/>
                  <a:pt x="108069" y="31393"/>
                  <a:pt x="103555" y="45006"/>
                </a:cubicBezTo>
                <a:close/>
                <a:moveTo>
                  <a:pt x="177800" y="133350"/>
                </a:moveTo>
                <a:cubicBezTo>
                  <a:pt x="214599" y="133350"/>
                  <a:pt x="244475" y="163226"/>
                  <a:pt x="244475" y="200025"/>
                </a:cubicBezTo>
                <a:cubicBezTo>
                  <a:pt x="244475" y="236824"/>
                  <a:pt x="214599" y="266700"/>
                  <a:pt x="177800" y="266700"/>
                </a:cubicBezTo>
                <a:cubicBezTo>
                  <a:pt x="141001" y="266700"/>
                  <a:pt x="111125" y="236824"/>
                  <a:pt x="111125" y="200025"/>
                </a:cubicBezTo>
                <a:cubicBezTo>
                  <a:pt x="111125" y="163226"/>
                  <a:pt x="141001" y="133350"/>
                  <a:pt x="177800" y="133350"/>
                </a:cubicBezTo>
                <a:close/>
              </a:path>
            </a:pathLst>
          </a:custGeom>
          <a:solidFill>
            <a:srgbClr val="F39C12"/>
          </a:solidFill>
          <a:ln/>
        </p:spPr>
      </p:sp>
      <p:sp>
        <p:nvSpPr>
          <p:cNvPr id="37" name="Text 35"/>
          <p:cNvSpPr/>
          <p:nvPr/>
        </p:nvSpPr>
        <p:spPr>
          <a:xfrm>
            <a:off x="5207000" y="3771900"/>
            <a:ext cx="9525000" cy="698500"/>
          </a:xfrm>
          <a:prstGeom prst="rect">
            <a:avLst/>
          </a:prstGeom>
          <a:noFill/>
          <a:ln/>
        </p:spPr>
        <p:txBody>
          <a:bodyPr wrap="square" lIns="0" tIns="0" rIns="0" bIns="0" rtlCol="0" anchor="ctr"/>
          <a:lstStyle/>
          <a:p>
            <a:pPr>
              <a:lnSpc>
                <a:spcPct val="150000"/>
              </a:lnSpc>
            </a:pPr>
            <a:r>
              <a:rPr lang="en-US" sz="1500" b="1" dirty="0">
                <a:solidFill>
                  <a:srgbClr val="1A1A1A"/>
                </a:solidFill>
                <a:latin typeface="Quattrocento Sans" pitchFamily="34" charset="0"/>
                <a:ea typeface="Quattrocento Sans" pitchFamily="34" charset="-122"/>
                <a:cs typeface="Quattrocento Sans" pitchFamily="34" charset="-120"/>
              </a:rPr>
              <a:t>Capture intelligente</a:t>
            </a:r>
            <a:pPr>
              <a:lnSpc>
                <a:spcPct val="150000"/>
              </a:lnSpc>
            </a:pPr>
            <a:r>
              <a:rPr lang="en-US" sz="1500" dirty="0">
                <a:solidFill>
                  <a:srgbClr val="1A1A1A"/>
                </a:solidFill>
                <a:latin typeface="Quattrocento Sans" pitchFamily="34" charset="0"/>
                <a:ea typeface="Quattrocento Sans" pitchFamily="34" charset="-122"/>
                <a:cs typeface="Quattrocento Sans" pitchFamily="34" charset="-120"/>
              </a:rPr>
              <a:t> : guidage visuel, detection de qualite (blur, glare), auto-framing</a:t>
            </a:r>
            <a:endParaRPr lang="en-US" sz="1600" dirty="0"/>
          </a:p>
        </p:txBody>
      </p:sp>
      <p:sp>
        <p:nvSpPr>
          <p:cNvPr id="38" name="Shape 36"/>
          <p:cNvSpPr/>
          <p:nvPr/>
        </p:nvSpPr>
        <p:spPr>
          <a:xfrm>
            <a:off x="4699000" y="4635500"/>
            <a:ext cx="355600" cy="355600"/>
          </a:xfrm>
          <a:custGeom>
            <a:avLst/>
            <a:gdLst/>
            <a:ahLst/>
            <a:cxnLst/>
            <a:rect l="l" t="t" r="r" b="b"/>
            <a:pathLst>
              <a:path w="355600" h="355600">
                <a:moveTo>
                  <a:pt x="83344" y="38894"/>
                </a:moveTo>
                <a:cubicBezTo>
                  <a:pt x="83344" y="17433"/>
                  <a:pt x="100776" y="0"/>
                  <a:pt x="122238" y="0"/>
                </a:cubicBezTo>
                <a:lnTo>
                  <a:pt x="138906" y="0"/>
                </a:lnTo>
                <a:cubicBezTo>
                  <a:pt x="151199" y="0"/>
                  <a:pt x="161131" y="9932"/>
                  <a:pt x="161131" y="22225"/>
                </a:cubicBezTo>
                <a:lnTo>
                  <a:pt x="161131" y="333375"/>
                </a:lnTo>
                <a:cubicBezTo>
                  <a:pt x="161131" y="345668"/>
                  <a:pt x="151199" y="355600"/>
                  <a:pt x="138906" y="355600"/>
                </a:cubicBezTo>
                <a:lnTo>
                  <a:pt x="116681" y="355600"/>
                </a:lnTo>
                <a:cubicBezTo>
                  <a:pt x="95984" y="355600"/>
                  <a:pt x="78551" y="341432"/>
                  <a:pt x="73620" y="322263"/>
                </a:cubicBezTo>
                <a:cubicBezTo>
                  <a:pt x="73134" y="322263"/>
                  <a:pt x="72717" y="322263"/>
                  <a:pt x="72231" y="322263"/>
                </a:cubicBezTo>
                <a:cubicBezTo>
                  <a:pt x="41533" y="322263"/>
                  <a:pt x="16669" y="297398"/>
                  <a:pt x="16669" y="266700"/>
                </a:cubicBezTo>
                <a:cubicBezTo>
                  <a:pt x="16669" y="254198"/>
                  <a:pt x="20836" y="242669"/>
                  <a:pt x="27781" y="233363"/>
                </a:cubicBezTo>
                <a:cubicBezTo>
                  <a:pt x="14307" y="223222"/>
                  <a:pt x="5556" y="207109"/>
                  <a:pt x="5556" y="188913"/>
                </a:cubicBezTo>
                <a:cubicBezTo>
                  <a:pt x="5556" y="167451"/>
                  <a:pt x="17780" y="148769"/>
                  <a:pt x="35560" y="139531"/>
                </a:cubicBezTo>
                <a:cubicBezTo>
                  <a:pt x="30629" y="131197"/>
                  <a:pt x="27781" y="121474"/>
                  <a:pt x="27781" y="111125"/>
                </a:cubicBezTo>
                <a:cubicBezTo>
                  <a:pt x="27781" y="80427"/>
                  <a:pt x="52645" y="55563"/>
                  <a:pt x="83344" y="55563"/>
                </a:cubicBezTo>
                <a:lnTo>
                  <a:pt x="83344" y="38894"/>
                </a:lnTo>
                <a:close/>
                <a:moveTo>
                  <a:pt x="272256" y="38894"/>
                </a:moveTo>
                <a:lnTo>
                  <a:pt x="272256" y="55563"/>
                </a:lnTo>
                <a:cubicBezTo>
                  <a:pt x="302955" y="55563"/>
                  <a:pt x="327819" y="80427"/>
                  <a:pt x="327819" y="111125"/>
                </a:cubicBezTo>
                <a:cubicBezTo>
                  <a:pt x="327819" y="121543"/>
                  <a:pt x="324971" y="131266"/>
                  <a:pt x="320040" y="139531"/>
                </a:cubicBezTo>
                <a:cubicBezTo>
                  <a:pt x="337889" y="148769"/>
                  <a:pt x="350044" y="167382"/>
                  <a:pt x="350044" y="188913"/>
                </a:cubicBezTo>
                <a:cubicBezTo>
                  <a:pt x="350044" y="207109"/>
                  <a:pt x="341293" y="223222"/>
                  <a:pt x="327819" y="233363"/>
                </a:cubicBezTo>
                <a:cubicBezTo>
                  <a:pt x="334764" y="242669"/>
                  <a:pt x="338931" y="254198"/>
                  <a:pt x="338931" y="266700"/>
                </a:cubicBezTo>
                <a:cubicBezTo>
                  <a:pt x="338931" y="297398"/>
                  <a:pt x="314067" y="322263"/>
                  <a:pt x="283369" y="322263"/>
                </a:cubicBezTo>
                <a:cubicBezTo>
                  <a:pt x="282883" y="322263"/>
                  <a:pt x="282466" y="322263"/>
                  <a:pt x="281980" y="322263"/>
                </a:cubicBezTo>
                <a:cubicBezTo>
                  <a:pt x="277049" y="341432"/>
                  <a:pt x="259616" y="355600"/>
                  <a:pt x="238919" y="355600"/>
                </a:cubicBezTo>
                <a:lnTo>
                  <a:pt x="216694" y="355600"/>
                </a:lnTo>
                <a:cubicBezTo>
                  <a:pt x="204401" y="355600"/>
                  <a:pt x="194469" y="345668"/>
                  <a:pt x="194469" y="333375"/>
                </a:cubicBezTo>
                <a:lnTo>
                  <a:pt x="194469" y="22225"/>
                </a:lnTo>
                <a:cubicBezTo>
                  <a:pt x="194469" y="9932"/>
                  <a:pt x="204401" y="0"/>
                  <a:pt x="216694" y="0"/>
                </a:cubicBezTo>
                <a:lnTo>
                  <a:pt x="233363" y="0"/>
                </a:lnTo>
                <a:cubicBezTo>
                  <a:pt x="254824" y="0"/>
                  <a:pt x="272256" y="17433"/>
                  <a:pt x="272256" y="38894"/>
                </a:cubicBezTo>
                <a:close/>
              </a:path>
            </a:pathLst>
          </a:custGeom>
          <a:solidFill>
            <a:srgbClr val="F39C12"/>
          </a:solidFill>
          <a:ln/>
        </p:spPr>
      </p:sp>
      <p:sp>
        <p:nvSpPr>
          <p:cNvPr id="39" name="Text 37"/>
          <p:cNvSpPr/>
          <p:nvPr/>
        </p:nvSpPr>
        <p:spPr>
          <a:xfrm>
            <a:off x="5207000" y="4597400"/>
            <a:ext cx="9525000" cy="698500"/>
          </a:xfrm>
          <a:prstGeom prst="rect">
            <a:avLst/>
          </a:prstGeom>
          <a:noFill/>
          <a:ln/>
        </p:spPr>
        <p:txBody>
          <a:bodyPr wrap="square" lIns="0" tIns="0" rIns="0" bIns="0" rtlCol="0" anchor="ctr"/>
          <a:lstStyle/>
          <a:p>
            <a:pPr>
              <a:lnSpc>
                <a:spcPct val="150000"/>
              </a:lnSpc>
            </a:pPr>
            <a:r>
              <a:rPr lang="en-US" sz="1500" b="1" dirty="0">
                <a:solidFill>
                  <a:srgbClr val="1A1A1A"/>
                </a:solidFill>
                <a:latin typeface="Quattrocento Sans" pitchFamily="34" charset="0"/>
                <a:ea typeface="Quattrocento Sans" pitchFamily="34" charset="-122"/>
                <a:cs typeface="Quattrocento Sans" pitchFamily="34" charset="-120"/>
              </a:rPr>
              <a:t>OCR hybride</a:t>
            </a:r>
            <a:pPr>
              <a:lnSpc>
                <a:spcPct val="150000"/>
              </a:lnSpc>
            </a:pPr>
            <a:r>
              <a:rPr lang="en-US" sz="1500" dirty="0">
                <a:solidFill>
                  <a:srgbClr val="1A1A1A"/>
                </a:solidFill>
                <a:latin typeface="Quattrocento Sans" pitchFamily="34" charset="0"/>
                <a:ea typeface="Quattrocento Sans" pitchFamily="34" charset="-122"/>
                <a:cs typeface="Quattrocento Sans" pitchFamily="34" charset="-120"/>
              </a:rPr>
              <a:t> : PaddleOCR primaire (&lt; 2s) + GLM-OCR fallback pour les cas complexes</a:t>
            </a:r>
            <a:endParaRPr lang="en-US" sz="1600" dirty="0"/>
          </a:p>
        </p:txBody>
      </p:sp>
      <p:sp>
        <p:nvSpPr>
          <p:cNvPr id="40" name="Shape 38"/>
          <p:cNvSpPr/>
          <p:nvPr/>
        </p:nvSpPr>
        <p:spPr>
          <a:xfrm>
            <a:off x="4676775" y="5461000"/>
            <a:ext cx="400050" cy="355600"/>
          </a:xfrm>
          <a:custGeom>
            <a:avLst/>
            <a:gdLst/>
            <a:ahLst/>
            <a:cxnLst/>
            <a:rect l="l" t="t" r="r" b="b"/>
            <a:pathLst>
              <a:path w="400050" h="355600">
                <a:moveTo>
                  <a:pt x="66675" y="0"/>
                </a:moveTo>
                <a:cubicBezTo>
                  <a:pt x="42158" y="0"/>
                  <a:pt x="22225" y="19933"/>
                  <a:pt x="22225" y="44450"/>
                </a:cubicBezTo>
                <a:lnTo>
                  <a:pt x="22225" y="311150"/>
                </a:lnTo>
                <a:cubicBezTo>
                  <a:pt x="22225" y="335667"/>
                  <a:pt x="42158" y="355600"/>
                  <a:pt x="66675" y="355600"/>
                </a:cubicBezTo>
                <a:lnTo>
                  <a:pt x="206415" y="355600"/>
                </a:lnTo>
                <a:cubicBezTo>
                  <a:pt x="181273" y="326013"/>
                  <a:pt x="166688" y="287883"/>
                  <a:pt x="166688" y="247531"/>
                </a:cubicBezTo>
                <a:lnTo>
                  <a:pt x="166688" y="225931"/>
                </a:lnTo>
                <a:cubicBezTo>
                  <a:pt x="166688" y="202039"/>
                  <a:pt x="181967" y="180786"/>
                  <a:pt x="204678" y="173216"/>
                </a:cubicBezTo>
                <a:lnTo>
                  <a:pt x="282466" y="147310"/>
                </a:lnTo>
                <a:cubicBezTo>
                  <a:pt x="284619" y="146616"/>
                  <a:pt x="286772" y="146060"/>
                  <a:pt x="288925" y="145574"/>
                </a:cubicBezTo>
                <a:lnTo>
                  <a:pt x="288925" y="118418"/>
                </a:lnTo>
                <a:cubicBezTo>
                  <a:pt x="288925" y="106611"/>
                  <a:pt x="284272" y="95290"/>
                  <a:pt x="275937" y="86955"/>
                </a:cubicBezTo>
                <a:lnTo>
                  <a:pt x="201900" y="12988"/>
                </a:lnTo>
                <a:cubicBezTo>
                  <a:pt x="193566" y="4653"/>
                  <a:pt x="182314" y="0"/>
                  <a:pt x="170507" y="0"/>
                </a:cubicBezTo>
                <a:lnTo>
                  <a:pt x="66675" y="0"/>
                </a:lnTo>
                <a:close/>
                <a:moveTo>
                  <a:pt x="248295" y="122238"/>
                </a:moveTo>
                <a:lnTo>
                  <a:pt x="183356" y="122238"/>
                </a:lnTo>
                <a:cubicBezTo>
                  <a:pt x="174119" y="122238"/>
                  <a:pt x="166688" y="114806"/>
                  <a:pt x="166688" y="105569"/>
                </a:cubicBezTo>
                <a:lnTo>
                  <a:pt x="166688" y="40630"/>
                </a:lnTo>
                <a:lnTo>
                  <a:pt x="248295" y="122238"/>
                </a:lnTo>
                <a:close/>
                <a:moveTo>
                  <a:pt x="309275" y="339279"/>
                </a:moveTo>
                <a:lnTo>
                  <a:pt x="300038" y="343654"/>
                </a:lnTo>
                <a:lnTo>
                  <a:pt x="300038" y="213013"/>
                </a:lnTo>
                <a:lnTo>
                  <a:pt x="366712" y="235238"/>
                </a:lnTo>
                <a:lnTo>
                  <a:pt x="366712" y="248851"/>
                </a:lnTo>
                <a:cubicBezTo>
                  <a:pt x="366712" y="287605"/>
                  <a:pt x="344349" y="322818"/>
                  <a:pt x="309275" y="339348"/>
                </a:cubicBezTo>
                <a:close/>
                <a:moveTo>
                  <a:pt x="293023" y="180231"/>
                </a:moveTo>
                <a:lnTo>
                  <a:pt x="215235" y="206137"/>
                </a:lnTo>
                <a:cubicBezTo>
                  <a:pt x="206137" y="209193"/>
                  <a:pt x="200025" y="217666"/>
                  <a:pt x="200025" y="227251"/>
                </a:cubicBezTo>
                <a:lnTo>
                  <a:pt x="200025" y="248851"/>
                </a:lnTo>
                <a:cubicBezTo>
                  <a:pt x="200025" y="300524"/>
                  <a:pt x="229890" y="347543"/>
                  <a:pt x="276562" y="369491"/>
                </a:cubicBezTo>
                <a:lnTo>
                  <a:pt x="289411" y="375533"/>
                </a:lnTo>
                <a:cubicBezTo>
                  <a:pt x="292745" y="377061"/>
                  <a:pt x="296356" y="377894"/>
                  <a:pt x="299968" y="377894"/>
                </a:cubicBezTo>
                <a:cubicBezTo>
                  <a:pt x="303580" y="377894"/>
                  <a:pt x="307261" y="377061"/>
                  <a:pt x="310525" y="375533"/>
                </a:cubicBezTo>
                <a:lnTo>
                  <a:pt x="323374" y="369491"/>
                </a:lnTo>
                <a:cubicBezTo>
                  <a:pt x="370185" y="347474"/>
                  <a:pt x="400050" y="300454"/>
                  <a:pt x="400050" y="248781"/>
                </a:cubicBezTo>
                <a:lnTo>
                  <a:pt x="400050" y="227181"/>
                </a:lnTo>
                <a:cubicBezTo>
                  <a:pt x="400050" y="217597"/>
                  <a:pt x="393938" y="209123"/>
                  <a:pt x="384840" y="206067"/>
                </a:cubicBezTo>
                <a:lnTo>
                  <a:pt x="307052" y="180161"/>
                </a:lnTo>
                <a:cubicBezTo>
                  <a:pt x="302468" y="178633"/>
                  <a:pt x="297537" y="178633"/>
                  <a:pt x="293023" y="180161"/>
                </a:cubicBezTo>
                <a:close/>
              </a:path>
            </a:pathLst>
          </a:custGeom>
          <a:solidFill>
            <a:srgbClr val="F39C12"/>
          </a:solidFill>
          <a:ln/>
        </p:spPr>
      </p:sp>
      <p:sp>
        <p:nvSpPr>
          <p:cNvPr id="41" name="Text 39"/>
          <p:cNvSpPr/>
          <p:nvPr/>
        </p:nvSpPr>
        <p:spPr>
          <a:xfrm>
            <a:off x="5207000" y="5422900"/>
            <a:ext cx="9525000" cy="698500"/>
          </a:xfrm>
          <a:prstGeom prst="rect">
            <a:avLst/>
          </a:prstGeom>
          <a:noFill/>
          <a:ln/>
        </p:spPr>
        <p:txBody>
          <a:bodyPr wrap="square" lIns="0" tIns="0" rIns="0" bIns="0" rtlCol="0" anchor="ctr"/>
          <a:lstStyle/>
          <a:p>
            <a:pPr>
              <a:lnSpc>
                <a:spcPct val="150000"/>
              </a:lnSpc>
            </a:pPr>
            <a:r>
              <a:rPr lang="en-US" sz="1500" b="1" dirty="0">
                <a:solidFill>
                  <a:srgbClr val="1A1A1A"/>
                </a:solidFill>
                <a:latin typeface="Quattrocento Sans" pitchFamily="34" charset="0"/>
                <a:ea typeface="Quattrocento Sans" pitchFamily="34" charset="-122"/>
                <a:cs typeface="Quattrocento Sans" pitchFamily="34" charset="-120"/>
              </a:rPr>
              <a:t>Consentement explicite</a:t>
            </a:r>
            <a:pPr>
              <a:lnSpc>
                <a:spcPct val="150000"/>
              </a:lnSpc>
            </a:pPr>
            <a:r>
              <a:rPr lang="en-US" sz="1500" dirty="0">
                <a:solidFill>
                  <a:srgbClr val="1A1A1A"/>
                </a:solidFill>
                <a:latin typeface="Quattrocento Sans" pitchFamily="34" charset="0"/>
                <a:ea typeface="Quattrocento Sans" pitchFamily="34" charset="-122"/>
                <a:cs typeface="Quattrocento Sans" pitchFamily="34" charset="-120"/>
              </a:rPr>
              <a:t> : 3 checkboxes distinctes (CGU, Privacy, Data Processing)</a:t>
            </a:r>
            <a:endParaRPr lang="en-US" sz="1600" dirty="0"/>
          </a:p>
        </p:txBody>
      </p:sp>
      <p:sp>
        <p:nvSpPr>
          <p:cNvPr id="42" name="Shape 40"/>
          <p:cNvSpPr/>
          <p:nvPr/>
        </p:nvSpPr>
        <p:spPr>
          <a:xfrm>
            <a:off x="4699000" y="6286500"/>
            <a:ext cx="355600" cy="355600"/>
          </a:xfrm>
          <a:custGeom>
            <a:avLst/>
            <a:gdLst/>
            <a:ahLst/>
            <a:cxnLst/>
            <a:rect l="l" t="t" r="r" b="b"/>
            <a:pathLst>
              <a:path w="355600" h="355600">
                <a:moveTo>
                  <a:pt x="311150" y="177800"/>
                </a:moveTo>
                <a:cubicBezTo>
                  <a:pt x="311150" y="104202"/>
                  <a:pt x="251398" y="44450"/>
                  <a:pt x="177800" y="44450"/>
                </a:cubicBezTo>
                <a:cubicBezTo>
                  <a:pt x="104202" y="44450"/>
                  <a:pt x="44450" y="104202"/>
                  <a:pt x="44450" y="177800"/>
                </a:cubicBezTo>
                <a:cubicBezTo>
                  <a:pt x="44450" y="251398"/>
                  <a:pt x="104202" y="311150"/>
                  <a:pt x="177800" y="311150"/>
                </a:cubicBezTo>
                <a:cubicBezTo>
                  <a:pt x="251398" y="311150"/>
                  <a:pt x="311150" y="251398"/>
                  <a:pt x="311150" y="177800"/>
                </a:cubicBezTo>
                <a:close/>
                <a:moveTo>
                  <a:pt x="0" y="177800"/>
                </a:moveTo>
                <a:cubicBezTo>
                  <a:pt x="0" y="79670"/>
                  <a:pt x="79670" y="0"/>
                  <a:pt x="177800" y="0"/>
                </a:cubicBezTo>
                <a:cubicBezTo>
                  <a:pt x="275930" y="0"/>
                  <a:pt x="355600" y="79670"/>
                  <a:pt x="355600" y="177800"/>
                </a:cubicBezTo>
                <a:cubicBezTo>
                  <a:pt x="355600" y="275930"/>
                  <a:pt x="275930" y="355600"/>
                  <a:pt x="177800" y="355600"/>
                </a:cubicBezTo>
                <a:cubicBezTo>
                  <a:pt x="79670" y="355600"/>
                  <a:pt x="0" y="275930"/>
                  <a:pt x="0" y="177800"/>
                </a:cubicBezTo>
                <a:close/>
                <a:moveTo>
                  <a:pt x="177800" y="233363"/>
                </a:moveTo>
                <a:cubicBezTo>
                  <a:pt x="208466" y="233363"/>
                  <a:pt x="233363" y="208466"/>
                  <a:pt x="233363" y="177800"/>
                </a:cubicBezTo>
                <a:cubicBezTo>
                  <a:pt x="233363" y="147134"/>
                  <a:pt x="208466" y="122238"/>
                  <a:pt x="177800" y="122238"/>
                </a:cubicBezTo>
                <a:cubicBezTo>
                  <a:pt x="147134" y="122238"/>
                  <a:pt x="122238" y="147134"/>
                  <a:pt x="122238" y="177800"/>
                </a:cubicBezTo>
                <a:cubicBezTo>
                  <a:pt x="122238" y="208466"/>
                  <a:pt x="147134" y="233363"/>
                  <a:pt x="177800" y="233363"/>
                </a:cubicBezTo>
                <a:close/>
                <a:moveTo>
                  <a:pt x="177800" y="77788"/>
                </a:moveTo>
                <a:cubicBezTo>
                  <a:pt x="232998" y="77788"/>
                  <a:pt x="277813" y="122602"/>
                  <a:pt x="277813" y="177800"/>
                </a:cubicBezTo>
                <a:cubicBezTo>
                  <a:pt x="277813" y="232998"/>
                  <a:pt x="232998" y="277813"/>
                  <a:pt x="177800" y="277813"/>
                </a:cubicBezTo>
                <a:cubicBezTo>
                  <a:pt x="122602" y="277813"/>
                  <a:pt x="77788" y="232998"/>
                  <a:pt x="77788" y="177800"/>
                </a:cubicBezTo>
                <a:cubicBezTo>
                  <a:pt x="77788" y="122602"/>
                  <a:pt x="122602" y="77788"/>
                  <a:pt x="177800" y="77788"/>
                </a:cubicBezTo>
                <a:close/>
                <a:moveTo>
                  <a:pt x="155575" y="177800"/>
                </a:moveTo>
                <a:cubicBezTo>
                  <a:pt x="155575" y="165534"/>
                  <a:pt x="165534" y="155575"/>
                  <a:pt x="177800" y="155575"/>
                </a:cubicBezTo>
                <a:cubicBezTo>
                  <a:pt x="190066" y="155575"/>
                  <a:pt x="200025" y="165534"/>
                  <a:pt x="200025" y="177800"/>
                </a:cubicBezTo>
                <a:cubicBezTo>
                  <a:pt x="200025" y="190066"/>
                  <a:pt x="190066" y="200025"/>
                  <a:pt x="177800" y="200025"/>
                </a:cubicBezTo>
                <a:cubicBezTo>
                  <a:pt x="165534" y="200025"/>
                  <a:pt x="155575" y="190066"/>
                  <a:pt x="155575" y="177800"/>
                </a:cubicBezTo>
                <a:close/>
              </a:path>
            </a:pathLst>
          </a:custGeom>
          <a:solidFill>
            <a:srgbClr val="F39C12"/>
          </a:solidFill>
          <a:ln/>
        </p:spPr>
      </p:sp>
      <p:sp>
        <p:nvSpPr>
          <p:cNvPr id="43" name="Text 41"/>
          <p:cNvSpPr/>
          <p:nvPr/>
        </p:nvSpPr>
        <p:spPr>
          <a:xfrm>
            <a:off x="5207000" y="6248400"/>
            <a:ext cx="9525000" cy="698500"/>
          </a:xfrm>
          <a:prstGeom prst="rect">
            <a:avLst/>
          </a:prstGeom>
          <a:noFill/>
          <a:ln/>
        </p:spPr>
        <p:txBody>
          <a:bodyPr wrap="square" lIns="0" tIns="0" rIns="0" bIns="0" rtlCol="0" anchor="ctr"/>
          <a:lstStyle/>
          <a:p>
            <a:pPr>
              <a:lnSpc>
                <a:spcPct val="150000"/>
              </a:lnSpc>
            </a:pPr>
            <a:r>
              <a:rPr lang="en-US" sz="1500" b="1" dirty="0">
                <a:solidFill>
                  <a:srgbClr val="1A1A1A"/>
                </a:solidFill>
                <a:latin typeface="Quattrocento Sans" pitchFamily="34" charset="0"/>
                <a:ea typeface="Quattrocento Sans" pitchFamily="34" charset="-122"/>
                <a:cs typeface="Quattrocento Sans" pitchFamily="34" charset="-120"/>
              </a:rPr>
              <a:t>Scope MVP maîtrise</a:t>
            </a:r>
            <a:pPr>
              <a:lnSpc>
                <a:spcPct val="150000"/>
              </a:lnSpc>
            </a:pPr>
            <a:r>
              <a:rPr lang="en-US" sz="1500" dirty="0">
                <a:solidFill>
                  <a:srgbClr val="1A1A1A"/>
                </a:solidFill>
                <a:latin typeface="Quattrocento Sans" pitchFamily="34" charset="0"/>
                <a:ea typeface="Quattrocento Sans" pitchFamily="34" charset="-122"/>
                <a:cs typeface="Quattrocento Sans" pitchFamily="34" charset="-120"/>
              </a:rPr>
              <a:t> : CNI Cameroun uniquement, passeport et permis volontairement desactives</a:t>
            </a:r>
            <a:endParaRPr lang="en-US" sz="1600" dirty="0"/>
          </a:p>
        </p:txBody>
      </p:sp>
      <p:sp>
        <p:nvSpPr>
          <p:cNvPr id="44" name="Shape 42"/>
          <p:cNvSpPr/>
          <p:nvPr/>
        </p:nvSpPr>
        <p:spPr>
          <a:xfrm>
            <a:off x="4699000" y="7239000"/>
            <a:ext cx="2540000" cy="406400"/>
          </a:xfrm>
          <a:prstGeom prst="rect">
            <a:avLst/>
          </a:prstGeom>
          <a:solidFill>
            <a:srgbClr val="5D2E18"/>
          </a:solidFill>
          <a:ln/>
        </p:spPr>
      </p:sp>
      <p:sp>
        <p:nvSpPr>
          <p:cNvPr id="45" name="Text 43"/>
          <p:cNvSpPr/>
          <p:nvPr/>
        </p:nvSpPr>
        <p:spPr>
          <a:xfrm>
            <a:off x="4699000" y="7239000"/>
            <a:ext cx="2540000" cy="406400"/>
          </a:xfrm>
          <a:prstGeom prst="rect">
            <a:avLst/>
          </a:prstGeom>
          <a:noFill/>
          <a:ln/>
        </p:spPr>
        <p:txBody>
          <a:bodyPr wrap="none" lIns="0" tIns="0" rIns="0" bIns="0" rtlCol="0" anchor="ctr"/>
          <a:lstStyle/>
          <a:p>
            <a:pPr algn="ctr">
              <a:lnSpc>
                <a:spcPct val="100000"/>
              </a:lnSpc>
            </a:pPr>
            <a:r>
              <a:rPr lang="en-US" sz="1100" spc="100" kern="0" dirty="0">
                <a:solidFill>
                  <a:srgbClr val="FFFFFF"/>
                </a:solidFill>
                <a:latin typeface="Liter" pitchFamily="34" charset="0"/>
                <a:ea typeface="Liter" pitchFamily="34" charset="-122"/>
                <a:cs typeface="Liter" pitchFamily="34" charset="-120"/>
              </a:rPr>
              <a:t>MVP = CNI CAMEROUN</a:t>
            </a:r>
            <a:endParaRPr lang="en-US" sz="1600" dirty="0"/>
          </a:p>
        </p:txBody>
      </p:sp>
      <p:sp>
        <p:nvSpPr>
          <p:cNvPr id="46" name="Text 44"/>
          <p:cNvSpPr/>
          <p:nvPr/>
        </p:nvSpPr>
        <p:spPr>
          <a:xfrm>
            <a:off x="14986000" y="8636000"/>
            <a:ext cx="762000" cy="254000"/>
          </a:xfrm>
          <a:prstGeom prst="rect">
            <a:avLst/>
          </a:prstGeom>
          <a:noFill/>
          <a:ln/>
        </p:spPr>
        <p:txBody>
          <a:bodyPr wrap="none" lIns="0" tIns="0" rIns="0" bIns="0" rtlCol="0" anchor="ctr"/>
          <a:lstStyle/>
          <a:p>
            <a:pPr algn="r">
              <a:lnSpc>
                <a:spcPct val="140000"/>
              </a:lnSpc>
            </a:pPr>
            <a:r>
              <a:rPr lang="en-US" sz="1200" dirty="0">
                <a:solidFill>
                  <a:srgbClr val="8A8A8A"/>
                </a:solidFill>
                <a:latin typeface="QuattrocentoSans" pitchFamily="34" charset="0"/>
                <a:ea typeface="QuattrocentoSans" pitchFamily="34" charset="-122"/>
                <a:cs typeface="QuattrocentoSans" pitchFamily="34" charset="-120"/>
              </a:rPr>
              <a:t>08</a:t>
            </a:r>
            <a:endParaRPr lang="en-US" sz="1200" dirty="0"/>
          </a:p>
        </p:txBody>
      </p:sp>
    </p:spTree>
  </p:cSld>
  <p:clrMapOvr>
    <a:masterClrMapping/>
  </p:clrMapOvr>
  <p:transition>
    <p:fade/>
    <p:spd val="med"/>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0EB"/>
        </a:solidFill>
      </p:bgPr>
    </p:bg>
    <p:spTree>
      <p:nvGrpSpPr>
        <p:cNvPr id="1" name=""/>
        <p:cNvGrpSpPr/>
        <p:nvPr/>
      </p:nvGrpSpPr>
      <p:grpSpPr>
        <a:xfrm>
          <a:off x="0" y="0"/>
          <a:ext cx="0" cy="0"/>
          <a:chOff x="0" y="0"/>
          <a:chExt cx="0" cy="0"/>
        </a:xfrm>
      </p:grpSpPr>
      <p:sp>
        <p:nvSpPr>
          <p:cNvPr id="2" name="Shape 0"/>
          <p:cNvSpPr/>
          <p:nvPr/>
        </p:nvSpPr>
        <p:spPr>
          <a:xfrm>
            <a:off x="762000" y="635000"/>
            <a:ext cx="508000" cy="50800"/>
          </a:xfrm>
          <a:prstGeom prst="rect">
            <a:avLst/>
          </a:prstGeom>
          <a:solidFill>
            <a:srgbClr val="D35400"/>
          </a:solidFill>
          <a:ln/>
        </p:spPr>
      </p:sp>
      <p:sp>
        <p:nvSpPr>
          <p:cNvPr id="3" name="Text 1"/>
          <p:cNvSpPr/>
          <p:nvPr/>
        </p:nvSpPr>
        <p:spPr>
          <a:xfrm>
            <a:off x="762000" y="825500"/>
            <a:ext cx="2540000" cy="254000"/>
          </a:xfrm>
          <a:prstGeom prst="rect">
            <a:avLst/>
          </a:prstGeom>
          <a:noFill/>
          <a:ln/>
        </p:spPr>
        <p:txBody>
          <a:bodyPr wrap="none" lIns="0" tIns="0" rIns="0" bIns="0" rtlCol="0" anchor="ctr"/>
          <a:lstStyle/>
          <a:p>
            <a:pPr>
              <a:lnSpc>
                <a:spcPct val="120000"/>
              </a:lnSpc>
            </a:pPr>
            <a:r>
              <a:rPr lang="en-US" sz="1200" spc="200" kern="0" dirty="0">
                <a:solidFill>
                  <a:srgbClr val="D35400"/>
                </a:solidFill>
                <a:latin typeface="Liter" pitchFamily="34" charset="0"/>
                <a:ea typeface="Liter" pitchFamily="34" charset="-122"/>
                <a:cs typeface="Liter" pitchFamily="34" charset="-120"/>
              </a:rPr>
              <a:t>LA SOLUTION</a:t>
            </a:r>
            <a:endParaRPr lang="en-US" sz="1200" dirty="0"/>
          </a:p>
        </p:txBody>
      </p:sp>
      <p:sp>
        <p:nvSpPr>
          <p:cNvPr id="4" name="Text 2"/>
          <p:cNvSpPr/>
          <p:nvPr/>
        </p:nvSpPr>
        <p:spPr>
          <a:xfrm>
            <a:off x="762000" y="1206500"/>
            <a:ext cx="11430000" cy="571500"/>
          </a:xfrm>
          <a:prstGeom prst="rect">
            <a:avLst/>
          </a:prstGeom>
          <a:noFill/>
          <a:ln/>
        </p:spPr>
        <p:txBody>
          <a:bodyPr wrap="square" lIns="0" tIns="0" rIns="0" bIns="0" rtlCol="0" anchor="ctr"/>
          <a:lstStyle/>
          <a:p>
            <a:pPr>
              <a:lnSpc>
                <a:spcPct val="130000"/>
              </a:lnSpc>
            </a:pPr>
            <a:r>
              <a:rPr lang="en-US" sz="3000" dirty="0">
                <a:solidFill>
                  <a:srgbClr val="1A1A1A"/>
                </a:solidFill>
                <a:latin typeface="Liter" pitchFamily="34" charset="0"/>
                <a:ea typeface="Liter" pitchFamily="34" charset="-122"/>
                <a:cs typeface="Liter" pitchFamily="34" charset="-120"/>
              </a:rPr>
              <a:t>Travail agent augmente : Jean valide, ne saisit plus</a:t>
            </a:r>
            <a:endParaRPr lang="en-US" sz="3000" dirty="0"/>
          </a:p>
        </p:txBody>
      </p:sp>
      <p:sp>
        <p:nvSpPr>
          <p:cNvPr id="5" name="Shape 3"/>
          <p:cNvSpPr/>
          <p:nvPr/>
        </p:nvSpPr>
        <p:spPr>
          <a:xfrm>
            <a:off x="762000" y="2095500"/>
            <a:ext cx="7366000" cy="5969000"/>
          </a:xfrm>
          <a:prstGeom prst="rect">
            <a:avLst/>
          </a:prstGeom>
          <a:solidFill>
            <a:srgbClr val="FFFFFF"/>
          </a:solidFill>
          <a:ln w="12700">
            <a:solidFill>
              <a:srgbClr val="E0DCD8"/>
            </a:solidFill>
            <a:prstDash val="solid"/>
          </a:ln>
        </p:spPr>
      </p:sp>
      <p:sp>
        <p:nvSpPr>
          <p:cNvPr id="6" name="Shape 4"/>
          <p:cNvSpPr/>
          <p:nvPr/>
        </p:nvSpPr>
        <p:spPr>
          <a:xfrm>
            <a:off x="762000" y="2095500"/>
            <a:ext cx="7366000" cy="635000"/>
          </a:xfrm>
          <a:prstGeom prst="rect">
            <a:avLst/>
          </a:prstGeom>
          <a:solidFill>
            <a:srgbClr val="5D2E18"/>
          </a:solidFill>
          <a:ln/>
        </p:spPr>
      </p:sp>
      <p:sp>
        <p:nvSpPr>
          <p:cNvPr id="7" name="Shape 5"/>
          <p:cNvSpPr/>
          <p:nvPr/>
        </p:nvSpPr>
        <p:spPr>
          <a:xfrm>
            <a:off x="971550" y="2235200"/>
            <a:ext cx="444500" cy="355600"/>
          </a:xfrm>
          <a:custGeom>
            <a:avLst/>
            <a:gdLst/>
            <a:ahLst/>
            <a:cxnLst/>
            <a:rect l="l" t="t" r="r" b="b"/>
            <a:pathLst>
              <a:path w="444500" h="355600">
                <a:moveTo>
                  <a:pt x="94456" y="88900"/>
                </a:moveTo>
                <a:cubicBezTo>
                  <a:pt x="94456" y="42901"/>
                  <a:pt x="131801" y="5556"/>
                  <a:pt x="177800" y="5556"/>
                </a:cubicBezTo>
                <a:cubicBezTo>
                  <a:pt x="223799" y="5556"/>
                  <a:pt x="261144" y="42901"/>
                  <a:pt x="261144" y="88900"/>
                </a:cubicBezTo>
                <a:cubicBezTo>
                  <a:pt x="261144" y="134899"/>
                  <a:pt x="223799" y="172244"/>
                  <a:pt x="177800" y="172244"/>
                </a:cubicBezTo>
                <a:cubicBezTo>
                  <a:pt x="131801" y="172244"/>
                  <a:pt x="94456" y="134899"/>
                  <a:pt x="94456" y="88900"/>
                </a:cubicBezTo>
                <a:close/>
                <a:moveTo>
                  <a:pt x="33337" y="334972"/>
                </a:moveTo>
                <a:cubicBezTo>
                  <a:pt x="33337" y="266561"/>
                  <a:pt x="88761" y="211138"/>
                  <a:pt x="157172" y="211138"/>
                </a:cubicBezTo>
                <a:lnTo>
                  <a:pt x="198428" y="211138"/>
                </a:lnTo>
                <a:cubicBezTo>
                  <a:pt x="266839" y="211138"/>
                  <a:pt x="322263" y="266561"/>
                  <a:pt x="322263" y="334972"/>
                </a:cubicBezTo>
                <a:cubicBezTo>
                  <a:pt x="322263" y="346363"/>
                  <a:pt x="313025" y="355600"/>
                  <a:pt x="301635" y="355600"/>
                </a:cubicBezTo>
                <a:lnTo>
                  <a:pt x="53965" y="355600"/>
                </a:lnTo>
                <a:cubicBezTo>
                  <a:pt x="42575" y="355600"/>
                  <a:pt x="33337" y="346363"/>
                  <a:pt x="33337" y="334972"/>
                </a:cubicBezTo>
                <a:close/>
                <a:moveTo>
                  <a:pt x="425331" y="92164"/>
                </a:moveTo>
                <a:lnTo>
                  <a:pt x="369768" y="181064"/>
                </a:lnTo>
                <a:cubicBezTo>
                  <a:pt x="366851" y="185718"/>
                  <a:pt x="361851" y="188635"/>
                  <a:pt x="356364" y="188913"/>
                </a:cubicBezTo>
                <a:cubicBezTo>
                  <a:pt x="350877" y="189190"/>
                  <a:pt x="345599" y="186690"/>
                  <a:pt x="342334" y="182245"/>
                </a:cubicBezTo>
                <a:lnTo>
                  <a:pt x="308997" y="137795"/>
                </a:lnTo>
                <a:cubicBezTo>
                  <a:pt x="303441" y="130433"/>
                  <a:pt x="304969" y="120015"/>
                  <a:pt x="312331" y="114459"/>
                </a:cubicBezTo>
                <a:cubicBezTo>
                  <a:pt x="319693" y="108903"/>
                  <a:pt x="330111" y="110430"/>
                  <a:pt x="335667" y="117793"/>
                </a:cubicBezTo>
                <a:lnTo>
                  <a:pt x="354419" y="142796"/>
                </a:lnTo>
                <a:lnTo>
                  <a:pt x="397064" y="74523"/>
                </a:lnTo>
                <a:cubicBezTo>
                  <a:pt x="401925" y="66744"/>
                  <a:pt x="412204" y="64314"/>
                  <a:pt x="420053" y="69245"/>
                </a:cubicBezTo>
                <a:cubicBezTo>
                  <a:pt x="427901" y="74176"/>
                  <a:pt x="430262" y="84386"/>
                  <a:pt x="425331" y="92234"/>
                </a:cubicBezTo>
                <a:close/>
              </a:path>
            </a:pathLst>
          </a:custGeom>
          <a:solidFill>
            <a:srgbClr val="FFFFFF"/>
          </a:solidFill>
          <a:ln/>
        </p:spPr>
      </p:sp>
      <p:sp>
        <p:nvSpPr>
          <p:cNvPr id="8" name="Text 6"/>
          <p:cNvSpPr/>
          <p:nvPr/>
        </p:nvSpPr>
        <p:spPr>
          <a:xfrm>
            <a:off x="1498600" y="2235200"/>
            <a:ext cx="5080000" cy="355600"/>
          </a:xfrm>
          <a:prstGeom prst="rect">
            <a:avLst/>
          </a:prstGeom>
          <a:noFill/>
          <a:ln/>
        </p:spPr>
        <p:txBody>
          <a:bodyPr wrap="none" lIns="0" tIns="0" rIns="0" bIns="0" rtlCol="0" anchor="ctr"/>
          <a:lstStyle/>
          <a:p>
            <a:pPr>
              <a:lnSpc>
                <a:spcPct val="100000"/>
              </a:lnSpc>
            </a:pPr>
            <a:r>
              <a:rPr lang="en-US" sz="1800" dirty="0">
                <a:solidFill>
                  <a:srgbClr val="FFFFFF"/>
                </a:solidFill>
                <a:latin typeface="Liter" pitchFamily="34" charset="0"/>
                <a:ea typeface="Liter" pitchFamily="34" charset="-122"/>
                <a:cs typeface="Liter" pitchFamily="34" charset="-120"/>
              </a:rPr>
              <a:t>LE POSTE DE JEAN - AGENT KYC</a:t>
            </a:r>
            <a:endParaRPr lang="en-US" sz="1600" dirty="0"/>
          </a:p>
        </p:txBody>
      </p:sp>
      <p:sp>
        <p:nvSpPr>
          <p:cNvPr id="9" name="Text 7"/>
          <p:cNvSpPr/>
          <p:nvPr/>
        </p:nvSpPr>
        <p:spPr>
          <a:xfrm>
            <a:off x="1016000" y="2984500"/>
            <a:ext cx="6858000" cy="4826000"/>
          </a:xfrm>
          <a:prstGeom prst="rect">
            <a:avLst/>
          </a:prstGeom>
          <a:noFill/>
          <a:ln/>
        </p:spPr>
        <p:txBody>
          <a:bodyPr wrap="square" lIns="0" tIns="0" rIns="0" bIns="0" rtlCol="0" anchor="ctr"/>
          <a:lstStyle/>
          <a:p>
            <a:pPr>
              <a:lnSpc>
                <a:spcPct val="170000"/>
              </a:lnSpc>
            </a:pPr>
            <a:r>
              <a:rPr lang="en-US" sz="1500" b="1" dirty="0">
                <a:solidFill>
                  <a:srgbClr val="D35400"/>
                </a:solidFill>
                <a:latin typeface="Quattrocento Sans" pitchFamily="34" charset="0"/>
                <a:ea typeface="Quattrocento Sans" pitchFamily="34" charset="-122"/>
                <a:cs typeface="Quattrocento Sans" pitchFamily="34" charset="-120"/>
              </a:rPr>
              <a:t>1. File de dossiers priorises</a:t>
            </a:r>
            <a:endParaRPr lang="en-US" sz="1600" dirty="0"/>
          </a:p>
          <a:p>
            <a:pPr>
              <a:lnSpc>
                <a:spcPct val="170000"/>
              </a:lnSpc>
            </a:pPr>
            <a:r>
              <a:rPr lang="en-US" sz="1500" dirty="0">
                <a:solidFill>
                  <a:srgbClr val="1A1A1A"/>
                </a:solidFill>
                <a:latin typeface="Quattrocento Sans" pitchFamily="34" charset="0"/>
                <a:ea typeface="Quattrocento Sans" pitchFamily="34" charset="-122"/>
                <a:cs typeface="Quattrocento Sans" pitchFamily="34" charset="-120"/>
              </a:rPr>
              <a:t>Jean se connecte et voit sa queue avec scoring de priorite</a:t>
            </a:r>
            <a:endParaRPr lang="en-US" sz="1600" dirty="0"/>
          </a:p>
          <a:p>
            <a:pPr>
              <a:lnSpc>
                <a:spcPct val="170000"/>
              </a:lnSpc>
              <a:spcBef>
                <a:spcPts val="1000"/>
              </a:spcBef>
            </a:pPr>
            <a:r>
              <a:rPr lang="en-US" sz="1500" b="1" dirty="0">
                <a:solidFill>
                  <a:srgbClr val="D35400"/>
                </a:solidFill>
                <a:latin typeface="Quattrocento Sans" pitchFamily="34" charset="0"/>
                <a:ea typeface="Quattrocento Sans" pitchFamily="34" charset="-122"/>
                <a:cs typeface="Quattrocento Sans" pitchFamily="34" charset="-120"/>
              </a:rPr>
              <a:t>2. Inspection haute resolution</a:t>
            </a:r>
            <a:endParaRPr lang="en-US" sz="1600" dirty="0"/>
          </a:p>
          <a:p>
            <a:pPr>
              <a:lnSpc>
                <a:spcPct val="170000"/>
              </a:lnSpc>
            </a:pPr>
            <a:r>
              <a:rPr lang="en-US" sz="1500" dirty="0">
                <a:solidFill>
                  <a:srgbClr val="1A1A1A"/>
                </a:solidFill>
                <a:latin typeface="Quattrocento Sans" pitchFamily="34" charset="0"/>
                <a:ea typeface="Quattrocento Sans" pitchFamily="34" charset="-122"/>
                <a:cs typeface="Quattrocento Sans" pitchFamily="34" charset="-120"/>
              </a:rPr>
              <a:t>Comparaison side-by-side : CNI originale vs donnees OCR</a:t>
            </a:r>
            <a:endParaRPr lang="en-US" sz="1600" dirty="0"/>
          </a:p>
          <a:p>
            <a:pPr>
              <a:lnSpc>
                <a:spcPct val="170000"/>
              </a:lnSpc>
              <a:spcBef>
                <a:spcPts val="1000"/>
              </a:spcBef>
            </a:pPr>
            <a:r>
              <a:rPr lang="en-US" sz="1500" b="1" dirty="0">
                <a:solidFill>
                  <a:srgbClr val="D35400"/>
                </a:solidFill>
                <a:latin typeface="Quattrocento Sans" pitchFamily="34" charset="0"/>
                <a:ea typeface="Quattrocento Sans" pitchFamily="34" charset="-122"/>
                <a:cs typeface="Quattrocento Sans" pitchFamily="34" charset="-120"/>
              </a:rPr>
              <a:t>3. Biometrie avec override</a:t>
            </a:r>
            <a:endParaRPr lang="en-US" sz="1600" dirty="0"/>
          </a:p>
          <a:p>
            <a:pPr>
              <a:lnSpc>
                <a:spcPct val="170000"/>
              </a:lnSpc>
            </a:pPr>
            <a:r>
              <a:rPr lang="en-US" sz="1500" dirty="0">
                <a:solidFill>
                  <a:srgbClr val="1A1A1A"/>
                </a:solidFill>
                <a:latin typeface="Quattrocento Sans" pitchFamily="34" charset="0"/>
                <a:ea typeface="Quattrocento Sans" pitchFamily="34" charset="-122"/>
                <a:cs typeface="Quattrocento Sans" pitchFamily="34" charset="-120"/>
              </a:rPr>
              <a:t>Score de matching + flag de risque, justification obligatoire</a:t>
            </a:r>
            <a:endParaRPr lang="en-US" sz="1600" dirty="0"/>
          </a:p>
          <a:p>
            <a:pPr>
              <a:lnSpc>
                <a:spcPct val="170000"/>
              </a:lnSpc>
              <a:spcBef>
                <a:spcPts val="1000"/>
              </a:spcBef>
            </a:pPr>
            <a:r>
              <a:rPr lang="en-US" sz="1500" b="1" dirty="0">
                <a:solidFill>
                  <a:srgbClr val="D35400"/>
                </a:solidFill>
                <a:latin typeface="Quattrocento Sans" pitchFamily="34" charset="0"/>
                <a:ea typeface="Quattrocento Sans" pitchFamily="34" charset="-122"/>
                <a:cs typeface="Quattrocento Sans" pitchFamily="34" charset="-120"/>
              </a:rPr>
              <a:t>4. Decision structuree</a:t>
            </a:r>
            <a:endParaRPr lang="en-US" sz="1600" dirty="0"/>
          </a:p>
          <a:p>
            <a:pPr>
              <a:lnSpc>
                <a:spcPct val="170000"/>
              </a:lnSpc>
            </a:pPr>
            <a:r>
              <a:rPr lang="en-US" sz="1500" dirty="0">
                <a:solidFill>
                  <a:srgbClr val="1A1A1A"/>
                </a:solidFill>
                <a:latin typeface="Quattrocento Sans" pitchFamily="34" charset="0"/>
                <a:ea typeface="Quattrocento Sans" pitchFamily="34" charset="-122"/>
                <a:cs typeface="Quattrocento Sans" pitchFamily="34" charset="-120"/>
              </a:rPr>
              <a:t>Approuver / Rejeter (motif) / Demander info supplementaire</a:t>
            </a:r>
            <a:endParaRPr lang="en-US" sz="1600" dirty="0"/>
          </a:p>
          <a:p>
            <a:pPr>
              <a:lnSpc>
                <a:spcPct val="170000"/>
              </a:lnSpc>
              <a:spcBef>
                <a:spcPts val="1000"/>
              </a:spcBef>
            </a:pPr>
            <a:r>
              <a:rPr lang="en-US" sz="1500" b="1" dirty="0">
                <a:solidFill>
                  <a:srgbClr val="D35400"/>
                </a:solidFill>
                <a:latin typeface="Quattrocento Sans" pitchFamily="34" charset="0"/>
                <a:ea typeface="Quattrocento Sans" pitchFamily="34" charset="-122"/>
                <a:cs typeface="Quattrocento Sans" pitchFamily="34" charset="-120"/>
              </a:rPr>
              <a:t>5. Audit automatique</a:t>
            </a:r>
            <a:endParaRPr lang="en-US" sz="1600" dirty="0"/>
          </a:p>
          <a:p>
            <a:pPr>
              <a:lnSpc>
                <a:spcPct val="170000"/>
              </a:lnSpc>
            </a:pPr>
            <a:r>
              <a:rPr lang="en-US" sz="1500" dirty="0">
                <a:solidFill>
                  <a:srgbClr val="1A1A1A"/>
                </a:solidFill>
                <a:latin typeface="Quattrocento Sans" pitchFamily="34" charset="0"/>
                <a:ea typeface="Quattrocento Sans" pitchFamily="34" charset="-122"/>
                <a:cs typeface="Quattrocento Sans" pitchFamily="34" charset="-120"/>
              </a:rPr>
              <a:t>Chaque action = piste (qui, quoi, quand, IP)</a:t>
            </a:r>
            <a:endParaRPr lang="en-US" sz="1600" dirty="0"/>
          </a:p>
        </p:txBody>
      </p:sp>
      <p:sp>
        <p:nvSpPr>
          <p:cNvPr id="10" name="Shape 8"/>
          <p:cNvSpPr/>
          <p:nvPr/>
        </p:nvSpPr>
        <p:spPr>
          <a:xfrm>
            <a:off x="8509000" y="2095500"/>
            <a:ext cx="6985000" cy="1778000"/>
          </a:xfrm>
          <a:prstGeom prst="rect">
            <a:avLst/>
          </a:prstGeom>
          <a:solidFill>
            <a:srgbClr val="1E1E1E"/>
          </a:solidFill>
          <a:ln w="12700">
            <a:solidFill>
              <a:srgbClr val="333333"/>
            </a:solidFill>
            <a:prstDash val="solid"/>
          </a:ln>
        </p:spPr>
      </p:sp>
      <p:sp>
        <p:nvSpPr>
          <p:cNvPr id="11" name="Text 9"/>
          <p:cNvSpPr/>
          <p:nvPr/>
        </p:nvSpPr>
        <p:spPr>
          <a:xfrm>
            <a:off x="8826500" y="2286000"/>
            <a:ext cx="2540000" cy="279400"/>
          </a:xfrm>
          <a:prstGeom prst="rect">
            <a:avLst/>
          </a:prstGeom>
          <a:noFill/>
          <a:ln/>
        </p:spPr>
        <p:txBody>
          <a:bodyPr wrap="none" lIns="0" tIns="0" rIns="0" bIns="0" rtlCol="0" anchor="ctr"/>
          <a:lstStyle/>
          <a:p>
            <a:pPr>
              <a:lnSpc>
                <a:spcPct val="100000"/>
              </a:lnSpc>
            </a:pPr>
            <a:r>
              <a:rPr lang="en-US" sz="1400" spc="100" kern="0" dirty="0">
                <a:solidFill>
                  <a:srgbClr val="D35400"/>
                </a:solidFill>
                <a:latin typeface="Liter" pitchFamily="34" charset="0"/>
                <a:ea typeface="Liter" pitchFamily="34" charset="-122"/>
                <a:cs typeface="Liter" pitchFamily="34" charset="-120"/>
              </a:rPr>
              <a:t>SLA CIBLES</a:t>
            </a:r>
            <a:endParaRPr lang="en-US" sz="1600" dirty="0"/>
          </a:p>
        </p:txBody>
      </p:sp>
      <p:sp>
        <p:nvSpPr>
          <p:cNvPr id="12" name="Text 10"/>
          <p:cNvSpPr/>
          <p:nvPr/>
        </p:nvSpPr>
        <p:spPr>
          <a:xfrm>
            <a:off x="8826500" y="2667000"/>
            <a:ext cx="2794000" cy="635000"/>
          </a:xfrm>
          <a:prstGeom prst="rect">
            <a:avLst/>
          </a:prstGeom>
          <a:noFill/>
          <a:ln/>
        </p:spPr>
        <p:txBody>
          <a:bodyPr wrap="none" lIns="0" tIns="0" rIns="0" bIns="0" rtlCol="0" anchor="ctr"/>
          <a:lstStyle/>
          <a:p>
            <a:pPr>
              <a:lnSpc>
                <a:spcPct val="100000"/>
              </a:lnSpc>
            </a:pPr>
            <a:r>
              <a:rPr lang="en-US" sz="4000" dirty="0">
                <a:solidFill>
                  <a:srgbClr val="FFFFFF"/>
                </a:solidFill>
                <a:latin typeface="Liter" pitchFamily="34" charset="0"/>
                <a:ea typeface="Liter" pitchFamily="34" charset="-122"/>
                <a:cs typeface="Liter" pitchFamily="34" charset="-120"/>
              </a:rPr>
              <a:t>90%</a:t>
            </a:r>
            <a:endParaRPr lang="en-US" sz="1600" dirty="0"/>
          </a:p>
        </p:txBody>
      </p:sp>
      <p:sp>
        <p:nvSpPr>
          <p:cNvPr id="13" name="Text 11"/>
          <p:cNvSpPr/>
          <p:nvPr/>
        </p:nvSpPr>
        <p:spPr>
          <a:xfrm>
            <a:off x="8826500" y="3302000"/>
            <a:ext cx="2794000" cy="317500"/>
          </a:xfrm>
          <a:prstGeom prst="rect">
            <a:avLst/>
          </a:prstGeom>
          <a:noFill/>
          <a:ln/>
        </p:spPr>
        <p:txBody>
          <a:bodyPr wrap="none" lIns="0" tIns="0" rIns="0" bIns="0" rtlCol="0" anchor="ctr"/>
          <a:lstStyle/>
          <a:p>
            <a:pPr>
              <a:lnSpc>
                <a:spcPct val="100000"/>
              </a:lnSpc>
            </a:pPr>
            <a:r>
              <a:rPr lang="en-US" sz="1300" dirty="0">
                <a:solidFill>
                  <a:srgbClr val="8A8A8A"/>
                </a:solidFill>
                <a:latin typeface="Quattrocento Sans" pitchFamily="34" charset="0"/>
                <a:ea typeface="Quattrocento Sans" pitchFamily="34" charset="-122"/>
                <a:cs typeface="Quattrocento Sans" pitchFamily="34" charset="-120"/>
              </a:rPr>
              <a:t>validations sous 2h</a:t>
            </a:r>
            <a:endParaRPr lang="en-US" sz="1600" dirty="0"/>
          </a:p>
        </p:txBody>
      </p:sp>
      <p:sp>
        <p:nvSpPr>
          <p:cNvPr id="14" name="Text 12"/>
          <p:cNvSpPr/>
          <p:nvPr/>
        </p:nvSpPr>
        <p:spPr>
          <a:xfrm>
            <a:off x="11874500" y="2667000"/>
            <a:ext cx="2794000" cy="635000"/>
          </a:xfrm>
          <a:prstGeom prst="rect">
            <a:avLst/>
          </a:prstGeom>
          <a:noFill/>
          <a:ln/>
        </p:spPr>
        <p:txBody>
          <a:bodyPr wrap="none" lIns="0" tIns="0" rIns="0" bIns="0" rtlCol="0" anchor="ctr"/>
          <a:lstStyle/>
          <a:p>
            <a:pPr>
              <a:lnSpc>
                <a:spcPct val="100000"/>
              </a:lnSpc>
            </a:pPr>
            <a:r>
              <a:rPr lang="en-US" sz="4000" dirty="0">
                <a:solidFill>
                  <a:srgbClr val="FFFFFF"/>
                </a:solidFill>
                <a:latin typeface="Liter" pitchFamily="34" charset="0"/>
                <a:ea typeface="Liter" pitchFamily="34" charset="-122"/>
                <a:cs typeface="Liter" pitchFamily="34" charset="-120"/>
              </a:rPr>
              <a:t>98%</a:t>
            </a:r>
            <a:endParaRPr lang="en-US" sz="1600" dirty="0"/>
          </a:p>
        </p:txBody>
      </p:sp>
      <p:sp>
        <p:nvSpPr>
          <p:cNvPr id="15" name="Text 13"/>
          <p:cNvSpPr/>
          <p:nvPr/>
        </p:nvSpPr>
        <p:spPr>
          <a:xfrm>
            <a:off x="11874500" y="3302000"/>
            <a:ext cx="2794000" cy="317500"/>
          </a:xfrm>
          <a:prstGeom prst="rect">
            <a:avLst/>
          </a:prstGeom>
          <a:noFill/>
          <a:ln/>
        </p:spPr>
        <p:txBody>
          <a:bodyPr wrap="none" lIns="0" tIns="0" rIns="0" bIns="0" rtlCol="0" anchor="ctr"/>
          <a:lstStyle/>
          <a:p>
            <a:pPr>
              <a:lnSpc>
                <a:spcPct val="100000"/>
              </a:lnSpc>
            </a:pPr>
            <a:r>
              <a:rPr lang="en-US" sz="1300" dirty="0">
                <a:solidFill>
                  <a:srgbClr val="8A8A8A"/>
                </a:solidFill>
                <a:latin typeface="Quattrocento Sans" pitchFamily="34" charset="0"/>
                <a:ea typeface="Quattrocento Sans" pitchFamily="34" charset="-122"/>
                <a:cs typeface="Quattrocento Sans" pitchFamily="34" charset="-120"/>
              </a:rPr>
              <a:t>validations sous 4h</a:t>
            </a:r>
            <a:endParaRPr lang="en-US" sz="1600" dirty="0"/>
          </a:p>
        </p:txBody>
      </p:sp>
      <p:sp>
        <p:nvSpPr>
          <p:cNvPr id="16" name="Shape 14"/>
          <p:cNvSpPr/>
          <p:nvPr/>
        </p:nvSpPr>
        <p:spPr>
          <a:xfrm>
            <a:off x="8509000" y="4191000"/>
            <a:ext cx="6985000" cy="1778000"/>
          </a:xfrm>
          <a:prstGeom prst="rect">
            <a:avLst/>
          </a:prstGeom>
          <a:solidFill>
            <a:srgbClr val="D35400"/>
          </a:solidFill>
          <a:ln/>
        </p:spPr>
      </p:sp>
      <p:sp>
        <p:nvSpPr>
          <p:cNvPr id="17" name="Shape 15"/>
          <p:cNvSpPr/>
          <p:nvPr/>
        </p:nvSpPr>
        <p:spPr>
          <a:xfrm>
            <a:off x="8877300" y="4445000"/>
            <a:ext cx="304800" cy="406400"/>
          </a:xfrm>
          <a:custGeom>
            <a:avLst/>
            <a:gdLst/>
            <a:ahLst/>
            <a:cxnLst/>
            <a:rect l="l" t="t" r="r" b="b"/>
            <a:pathLst>
              <a:path w="304800" h="406400">
                <a:moveTo>
                  <a:pt x="232489" y="304800"/>
                </a:moveTo>
                <a:cubicBezTo>
                  <a:pt x="238284" y="287099"/>
                  <a:pt x="249872" y="271066"/>
                  <a:pt x="262969" y="257254"/>
                </a:cubicBezTo>
                <a:cubicBezTo>
                  <a:pt x="288925" y="229949"/>
                  <a:pt x="304800" y="193040"/>
                  <a:pt x="304800" y="152400"/>
                </a:cubicBezTo>
                <a:cubicBezTo>
                  <a:pt x="304800" y="68263"/>
                  <a:pt x="236537" y="0"/>
                  <a:pt x="152400" y="0"/>
                </a:cubicBezTo>
                <a:cubicBezTo>
                  <a:pt x="68262" y="0"/>
                  <a:pt x="0" y="68263"/>
                  <a:pt x="0" y="152400"/>
                </a:cubicBezTo>
                <a:cubicBezTo>
                  <a:pt x="0" y="193040"/>
                  <a:pt x="15875" y="229949"/>
                  <a:pt x="41831" y="257254"/>
                </a:cubicBezTo>
                <a:cubicBezTo>
                  <a:pt x="54928" y="271066"/>
                  <a:pt x="66596" y="287099"/>
                  <a:pt x="72311" y="304800"/>
                </a:cubicBezTo>
                <a:lnTo>
                  <a:pt x="232410" y="304800"/>
                </a:lnTo>
                <a:close/>
                <a:moveTo>
                  <a:pt x="228600" y="342900"/>
                </a:moveTo>
                <a:lnTo>
                  <a:pt x="76200" y="342900"/>
                </a:lnTo>
                <a:lnTo>
                  <a:pt x="76200" y="355600"/>
                </a:lnTo>
                <a:cubicBezTo>
                  <a:pt x="76200" y="390684"/>
                  <a:pt x="104616" y="419100"/>
                  <a:pt x="139700" y="419100"/>
                </a:cubicBezTo>
                <a:lnTo>
                  <a:pt x="165100" y="419100"/>
                </a:lnTo>
                <a:cubicBezTo>
                  <a:pt x="200184" y="419100"/>
                  <a:pt x="228600" y="390684"/>
                  <a:pt x="228600" y="355600"/>
                </a:cubicBezTo>
                <a:lnTo>
                  <a:pt x="228600" y="342900"/>
                </a:lnTo>
                <a:close/>
                <a:moveTo>
                  <a:pt x="146050" y="88900"/>
                </a:moveTo>
                <a:cubicBezTo>
                  <a:pt x="114459" y="88900"/>
                  <a:pt x="88900" y="114459"/>
                  <a:pt x="88900" y="146050"/>
                </a:cubicBezTo>
                <a:cubicBezTo>
                  <a:pt x="88900" y="156607"/>
                  <a:pt x="80407" y="165100"/>
                  <a:pt x="69850" y="165100"/>
                </a:cubicBezTo>
                <a:cubicBezTo>
                  <a:pt x="59293" y="165100"/>
                  <a:pt x="50800" y="156607"/>
                  <a:pt x="50800" y="146050"/>
                </a:cubicBezTo>
                <a:cubicBezTo>
                  <a:pt x="50800" y="93424"/>
                  <a:pt x="93424" y="50800"/>
                  <a:pt x="146050" y="50800"/>
                </a:cubicBezTo>
                <a:cubicBezTo>
                  <a:pt x="156607" y="50800"/>
                  <a:pt x="165100" y="59293"/>
                  <a:pt x="165100" y="69850"/>
                </a:cubicBezTo>
                <a:cubicBezTo>
                  <a:pt x="165100" y="80407"/>
                  <a:pt x="156607" y="88900"/>
                  <a:pt x="146050" y="88900"/>
                </a:cubicBezTo>
                <a:close/>
              </a:path>
            </a:pathLst>
          </a:custGeom>
          <a:solidFill>
            <a:srgbClr val="FFFFFF"/>
          </a:solidFill>
          <a:ln/>
        </p:spPr>
      </p:sp>
      <p:sp>
        <p:nvSpPr>
          <p:cNvPr id="18" name="Text 16"/>
          <p:cNvSpPr/>
          <p:nvPr/>
        </p:nvSpPr>
        <p:spPr>
          <a:xfrm>
            <a:off x="9398000" y="4381500"/>
            <a:ext cx="5778500" cy="1333500"/>
          </a:xfrm>
          <a:prstGeom prst="rect">
            <a:avLst/>
          </a:prstGeom>
          <a:noFill/>
          <a:ln/>
        </p:spPr>
        <p:txBody>
          <a:bodyPr wrap="square" lIns="0" tIns="0" rIns="0" bIns="0" rtlCol="0" anchor="ctr"/>
          <a:lstStyle/>
          <a:p>
            <a:pPr>
              <a:lnSpc>
                <a:spcPct val="150000"/>
              </a:lnSpc>
            </a:pPr>
            <a:r>
              <a:rPr lang="en-US" sz="1600" b="1" dirty="0">
                <a:solidFill>
                  <a:srgbClr val="FFFFFF"/>
                </a:solidFill>
                <a:latin typeface="Quattrocento Sans" pitchFamily="34" charset="0"/>
                <a:ea typeface="Quattrocento Sans" pitchFamily="34" charset="-122"/>
                <a:cs typeface="Quattrocento Sans" pitchFamily="34" charset="-120"/>
              </a:rPr>
              <a:t>Le role de Jean devient plus qualitatif.</a:t>
            </a:r>
            <a:endParaRPr lang="en-US" sz="1600" dirty="0"/>
          </a:p>
          <a:p>
            <a:pPr>
              <a:lnSpc>
                <a:spcPct val="150000"/>
              </a:lnSpc>
            </a:pPr>
            <a:r>
              <a:rPr lang="en-US" sz="1600" dirty="0">
                <a:solidFill>
                  <a:srgbClr val="FFFFFF"/>
                </a:solidFill>
                <a:latin typeface="Quattrocento Sans" pitchFamily="34" charset="0"/>
                <a:ea typeface="Quattrocento Sans" pitchFamily="34" charset="-122"/>
                <a:cs typeface="Quattrocento Sans" pitchFamily="34" charset="-120"/>
              </a:rPr>
              <a:t>Il ne saisit plus des donnees. Il valide des preuves, prend des decisions eclairees, et est protege par un audit complet.</a:t>
            </a:r>
            <a:endParaRPr lang="en-US" sz="1600" dirty="0"/>
          </a:p>
        </p:txBody>
      </p:sp>
      <p:sp>
        <p:nvSpPr>
          <p:cNvPr id="19" name="Shape 17"/>
          <p:cNvSpPr/>
          <p:nvPr/>
        </p:nvSpPr>
        <p:spPr>
          <a:xfrm>
            <a:off x="8509000" y="6286500"/>
            <a:ext cx="6985000" cy="1778000"/>
          </a:xfrm>
          <a:prstGeom prst="rect">
            <a:avLst/>
          </a:prstGeom>
          <a:solidFill>
            <a:srgbClr val="FFFFFF"/>
          </a:solidFill>
          <a:ln w="12700">
            <a:solidFill>
              <a:srgbClr val="E0DCD8"/>
            </a:solidFill>
            <a:prstDash val="solid"/>
          </a:ln>
        </p:spPr>
      </p:sp>
      <p:sp>
        <p:nvSpPr>
          <p:cNvPr id="20" name="Text 18"/>
          <p:cNvSpPr/>
          <p:nvPr/>
        </p:nvSpPr>
        <p:spPr>
          <a:xfrm>
            <a:off x="8826500" y="6477000"/>
            <a:ext cx="3810000" cy="279400"/>
          </a:xfrm>
          <a:prstGeom prst="rect">
            <a:avLst/>
          </a:prstGeom>
          <a:noFill/>
          <a:ln/>
        </p:spPr>
        <p:txBody>
          <a:bodyPr wrap="none" lIns="0" tIns="0" rIns="0" bIns="0" rtlCol="0" anchor="ctr"/>
          <a:lstStyle/>
          <a:p>
            <a:pPr>
              <a:lnSpc>
                <a:spcPct val="100000"/>
              </a:lnSpc>
            </a:pPr>
            <a:r>
              <a:rPr lang="en-US" sz="1400" spc="100" kern="0" dirty="0">
                <a:solidFill>
                  <a:srgbClr val="5D2E18"/>
                </a:solidFill>
                <a:latin typeface="Liter" pitchFamily="34" charset="0"/>
                <a:ea typeface="Liter" pitchFamily="34" charset="-122"/>
                <a:cs typeface="Liter" pitchFamily="34" charset="-120"/>
              </a:rPr>
              <a:t>ACTIONS POSSIBLES</a:t>
            </a:r>
            <a:endParaRPr lang="en-US" sz="1600" dirty="0"/>
          </a:p>
        </p:txBody>
      </p:sp>
      <p:sp>
        <p:nvSpPr>
          <p:cNvPr id="21" name="Shape 19"/>
          <p:cNvSpPr/>
          <p:nvPr/>
        </p:nvSpPr>
        <p:spPr>
          <a:xfrm>
            <a:off x="8826500" y="6921500"/>
            <a:ext cx="279400" cy="279400"/>
          </a:xfrm>
          <a:custGeom>
            <a:avLst/>
            <a:gdLst/>
            <a:ahLst/>
            <a:cxnLst/>
            <a:rect l="l" t="t" r="r" b="b"/>
            <a:pathLst>
              <a:path w="279400" h="279400">
                <a:moveTo>
                  <a:pt x="139700" y="279400"/>
                </a:moveTo>
                <a:cubicBezTo>
                  <a:pt x="216803" y="279400"/>
                  <a:pt x="279400" y="216803"/>
                  <a:pt x="279400" y="139700"/>
                </a:cubicBezTo>
                <a:cubicBezTo>
                  <a:pt x="279400" y="62597"/>
                  <a:pt x="216803" y="0"/>
                  <a:pt x="139700" y="0"/>
                </a:cubicBezTo>
                <a:cubicBezTo>
                  <a:pt x="62597" y="0"/>
                  <a:pt x="0" y="62597"/>
                  <a:pt x="0" y="139700"/>
                </a:cubicBezTo>
                <a:cubicBezTo>
                  <a:pt x="0" y="216803"/>
                  <a:pt x="62597" y="279400"/>
                  <a:pt x="139700" y="279400"/>
                </a:cubicBezTo>
                <a:close/>
                <a:moveTo>
                  <a:pt x="185757" y="116071"/>
                </a:moveTo>
                <a:lnTo>
                  <a:pt x="142101" y="185921"/>
                </a:lnTo>
                <a:cubicBezTo>
                  <a:pt x="139809" y="189577"/>
                  <a:pt x="135880" y="191869"/>
                  <a:pt x="131569" y="192088"/>
                </a:cubicBezTo>
                <a:cubicBezTo>
                  <a:pt x="127258" y="192306"/>
                  <a:pt x="123111" y="190341"/>
                  <a:pt x="120546" y="186849"/>
                </a:cubicBezTo>
                <a:lnTo>
                  <a:pt x="94352" y="151924"/>
                </a:lnTo>
                <a:cubicBezTo>
                  <a:pt x="89986" y="146139"/>
                  <a:pt x="91187" y="137954"/>
                  <a:pt x="96971" y="133588"/>
                </a:cubicBezTo>
                <a:cubicBezTo>
                  <a:pt x="102756" y="129223"/>
                  <a:pt x="110941" y="130423"/>
                  <a:pt x="115307" y="136208"/>
                </a:cubicBezTo>
                <a:lnTo>
                  <a:pt x="130041" y="155853"/>
                </a:lnTo>
                <a:lnTo>
                  <a:pt x="163547" y="102210"/>
                </a:lnTo>
                <a:cubicBezTo>
                  <a:pt x="167367" y="96098"/>
                  <a:pt x="175444" y="94188"/>
                  <a:pt x="181610" y="98063"/>
                </a:cubicBezTo>
                <a:cubicBezTo>
                  <a:pt x="187776" y="101937"/>
                  <a:pt x="189632" y="109959"/>
                  <a:pt x="185757" y="116126"/>
                </a:cubicBezTo>
                <a:close/>
              </a:path>
            </a:pathLst>
          </a:custGeom>
          <a:solidFill>
            <a:srgbClr val="27AE60"/>
          </a:solidFill>
          <a:ln/>
        </p:spPr>
      </p:sp>
      <p:sp>
        <p:nvSpPr>
          <p:cNvPr id="22" name="Text 20"/>
          <p:cNvSpPr/>
          <p:nvPr/>
        </p:nvSpPr>
        <p:spPr>
          <a:xfrm>
            <a:off x="9207500" y="6896100"/>
            <a:ext cx="1905000" cy="317500"/>
          </a:xfrm>
          <a:prstGeom prst="rect">
            <a:avLst/>
          </a:prstGeom>
          <a:noFill/>
          <a:ln/>
        </p:spPr>
        <p:txBody>
          <a:bodyPr wrap="none" lIns="0" tIns="0" rIns="0" bIns="0" rtlCol="0" anchor="ctr"/>
          <a:lstStyle/>
          <a:p>
            <a:pPr>
              <a:lnSpc>
                <a:spcPct val="100000"/>
              </a:lnSpc>
            </a:pPr>
            <a:r>
              <a:rPr lang="en-US" sz="1400" dirty="0">
                <a:solidFill>
                  <a:srgbClr val="1A1A1A"/>
                </a:solidFill>
                <a:latin typeface="Quattrocento Sans" pitchFamily="34" charset="0"/>
                <a:ea typeface="Quattrocento Sans" pitchFamily="34" charset="-122"/>
                <a:cs typeface="Quattrocento Sans" pitchFamily="34" charset="-120"/>
              </a:rPr>
              <a:t>Approuver</a:t>
            </a:r>
            <a:endParaRPr lang="en-US" sz="1600" dirty="0"/>
          </a:p>
        </p:txBody>
      </p:sp>
      <p:sp>
        <p:nvSpPr>
          <p:cNvPr id="23" name="Shape 21"/>
          <p:cNvSpPr/>
          <p:nvPr/>
        </p:nvSpPr>
        <p:spPr>
          <a:xfrm>
            <a:off x="8826500" y="7302500"/>
            <a:ext cx="279400" cy="279400"/>
          </a:xfrm>
          <a:custGeom>
            <a:avLst/>
            <a:gdLst/>
            <a:ahLst/>
            <a:cxnLst/>
            <a:rect l="l" t="t" r="r" b="b"/>
            <a:pathLst>
              <a:path w="279400" h="279400">
                <a:moveTo>
                  <a:pt x="139700" y="279400"/>
                </a:moveTo>
                <a:cubicBezTo>
                  <a:pt x="216803" y="279400"/>
                  <a:pt x="279400" y="216803"/>
                  <a:pt x="279400" y="139700"/>
                </a:cubicBezTo>
                <a:cubicBezTo>
                  <a:pt x="279400" y="62597"/>
                  <a:pt x="216803" y="0"/>
                  <a:pt x="139700" y="0"/>
                </a:cubicBezTo>
                <a:cubicBezTo>
                  <a:pt x="62597" y="0"/>
                  <a:pt x="0" y="62597"/>
                  <a:pt x="0" y="139700"/>
                </a:cubicBezTo>
                <a:cubicBezTo>
                  <a:pt x="0" y="216803"/>
                  <a:pt x="62597" y="279400"/>
                  <a:pt x="139700" y="279400"/>
                </a:cubicBezTo>
                <a:close/>
                <a:moveTo>
                  <a:pt x="91132" y="91132"/>
                </a:moveTo>
                <a:cubicBezTo>
                  <a:pt x="96262" y="86003"/>
                  <a:pt x="104557" y="86003"/>
                  <a:pt x="109632" y="91132"/>
                </a:cubicBezTo>
                <a:lnTo>
                  <a:pt x="139645" y="121146"/>
                </a:lnTo>
                <a:lnTo>
                  <a:pt x="169659" y="91132"/>
                </a:lnTo>
                <a:cubicBezTo>
                  <a:pt x="174789" y="86003"/>
                  <a:pt x="183083" y="86003"/>
                  <a:pt x="188158" y="91132"/>
                </a:cubicBezTo>
                <a:cubicBezTo>
                  <a:pt x="193233" y="96262"/>
                  <a:pt x="193288" y="104557"/>
                  <a:pt x="188158" y="109632"/>
                </a:cubicBezTo>
                <a:lnTo>
                  <a:pt x="158145" y="139645"/>
                </a:lnTo>
                <a:lnTo>
                  <a:pt x="188158" y="169659"/>
                </a:lnTo>
                <a:cubicBezTo>
                  <a:pt x="193288" y="174789"/>
                  <a:pt x="193288" y="183083"/>
                  <a:pt x="188158" y="188158"/>
                </a:cubicBezTo>
                <a:cubicBezTo>
                  <a:pt x="183029" y="193233"/>
                  <a:pt x="174734" y="193288"/>
                  <a:pt x="169659" y="188158"/>
                </a:cubicBezTo>
                <a:lnTo>
                  <a:pt x="139645" y="158145"/>
                </a:lnTo>
                <a:lnTo>
                  <a:pt x="109632" y="188158"/>
                </a:lnTo>
                <a:cubicBezTo>
                  <a:pt x="104502" y="193288"/>
                  <a:pt x="96207" y="193288"/>
                  <a:pt x="91132" y="188158"/>
                </a:cubicBezTo>
                <a:cubicBezTo>
                  <a:pt x="86057" y="183029"/>
                  <a:pt x="86003" y="174734"/>
                  <a:pt x="91132" y="169659"/>
                </a:cubicBezTo>
                <a:lnTo>
                  <a:pt x="121146" y="139645"/>
                </a:lnTo>
                <a:lnTo>
                  <a:pt x="91132" y="109632"/>
                </a:lnTo>
                <a:cubicBezTo>
                  <a:pt x="86003" y="104502"/>
                  <a:pt x="86003" y="96207"/>
                  <a:pt x="91132" y="91132"/>
                </a:cubicBezTo>
                <a:close/>
              </a:path>
            </a:pathLst>
          </a:custGeom>
          <a:solidFill>
            <a:srgbClr val="E74C3C"/>
          </a:solidFill>
          <a:ln/>
        </p:spPr>
      </p:sp>
      <p:sp>
        <p:nvSpPr>
          <p:cNvPr id="24" name="Text 22"/>
          <p:cNvSpPr/>
          <p:nvPr/>
        </p:nvSpPr>
        <p:spPr>
          <a:xfrm>
            <a:off x="9207500" y="7277100"/>
            <a:ext cx="1905000" cy="317500"/>
          </a:xfrm>
          <a:prstGeom prst="rect">
            <a:avLst/>
          </a:prstGeom>
          <a:noFill/>
          <a:ln/>
        </p:spPr>
        <p:txBody>
          <a:bodyPr wrap="none" lIns="0" tIns="0" rIns="0" bIns="0" rtlCol="0" anchor="ctr"/>
          <a:lstStyle/>
          <a:p>
            <a:pPr>
              <a:lnSpc>
                <a:spcPct val="100000"/>
              </a:lnSpc>
            </a:pPr>
            <a:r>
              <a:rPr lang="en-US" sz="1400" dirty="0">
                <a:solidFill>
                  <a:srgbClr val="1A1A1A"/>
                </a:solidFill>
                <a:latin typeface="Quattrocento Sans" pitchFamily="34" charset="0"/>
                <a:ea typeface="Quattrocento Sans" pitchFamily="34" charset="-122"/>
                <a:cs typeface="Quattrocento Sans" pitchFamily="34" charset="-120"/>
              </a:rPr>
              <a:t>Rejeter (motif)</a:t>
            </a:r>
            <a:endParaRPr lang="en-US" sz="1600" dirty="0"/>
          </a:p>
        </p:txBody>
      </p:sp>
      <p:sp>
        <p:nvSpPr>
          <p:cNvPr id="25" name="Shape 23"/>
          <p:cNvSpPr/>
          <p:nvPr/>
        </p:nvSpPr>
        <p:spPr>
          <a:xfrm>
            <a:off x="8826500" y="7683500"/>
            <a:ext cx="279400" cy="279400"/>
          </a:xfrm>
          <a:custGeom>
            <a:avLst/>
            <a:gdLst/>
            <a:ahLst/>
            <a:cxnLst/>
            <a:rect l="l" t="t" r="r" b="b"/>
            <a:pathLst>
              <a:path w="279400" h="279400">
                <a:moveTo>
                  <a:pt x="139700" y="279400"/>
                </a:moveTo>
                <a:cubicBezTo>
                  <a:pt x="216803" y="279400"/>
                  <a:pt x="279400" y="216803"/>
                  <a:pt x="279400" y="139700"/>
                </a:cubicBezTo>
                <a:cubicBezTo>
                  <a:pt x="279400" y="62597"/>
                  <a:pt x="216803" y="0"/>
                  <a:pt x="139700" y="0"/>
                </a:cubicBezTo>
                <a:cubicBezTo>
                  <a:pt x="62597" y="0"/>
                  <a:pt x="0" y="62597"/>
                  <a:pt x="0" y="139700"/>
                </a:cubicBezTo>
                <a:cubicBezTo>
                  <a:pt x="0" y="216803"/>
                  <a:pt x="62597" y="279400"/>
                  <a:pt x="139700" y="279400"/>
                </a:cubicBezTo>
                <a:close/>
                <a:moveTo>
                  <a:pt x="139700" y="96044"/>
                </a:moveTo>
                <a:cubicBezTo>
                  <a:pt x="130041" y="96044"/>
                  <a:pt x="122238" y="103847"/>
                  <a:pt x="122238" y="113506"/>
                </a:cubicBezTo>
                <a:cubicBezTo>
                  <a:pt x="122238" y="120764"/>
                  <a:pt x="116398" y="126603"/>
                  <a:pt x="109141" y="126603"/>
                </a:cubicBezTo>
                <a:cubicBezTo>
                  <a:pt x="101883" y="126603"/>
                  <a:pt x="96044" y="120764"/>
                  <a:pt x="96044" y="113506"/>
                </a:cubicBezTo>
                <a:cubicBezTo>
                  <a:pt x="96044" y="89386"/>
                  <a:pt x="115580" y="69850"/>
                  <a:pt x="139700" y="69850"/>
                </a:cubicBezTo>
                <a:cubicBezTo>
                  <a:pt x="163820" y="69850"/>
                  <a:pt x="183356" y="89386"/>
                  <a:pt x="183356" y="113506"/>
                </a:cubicBezTo>
                <a:cubicBezTo>
                  <a:pt x="183356" y="139263"/>
                  <a:pt x="163711" y="150178"/>
                  <a:pt x="152797" y="154161"/>
                </a:cubicBezTo>
                <a:lnTo>
                  <a:pt x="152797" y="156235"/>
                </a:lnTo>
                <a:cubicBezTo>
                  <a:pt x="152797" y="163493"/>
                  <a:pt x="146958" y="169332"/>
                  <a:pt x="139700" y="169332"/>
                </a:cubicBezTo>
                <a:cubicBezTo>
                  <a:pt x="132442" y="169332"/>
                  <a:pt x="126603" y="163493"/>
                  <a:pt x="126603" y="156235"/>
                </a:cubicBezTo>
                <a:lnTo>
                  <a:pt x="126603" y="151815"/>
                </a:lnTo>
                <a:cubicBezTo>
                  <a:pt x="126603" y="140628"/>
                  <a:pt x="134680" y="132606"/>
                  <a:pt x="143029" y="129877"/>
                </a:cubicBezTo>
                <a:cubicBezTo>
                  <a:pt x="146521" y="128731"/>
                  <a:pt x="150232" y="126876"/>
                  <a:pt x="152961" y="124257"/>
                </a:cubicBezTo>
                <a:cubicBezTo>
                  <a:pt x="155307" y="121965"/>
                  <a:pt x="157163" y="118800"/>
                  <a:pt x="157163" y="113561"/>
                </a:cubicBezTo>
                <a:cubicBezTo>
                  <a:pt x="157163" y="103902"/>
                  <a:pt x="149359" y="96098"/>
                  <a:pt x="139700" y="96098"/>
                </a:cubicBezTo>
                <a:close/>
                <a:moveTo>
                  <a:pt x="122238" y="200819"/>
                </a:moveTo>
                <a:cubicBezTo>
                  <a:pt x="122238" y="191181"/>
                  <a:pt x="130062" y="183356"/>
                  <a:pt x="139700" y="183356"/>
                </a:cubicBezTo>
                <a:cubicBezTo>
                  <a:pt x="149338" y="183356"/>
                  <a:pt x="157163" y="191181"/>
                  <a:pt x="157163" y="200819"/>
                </a:cubicBezTo>
                <a:cubicBezTo>
                  <a:pt x="157163" y="210457"/>
                  <a:pt x="149338" y="218281"/>
                  <a:pt x="139700" y="218281"/>
                </a:cubicBezTo>
                <a:cubicBezTo>
                  <a:pt x="130062" y="218281"/>
                  <a:pt x="122238" y="210457"/>
                  <a:pt x="122238" y="200819"/>
                </a:cubicBezTo>
                <a:close/>
              </a:path>
            </a:pathLst>
          </a:custGeom>
          <a:solidFill>
            <a:srgbClr val="F39C12"/>
          </a:solidFill>
          <a:ln/>
        </p:spPr>
      </p:sp>
      <p:sp>
        <p:nvSpPr>
          <p:cNvPr id="26" name="Text 24"/>
          <p:cNvSpPr/>
          <p:nvPr/>
        </p:nvSpPr>
        <p:spPr>
          <a:xfrm>
            <a:off x="9207500" y="7658100"/>
            <a:ext cx="2540000" cy="317500"/>
          </a:xfrm>
          <a:prstGeom prst="rect">
            <a:avLst/>
          </a:prstGeom>
          <a:noFill/>
          <a:ln/>
        </p:spPr>
        <p:txBody>
          <a:bodyPr wrap="none" lIns="0" tIns="0" rIns="0" bIns="0" rtlCol="0" anchor="ctr"/>
          <a:lstStyle/>
          <a:p>
            <a:pPr>
              <a:lnSpc>
                <a:spcPct val="100000"/>
              </a:lnSpc>
            </a:pPr>
            <a:r>
              <a:rPr lang="en-US" sz="1400" dirty="0">
                <a:solidFill>
                  <a:srgbClr val="1A1A1A"/>
                </a:solidFill>
                <a:latin typeface="Quattrocento Sans" pitchFamily="34" charset="0"/>
                <a:ea typeface="Quattrocento Sans" pitchFamily="34" charset="-122"/>
                <a:cs typeface="Quattrocento Sans" pitchFamily="34" charset="-120"/>
              </a:rPr>
              <a:t>Demander info</a:t>
            </a:r>
            <a:endParaRPr lang="en-US" sz="1600" dirty="0"/>
          </a:p>
        </p:txBody>
      </p:sp>
      <p:sp>
        <p:nvSpPr>
          <p:cNvPr id="27" name="Text 25"/>
          <p:cNvSpPr/>
          <p:nvPr/>
        </p:nvSpPr>
        <p:spPr>
          <a:xfrm>
            <a:off x="14986000" y="8636000"/>
            <a:ext cx="762000" cy="254000"/>
          </a:xfrm>
          <a:prstGeom prst="rect">
            <a:avLst/>
          </a:prstGeom>
          <a:noFill/>
          <a:ln/>
        </p:spPr>
        <p:txBody>
          <a:bodyPr wrap="none" lIns="0" tIns="0" rIns="0" bIns="0" rtlCol="0" anchor="ctr"/>
          <a:lstStyle/>
          <a:p>
            <a:pPr algn="r">
              <a:lnSpc>
                <a:spcPct val="140000"/>
              </a:lnSpc>
            </a:pPr>
            <a:r>
              <a:rPr lang="en-US" sz="1200" dirty="0">
                <a:solidFill>
                  <a:srgbClr val="8A8A8A"/>
                </a:solidFill>
                <a:latin typeface="QuattrocentoSans" pitchFamily="34" charset="0"/>
                <a:ea typeface="QuattrocentoSans" pitchFamily="34" charset="-122"/>
                <a:cs typeface="QuattrocentoSans" pitchFamily="34" charset="-120"/>
              </a:rPr>
              <a:t>09</a:t>
            </a:r>
            <a:endParaRPr lang="en-US" sz="1200" dirty="0"/>
          </a:p>
        </p:txBody>
      </p:sp>
    </p:spTree>
  </p:cSld>
  <p:clrMapOvr>
    <a:masterClrMapping/>
  </p:clrMapOvr>
  <p:transition>
    <p:fade/>
    <p:spd val="med"/>
  </p:transition>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https://kimi-img.moonshot.cn/pub/slides/okc/eqhpli636fwka/mnt/agents/output/veripass-presentation/images/2_5_000_Bank_Compliance_Stock_Photos.png">    </p:cNvPr>
          <p:cNvPicPr>
            <a:picLocks noChangeAspect="1"/>
          </p:cNvPicPr>
          <p:nvPr/>
        </p:nvPicPr>
        <p:blipFill>
          <a:blip r:embed="rId1"/>
          <a:srcRect l="0" r="0" t="7812" b="7812"/>
          <a:stretch/>
        </p:blipFill>
        <p:spPr>
          <a:xfrm>
            <a:off x="0" y="0"/>
            <a:ext cx="16256000" cy="9144000"/>
          </a:xfrm>
          <a:prstGeom prst="rect">
            <a:avLst/>
          </a:prstGeom>
        </p:spPr>
      </p:pic>
      <p:sp>
        <p:nvSpPr>
          <p:cNvPr id="3" name="Shape 0"/>
          <p:cNvSpPr/>
          <p:nvPr/>
        </p:nvSpPr>
        <p:spPr>
          <a:xfrm>
            <a:off x="0" y="0"/>
            <a:ext cx="16256000" cy="9144000"/>
          </a:xfrm>
          <a:prstGeom prst="rect">
            <a:avLst/>
          </a:prstGeom>
          <a:gradFill rotWithShape="1" flip="none">
            <a:gsLst>
              <a:gs pos="0">
                <a:srgbClr val="0F0F0F">
                  <a:alpha val="93000"/>
                </a:srgbClr>
              </a:gs>
              <a:gs pos="60000">
                <a:srgbClr val="0F0F0F">
                  <a:alpha val="87000"/>
                </a:srgbClr>
              </a:gs>
              <a:gs pos="100000">
                <a:srgbClr val="0F0F0F">
                  <a:alpha val="60000"/>
                </a:srgbClr>
              </a:gs>
            </a:gsLst>
            <a:lin ang="0" scaled="1"/>
          </a:gradFill>
          <a:ln w="12700">
            <a:solidFill>
              <a:srgbClr val="333333"/>
            </a:solidFill>
            <a:prstDash val="solid"/>
          </a:ln>
        </p:spPr>
      </p:sp>
      <p:sp>
        <p:nvSpPr>
          <p:cNvPr id="4" name="Text 1"/>
          <p:cNvSpPr/>
          <p:nvPr/>
        </p:nvSpPr>
        <p:spPr>
          <a:xfrm>
            <a:off x="762000" y="1524000"/>
            <a:ext cx="5080000" cy="2540000"/>
          </a:xfrm>
          <a:prstGeom prst="rect">
            <a:avLst/>
          </a:prstGeom>
          <a:noFill/>
          <a:ln/>
        </p:spPr>
        <p:txBody>
          <a:bodyPr wrap="none" lIns="0" tIns="0" rIns="0" bIns="0" rtlCol="0" anchor="ctr"/>
          <a:lstStyle/>
          <a:p>
            <a:pPr>
              <a:lnSpc>
                <a:spcPct val="100000"/>
              </a:lnSpc>
            </a:pPr>
            <a:r>
              <a:rPr lang="en-US" sz="18000" dirty="0">
                <a:solidFill>
                  <a:srgbClr val="D35400">
                    <a:alpha val="9412"/>
                  </a:srgbClr>
                </a:solidFill>
                <a:latin typeface="Liter" pitchFamily="34" charset="0"/>
                <a:ea typeface="Liter" pitchFamily="34" charset="-122"/>
                <a:cs typeface="Liter" pitchFamily="34" charset="-120"/>
              </a:rPr>
              <a:t>03</a:t>
            </a:r>
            <a:endParaRPr lang="en-US" sz="1600" dirty="0"/>
          </a:p>
        </p:txBody>
      </p:sp>
      <p:sp>
        <p:nvSpPr>
          <p:cNvPr id="5" name="Text 2"/>
          <p:cNvSpPr/>
          <p:nvPr/>
        </p:nvSpPr>
        <p:spPr>
          <a:xfrm>
            <a:off x="762000" y="3048000"/>
            <a:ext cx="1524000" cy="381000"/>
          </a:xfrm>
          <a:prstGeom prst="rect">
            <a:avLst/>
          </a:prstGeom>
          <a:noFill/>
          <a:ln/>
        </p:spPr>
        <p:txBody>
          <a:bodyPr wrap="none" lIns="0" tIns="0" rIns="0" bIns="0" rtlCol="0" anchor="ctr"/>
          <a:lstStyle/>
          <a:p>
            <a:pPr>
              <a:lnSpc>
                <a:spcPct val="120000"/>
              </a:lnSpc>
            </a:pPr>
            <a:r>
              <a:rPr lang="en-US" sz="1200" spc="200" kern="0" dirty="0">
                <a:solidFill>
                  <a:srgbClr val="D35400"/>
                </a:solidFill>
                <a:latin typeface="Liter" pitchFamily="34" charset="0"/>
                <a:ea typeface="Liter" pitchFamily="34" charset="-122"/>
                <a:cs typeface="Liter" pitchFamily="34" charset="-120"/>
              </a:rPr>
              <a:t>CHAPITRE 03</a:t>
            </a:r>
            <a:endParaRPr lang="en-US" sz="1200" dirty="0"/>
          </a:p>
        </p:txBody>
      </p:sp>
      <p:sp>
        <p:nvSpPr>
          <p:cNvPr id="6" name="Shape 3"/>
          <p:cNvSpPr/>
          <p:nvPr/>
        </p:nvSpPr>
        <p:spPr>
          <a:xfrm>
            <a:off x="762000" y="3556000"/>
            <a:ext cx="762000" cy="50800"/>
          </a:xfrm>
          <a:prstGeom prst="rect">
            <a:avLst/>
          </a:prstGeom>
          <a:solidFill>
            <a:srgbClr val="D35400"/>
          </a:solidFill>
          <a:ln/>
        </p:spPr>
      </p:sp>
      <p:sp>
        <p:nvSpPr>
          <p:cNvPr id="7" name="Text 4"/>
          <p:cNvSpPr/>
          <p:nvPr/>
        </p:nvSpPr>
        <p:spPr>
          <a:xfrm>
            <a:off x="762000" y="3810000"/>
            <a:ext cx="7620000" cy="762000"/>
          </a:xfrm>
          <a:prstGeom prst="rect">
            <a:avLst/>
          </a:prstGeom>
          <a:noFill/>
          <a:ln/>
        </p:spPr>
        <p:txBody>
          <a:bodyPr wrap="none" lIns="0" tIns="0" rIns="0" bIns="0" rtlCol="0" anchor="ctr"/>
          <a:lstStyle/>
          <a:p>
            <a:pPr>
              <a:lnSpc>
                <a:spcPct val="120000"/>
              </a:lnSpc>
            </a:pPr>
            <a:r>
              <a:rPr lang="en-US" sz="4400" spc="300" kern="0" dirty="0">
                <a:solidFill>
                  <a:srgbClr val="FFFFFF"/>
                </a:solidFill>
                <a:latin typeface="Liter" pitchFamily="34" charset="0"/>
                <a:ea typeface="Liter" pitchFamily="34" charset="-122"/>
                <a:cs typeface="Liter" pitchFamily="34" charset="-120"/>
              </a:rPr>
              <a:t>LA PREUVE</a:t>
            </a:r>
            <a:endParaRPr lang="en-US" sz="4800" dirty="0"/>
          </a:p>
        </p:txBody>
      </p:sp>
      <p:sp>
        <p:nvSpPr>
          <p:cNvPr id="8" name="Text 5"/>
          <p:cNvSpPr/>
          <p:nvPr/>
        </p:nvSpPr>
        <p:spPr>
          <a:xfrm>
            <a:off x="762000" y="4826000"/>
            <a:ext cx="8255000" cy="1524000"/>
          </a:xfrm>
          <a:prstGeom prst="rect">
            <a:avLst/>
          </a:prstGeom>
          <a:noFill/>
          <a:ln/>
        </p:spPr>
        <p:txBody>
          <a:bodyPr wrap="square" lIns="0" tIns="0" rIns="0" bIns="0" rtlCol="0" anchor="ctr"/>
          <a:lstStyle/>
          <a:p>
            <a:pPr>
              <a:lnSpc>
                <a:spcPct val="160000"/>
              </a:lnSpc>
            </a:pPr>
            <a:r>
              <a:rPr lang="en-US" sz="2000" dirty="0">
                <a:solidFill>
                  <a:srgbClr val="FFFFFF">
                    <a:alpha val="73333"/>
                  </a:srgbClr>
                </a:solidFill>
                <a:latin typeface="Quattrocento Sans" pitchFamily="34" charset="0"/>
                <a:ea typeface="Quattrocento Sans" pitchFamily="34" charset="-122"/>
                <a:cs typeface="Quattrocento Sans" pitchFamily="34" charset="-120"/>
              </a:rPr>
              <a:t>La vitesse n'a pas le droit de contourner le risque. VeriPass bloque les approbations risquees et garde les preuves. Chaque action devient une preuve.</a:t>
            </a:r>
            <a:endParaRPr lang="en-US" sz="1600" dirty="0"/>
          </a:p>
        </p:txBody>
      </p:sp>
      <p:sp>
        <p:nvSpPr>
          <p:cNvPr id="9" name="Shape 6"/>
          <p:cNvSpPr/>
          <p:nvPr/>
        </p:nvSpPr>
        <p:spPr>
          <a:xfrm>
            <a:off x="0" y="8890000"/>
            <a:ext cx="16256000" cy="254000"/>
          </a:xfrm>
          <a:prstGeom prst="rect">
            <a:avLst/>
          </a:prstGeom>
          <a:solidFill>
            <a:srgbClr val="D35400"/>
          </a:solidFill>
          <a:ln/>
        </p:spPr>
      </p:sp>
    </p:spTree>
  </p:cSld>
  <p:clrMapOvr>
    <a:masterClrMapping/>
  </p:clrMapOvr>
  <p:transition>
    <p:fade/>
    <p:spd val="med"/>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0EB"/>
        </a:solidFill>
      </p:bgPr>
    </p:bg>
    <p:spTree>
      <p:nvGrpSpPr>
        <p:cNvPr id="1" name=""/>
        <p:cNvGrpSpPr/>
        <p:nvPr/>
      </p:nvGrpSpPr>
      <p:grpSpPr>
        <a:xfrm>
          <a:off x="0" y="0"/>
          <a:ext cx="0" cy="0"/>
          <a:chOff x="0" y="0"/>
          <a:chExt cx="0" cy="0"/>
        </a:xfrm>
      </p:grpSpPr>
      <p:sp>
        <p:nvSpPr>
          <p:cNvPr id="2" name="Shape 0"/>
          <p:cNvSpPr/>
          <p:nvPr/>
        </p:nvSpPr>
        <p:spPr>
          <a:xfrm>
            <a:off x="762000" y="635000"/>
            <a:ext cx="508000" cy="50800"/>
          </a:xfrm>
          <a:prstGeom prst="rect">
            <a:avLst/>
          </a:prstGeom>
          <a:solidFill>
            <a:srgbClr val="D35400"/>
          </a:solidFill>
          <a:ln/>
        </p:spPr>
      </p:sp>
      <p:sp>
        <p:nvSpPr>
          <p:cNvPr id="3" name="Text 1"/>
          <p:cNvSpPr/>
          <p:nvPr/>
        </p:nvSpPr>
        <p:spPr>
          <a:xfrm>
            <a:off x="762000" y="825500"/>
            <a:ext cx="2540000" cy="254000"/>
          </a:xfrm>
          <a:prstGeom prst="rect">
            <a:avLst/>
          </a:prstGeom>
          <a:noFill/>
          <a:ln/>
        </p:spPr>
        <p:txBody>
          <a:bodyPr wrap="none" lIns="0" tIns="0" rIns="0" bIns="0" rtlCol="0" anchor="ctr"/>
          <a:lstStyle/>
          <a:p>
            <a:pPr>
              <a:lnSpc>
                <a:spcPct val="120000"/>
              </a:lnSpc>
            </a:pPr>
            <a:r>
              <a:rPr lang="en-US" sz="1200" spc="200" kern="0" dirty="0">
                <a:solidFill>
                  <a:srgbClr val="D35400"/>
                </a:solidFill>
                <a:latin typeface="Liter" pitchFamily="34" charset="0"/>
                <a:ea typeface="Liter" pitchFamily="34" charset="-122"/>
                <a:cs typeface="Liter" pitchFamily="34" charset="-120"/>
              </a:rPr>
              <a:t>LA PREUVE</a:t>
            </a:r>
            <a:endParaRPr lang="en-US" sz="1200" dirty="0"/>
          </a:p>
        </p:txBody>
      </p:sp>
      <p:sp>
        <p:nvSpPr>
          <p:cNvPr id="4" name="Text 2"/>
          <p:cNvSpPr/>
          <p:nvPr/>
        </p:nvSpPr>
        <p:spPr>
          <a:xfrm>
            <a:off x="762000" y="1206500"/>
            <a:ext cx="11430000" cy="571500"/>
          </a:xfrm>
          <a:prstGeom prst="rect">
            <a:avLst/>
          </a:prstGeom>
          <a:noFill/>
          <a:ln/>
        </p:spPr>
        <p:txBody>
          <a:bodyPr wrap="square" lIns="0" tIns="0" rIns="0" bIns="0" rtlCol="0" anchor="ctr"/>
          <a:lstStyle/>
          <a:p>
            <a:pPr>
              <a:lnSpc>
                <a:spcPct val="130000"/>
              </a:lnSpc>
            </a:pPr>
            <a:r>
              <a:rPr lang="en-US" sz="3000" dirty="0">
                <a:solidFill>
                  <a:srgbClr val="1A1A1A"/>
                </a:solidFill>
                <a:latin typeface="Liter" pitchFamily="34" charset="0"/>
                <a:ea typeface="Liter" pitchFamily="34" charset="-122"/>
                <a:cs typeface="Liter" pitchFamily="34" charset="-120"/>
              </a:rPr>
              <a:t>Controle conformite : l'alerte AML bloque l'approbation</a:t>
            </a:r>
            <a:endParaRPr lang="en-US" sz="3000" dirty="0"/>
          </a:p>
        </p:txBody>
      </p:sp>
      <p:sp>
        <p:nvSpPr>
          <p:cNvPr id="5" name="Shape 3"/>
          <p:cNvSpPr/>
          <p:nvPr/>
        </p:nvSpPr>
        <p:spPr>
          <a:xfrm>
            <a:off x="762000" y="2032000"/>
            <a:ext cx="14732000" cy="635000"/>
          </a:xfrm>
          <a:prstGeom prst="rect">
            <a:avLst/>
          </a:prstGeom>
          <a:solidFill>
            <a:srgbClr val="5D2E18"/>
          </a:solidFill>
          <a:ln/>
        </p:spPr>
      </p:sp>
      <p:sp>
        <p:nvSpPr>
          <p:cNvPr id="6" name="Text 4"/>
          <p:cNvSpPr/>
          <p:nvPr/>
        </p:nvSpPr>
        <p:spPr>
          <a:xfrm>
            <a:off x="1016000" y="2159000"/>
            <a:ext cx="14224000" cy="381000"/>
          </a:xfrm>
          <a:prstGeom prst="rect">
            <a:avLst/>
          </a:prstGeom>
          <a:noFill/>
          <a:ln/>
        </p:spPr>
        <p:txBody>
          <a:bodyPr wrap="square" lIns="0" tIns="0" rIns="0" bIns="0" rtlCol="0" anchor="ctr"/>
          <a:lstStyle/>
          <a:p>
            <a:pPr algn="ctr">
              <a:lnSpc>
                <a:spcPct val="100000"/>
              </a:lnSpc>
            </a:pPr>
            <a:r>
              <a:rPr lang="en-US" sz="1600" b="1" dirty="0">
                <a:solidFill>
                  <a:srgbClr val="FFFFFF"/>
                </a:solidFill>
                <a:latin typeface="Quattrocento Sans" pitchFamily="34" charset="0"/>
                <a:ea typeface="Quattrocento Sans" pitchFamily="34" charset="-122"/>
                <a:cs typeface="Quattrocento Sans" pitchFamily="34" charset="-120"/>
              </a:rPr>
              <a:t>PRINCIPE :</a:t>
            </a:r>
            <a:pPr algn="ctr">
              <a:lnSpc>
                <a:spcPct val="100000"/>
              </a:lnSpc>
            </a:pPr>
            <a:r>
              <a:rPr lang="en-US" sz="1600" dirty="0">
                <a:solidFill>
                  <a:srgbClr val="FFFFFF"/>
                </a:solidFill>
                <a:latin typeface="Quattrocento Sans" pitchFamily="34" charset="0"/>
                <a:ea typeface="Quattrocento Sans" pitchFamily="34" charset="-122"/>
                <a:cs typeface="Quattrocento Sans" pitchFamily="34" charset="-120"/>
              </a:rPr>
              <a:t> Aucune approbation automatique sans validation humaine | Conforme COBAC R-2023/01</a:t>
            </a:r>
            <a:endParaRPr lang="en-US" sz="1600" dirty="0"/>
          </a:p>
        </p:txBody>
      </p:sp>
      <p:sp>
        <p:nvSpPr>
          <p:cNvPr id="7" name="Shape 5"/>
          <p:cNvSpPr/>
          <p:nvPr/>
        </p:nvSpPr>
        <p:spPr>
          <a:xfrm>
            <a:off x="762000" y="2984500"/>
            <a:ext cx="7048500" cy="5080000"/>
          </a:xfrm>
          <a:prstGeom prst="rect">
            <a:avLst/>
          </a:prstGeom>
          <a:solidFill>
            <a:srgbClr val="FFFFFF"/>
          </a:solidFill>
          <a:ln w="12700">
            <a:solidFill>
              <a:srgbClr val="E0DCD8"/>
            </a:solidFill>
            <a:prstDash val="solid"/>
          </a:ln>
        </p:spPr>
      </p:sp>
      <p:sp>
        <p:nvSpPr>
          <p:cNvPr id="8" name="Text 6"/>
          <p:cNvSpPr/>
          <p:nvPr/>
        </p:nvSpPr>
        <p:spPr>
          <a:xfrm>
            <a:off x="1016000" y="3175000"/>
            <a:ext cx="3810000" cy="355600"/>
          </a:xfrm>
          <a:prstGeom prst="rect">
            <a:avLst/>
          </a:prstGeom>
          <a:noFill/>
          <a:ln/>
        </p:spPr>
        <p:txBody>
          <a:bodyPr wrap="none" lIns="0" tIns="0" rIns="0" bIns="0" rtlCol="0" anchor="ctr"/>
          <a:lstStyle/>
          <a:p>
            <a:pPr>
              <a:lnSpc>
                <a:spcPct val="100000"/>
              </a:lnSpc>
            </a:pPr>
            <a:r>
              <a:rPr lang="en-US" sz="1800" dirty="0">
                <a:solidFill>
                  <a:srgbClr val="5D2E18"/>
                </a:solidFill>
                <a:latin typeface="Liter" pitchFamily="34" charset="0"/>
                <a:ea typeface="Liter" pitchFamily="34" charset="-122"/>
                <a:cs typeface="Liter" pitchFamily="34" charset="-120"/>
              </a:rPr>
              <a:t>LE ROLE DE THOMAS</a:t>
            </a:r>
            <a:endParaRPr lang="en-US" sz="1600" dirty="0"/>
          </a:p>
        </p:txBody>
      </p:sp>
      <p:sp>
        <p:nvSpPr>
          <p:cNvPr id="9" name="Shape 7"/>
          <p:cNvSpPr/>
          <p:nvPr/>
        </p:nvSpPr>
        <p:spPr>
          <a:xfrm>
            <a:off x="1016000" y="3594100"/>
            <a:ext cx="6540500" cy="12700"/>
          </a:xfrm>
          <a:prstGeom prst="rect">
            <a:avLst/>
          </a:prstGeom>
          <a:solidFill>
            <a:srgbClr val="E0DCD8"/>
          </a:solidFill>
          <a:ln/>
        </p:spPr>
      </p:sp>
      <p:sp>
        <p:nvSpPr>
          <p:cNvPr id="10" name="Text 8"/>
          <p:cNvSpPr/>
          <p:nvPr/>
        </p:nvSpPr>
        <p:spPr>
          <a:xfrm>
            <a:off x="1016000" y="3784600"/>
            <a:ext cx="6540500" cy="4064000"/>
          </a:xfrm>
          <a:prstGeom prst="rect">
            <a:avLst/>
          </a:prstGeom>
          <a:noFill/>
          <a:ln/>
        </p:spPr>
        <p:txBody>
          <a:bodyPr wrap="square" lIns="0" tIns="0" rIns="0" bIns="0" rtlCol="0" anchor="ctr"/>
          <a:lstStyle/>
          <a:p>
            <a:pPr>
              <a:lnSpc>
                <a:spcPct val="170000"/>
              </a:lnSpc>
            </a:pPr>
            <a:r>
              <a:rPr lang="en-US" sz="1500" b="1" dirty="0">
                <a:solidFill>
                  <a:srgbClr val="D35400"/>
                </a:solidFill>
                <a:latin typeface="Quattrocento Sans" pitchFamily="34" charset="0"/>
                <a:ea typeface="Quattrocento Sans" pitchFamily="34" charset="-122"/>
                <a:cs typeface="Quattrocento Sans" pitchFamily="34" charset="-120"/>
              </a:rPr>
              <a:t>Screening PEP/Sanctions</a:t>
            </a:r>
            <a:endParaRPr lang="en-US" sz="1600" dirty="0"/>
          </a:p>
          <a:p>
            <a:pPr>
              <a:lnSpc>
                <a:spcPct val="170000"/>
              </a:lnSpc>
            </a:pPr>
            <a:r>
              <a:rPr lang="en-US" sz="1500" dirty="0">
                <a:solidFill>
                  <a:srgbClr val="1A1A1A"/>
                </a:solidFill>
                <a:latin typeface="Quattrocento Sans" pitchFamily="34" charset="0"/>
                <a:ea typeface="Quattrocento Sans" pitchFamily="34" charset="-122"/>
                <a:cs typeface="Quattrocento Sans" pitchFamily="34" charset="-120"/>
              </a:rPr>
              <a:t>Side-by-side : profil client vs entree liste sanctions</a:t>
            </a:r>
            <a:endParaRPr lang="en-US" sz="1600" dirty="0"/>
          </a:p>
          <a:p>
            <a:pPr>
              <a:lnSpc>
                <a:spcPct val="170000"/>
              </a:lnSpc>
              <a:spcBef>
                <a:spcPts val="1000"/>
              </a:spcBef>
            </a:pPr>
            <a:r>
              <a:rPr lang="en-US" sz="1500" b="1" dirty="0">
                <a:solidFill>
                  <a:srgbClr val="D35400"/>
                </a:solidFill>
                <a:latin typeface="Quattrocento Sans" pitchFamily="34" charset="0"/>
                <a:ea typeface="Quattrocento Sans" pitchFamily="34" charset="-122"/>
                <a:cs typeface="Quattrocento Sans" pitchFamily="34" charset="-120"/>
              </a:rPr>
              <a:t>Gestion des alertes</a:t>
            </a:r>
            <a:endParaRPr lang="en-US" sz="1600" dirty="0"/>
          </a:p>
          <a:p>
            <a:pPr>
              <a:lnSpc>
                <a:spcPct val="170000"/>
              </a:lnSpc>
            </a:pPr>
            <a:r>
              <a:rPr lang="en-US" sz="1500" dirty="0">
                <a:solidFill>
                  <a:srgbClr val="1A1A1A"/>
                </a:solidFill>
                <a:latin typeface="Quattrocento Sans" pitchFamily="34" charset="0"/>
                <a:ea typeface="Quattrocento Sans" pitchFamily="34" charset="-122"/>
                <a:cs typeface="Quattrocento Sans" pitchFamily="34" charset="-120"/>
              </a:rPr>
              <a:t>Effacer faux positif (justification obligatoire) ou confirmer match</a:t>
            </a:r>
            <a:endParaRPr lang="en-US" sz="1600" dirty="0"/>
          </a:p>
          <a:p>
            <a:pPr>
              <a:lnSpc>
                <a:spcPct val="170000"/>
              </a:lnSpc>
              <a:spcBef>
                <a:spcPts val="1000"/>
              </a:spcBef>
            </a:pPr>
            <a:r>
              <a:rPr lang="en-US" sz="1500" b="1" dirty="0">
                <a:solidFill>
                  <a:srgbClr val="D35400"/>
                </a:solidFill>
                <a:latin typeface="Quattrocento Sans" pitchFamily="34" charset="0"/>
                <a:ea typeface="Quattrocento Sans" pitchFamily="34" charset="-122"/>
                <a:cs typeface="Quattrocento Sans" pitchFamily="34" charset="-120"/>
              </a:rPr>
              <a:t>Blocage integre</a:t>
            </a:r>
            <a:endParaRPr lang="en-US" sz="1600" dirty="0"/>
          </a:p>
          <a:p>
            <a:pPr>
              <a:lnSpc>
                <a:spcPct val="170000"/>
              </a:lnSpc>
            </a:pPr>
            <a:r>
              <a:rPr lang="en-US" sz="1500" dirty="0">
                <a:solidFill>
                  <a:srgbClr val="1A1A1A"/>
                </a:solidFill>
                <a:latin typeface="Quattrocento Sans" pitchFamily="34" charset="0"/>
                <a:ea typeface="Quattrocento Sans" pitchFamily="34" charset="-122"/>
                <a:cs typeface="Quattrocento Sans" pitchFamily="34" charset="-120"/>
              </a:rPr>
              <a:t>Meme si Jean veut approuver, une alerte AML ouverte BLOQUE la decision</a:t>
            </a:r>
            <a:endParaRPr lang="en-US" sz="1600" dirty="0"/>
          </a:p>
          <a:p>
            <a:pPr>
              <a:lnSpc>
                <a:spcPct val="170000"/>
              </a:lnSpc>
              <a:spcBef>
                <a:spcPts val="1000"/>
              </a:spcBef>
            </a:pPr>
            <a:r>
              <a:rPr lang="en-US" sz="1500" b="1" dirty="0">
                <a:solidFill>
                  <a:srgbClr val="D35400"/>
                </a:solidFill>
                <a:latin typeface="Quattrocento Sans" pitchFamily="34" charset="0"/>
                <a:ea typeface="Quattrocento Sans" pitchFamily="34" charset="-122"/>
                <a:cs typeface="Quattrocento Sans" pitchFamily="34" charset="-120"/>
              </a:rPr>
              <a:t>Override justifie</a:t>
            </a:r>
            <a:endParaRPr lang="en-US" sz="1600" dirty="0"/>
          </a:p>
          <a:p>
            <a:pPr>
              <a:lnSpc>
                <a:spcPct val="170000"/>
              </a:lnSpc>
            </a:pPr>
            <a:r>
              <a:rPr lang="en-US" sz="1500" dirty="0">
                <a:solidFill>
                  <a:srgbClr val="1A1A1A"/>
                </a:solidFill>
                <a:latin typeface="Quattrocento Sans" pitchFamily="34" charset="0"/>
                <a:ea typeface="Quattrocento Sans" pitchFamily="34" charset="-122"/>
                <a:cs typeface="Quattrocento Sans" pitchFamily="34" charset="-120"/>
              </a:rPr>
              <a:t>Quand un risque existe, l'agent doit justifier explicitement</a:t>
            </a:r>
            <a:endParaRPr lang="en-US" sz="1600" dirty="0"/>
          </a:p>
        </p:txBody>
      </p:sp>
      <p:sp>
        <p:nvSpPr>
          <p:cNvPr id="11" name="Shape 9"/>
          <p:cNvSpPr/>
          <p:nvPr/>
        </p:nvSpPr>
        <p:spPr>
          <a:xfrm>
            <a:off x="8445500" y="2984500"/>
            <a:ext cx="7048500" cy="5080000"/>
          </a:xfrm>
          <a:prstGeom prst="rect">
            <a:avLst/>
          </a:prstGeom>
          <a:solidFill>
            <a:srgbClr val="FFFFFF"/>
          </a:solidFill>
          <a:ln w="12700">
            <a:solidFill>
              <a:srgbClr val="E0DCD8"/>
            </a:solidFill>
            <a:prstDash val="solid"/>
          </a:ln>
        </p:spPr>
      </p:sp>
      <p:sp>
        <p:nvSpPr>
          <p:cNvPr id="12" name="Text 10"/>
          <p:cNvSpPr/>
          <p:nvPr/>
        </p:nvSpPr>
        <p:spPr>
          <a:xfrm>
            <a:off x="8699500" y="3175000"/>
            <a:ext cx="3810000" cy="355600"/>
          </a:xfrm>
          <a:prstGeom prst="rect">
            <a:avLst/>
          </a:prstGeom>
          <a:noFill/>
          <a:ln/>
        </p:spPr>
        <p:txBody>
          <a:bodyPr wrap="none" lIns="0" tIns="0" rIns="0" bIns="0" rtlCol="0" anchor="ctr"/>
          <a:lstStyle/>
          <a:p>
            <a:pPr>
              <a:lnSpc>
                <a:spcPct val="100000"/>
              </a:lnSpc>
            </a:pPr>
            <a:r>
              <a:rPr lang="en-US" sz="1800" dirty="0">
                <a:solidFill>
                  <a:srgbClr val="5D2E18"/>
                </a:solidFill>
                <a:latin typeface="Liter" pitchFamily="34" charset="0"/>
                <a:ea typeface="Liter" pitchFamily="34" charset="-122"/>
                <a:cs typeface="Liter" pitchFamily="34" charset="-120"/>
              </a:rPr>
              <a:t>CAPACITES AML</a:t>
            </a:r>
            <a:endParaRPr lang="en-US" sz="1600" dirty="0"/>
          </a:p>
        </p:txBody>
      </p:sp>
      <p:sp>
        <p:nvSpPr>
          <p:cNvPr id="13" name="Shape 11"/>
          <p:cNvSpPr/>
          <p:nvPr/>
        </p:nvSpPr>
        <p:spPr>
          <a:xfrm>
            <a:off x="8699500" y="3594100"/>
            <a:ext cx="6540500" cy="12700"/>
          </a:xfrm>
          <a:prstGeom prst="rect">
            <a:avLst/>
          </a:prstGeom>
          <a:solidFill>
            <a:srgbClr val="E0DCD8"/>
          </a:solidFill>
          <a:ln/>
        </p:spPr>
      </p:sp>
      <p:sp>
        <p:nvSpPr>
          <p:cNvPr id="14" name="Shape 12"/>
          <p:cNvSpPr/>
          <p:nvPr/>
        </p:nvSpPr>
        <p:spPr>
          <a:xfrm>
            <a:off x="8699500" y="3873500"/>
            <a:ext cx="304800" cy="304800"/>
          </a:xfrm>
          <a:custGeom>
            <a:avLst/>
            <a:gdLst/>
            <a:ahLst/>
            <a:cxnLst/>
            <a:rect l="l" t="t" r="r" b="b"/>
            <a:pathLst>
              <a:path w="304800" h="304800">
                <a:moveTo>
                  <a:pt x="79653" y="21610"/>
                </a:moveTo>
                <a:cubicBezTo>
                  <a:pt x="86142" y="26134"/>
                  <a:pt x="87690" y="35064"/>
                  <a:pt x="83165" y="41493"/>
                </a:cubicBezTo>
                <a:lnTo>
                  <a:pt x="49828" y="89118"/>
                </a:lnTo>
                <a:cubicBezTo>
                  <a:pt x="47387" y="92571"/>
                  <a:pt x="43577" y="94774"/>
                  <a:pt x="39350" y="95131"/>
                </a:cubicBezTo>
                <a:cubicBezTo>
                  <a:pt x="35123" y="95488"/>
                  <a:pt x="30956" y="94059"/>
                  <a:pt x="27980" y="91083"/>
                </a:cubicBezTo>
                <a:lnTo>
                  <a:pt x="4167" y="67270"/>
                </a:lnTo>
                <a:cubicBezTo>
                  <a:pt x="-1369" y="61674"/>
                  <a:pt x="-1369" y="52626"/>
                  <a:pt x="4167" y="47030"/>
                </a:cubicBezTo>
                <a:cubicBezTo>
                  <a:pt x="9704" y="41434"/>
                  <a:pt x="18812" y="41493"/>
                  <a:pt x="24408" y="47030"/>
                </a:cubicBezTo>
                <a:lnTo>
                  <a:pt x="36195" y="58817"/>
                </a:lnTo>
                <a:lnTo>
                  <a:pt x="59769" y="25122"/>
                </a:lnTo>
                <a:cubicBezTo>
                  <a:pt x="64294" y="18633"/>
                  <a:pt x="73223" y="17085"/>
                  <a:pt x="79653" y="21610"/>
                </a:cubicBezTo>
                <a:close/>
                <a:moveTo>
                  <a:pt x="79653" y="116860"/>
                </a:moveTo>
                <a:cubicBezTo>
                  <a:pt x="86142" y="121384"/>
                  <a:pt x="87690" y="130314"/>
                  <a:pt x="83165" y="136743"/>
                </a:cubicBezTo>
                <a:lnTo>
                  <a:pt x="49828" y="184368"/>
                </a:lnTo>
                <a:cubicBezTo>
                  <a:pt x="47387" y="187821"/>
                  <a:pt x="43577" y="190024"/>
                  <a:pt x="39350" y="190381"/>
                </a:cubicBezTo>
                <a:cubicBezTo>
                  <a:pt x="35123" y="190738"/>
                  <a:pt x="30956" y="189309"/>
                  <a:pt x="27980" y="186333"/>
                </a:cubicBezTo>
                <a:lnTo>
                  <a:pt x="4167" y="162520"/>
                </a:lnTo>
                <a:cubicBezTo>
                  <a:pt x="-1429" y="156924"/>
                  <a:pt x="-1429" y="147876"/>
                  <a:pt x="4167" y="142339"/>
                </a:cubicBezTo>
                <a:cubicBezTo>
                  <a:pt x="9763" y="136803"/>
                  <a:pt x="18812" y="136743"/>
                  <a:pt x="24348" y="142339"/>
                </a:cubicBezTo>
                <a:lnTo>
                  <a:pt x="36135" y="154126"/>
                </a:lnTo>
                <a:lnTo>
                  <a:pt x="59710" y="120432"/>
                </a:lnTo>
                <a:cubicBezTo>
                  <a:pt x="64234" y="113943"/>
                  <a:pt x="73164" y="112395"/>
                  <a:pt x="79593" y="116919"/>
                </a:cubicBezTo>
                <a:close/>
                <a:moveTo>
                  <a:pt x="133350" y="57150"/>
                </a:moveTo>
                <a:cubicBezTo>
                  <a:pt x="133350" y="46613"/>
                  <a:pt x="141863" y="38100"/>
                  <a:pt x="152400" y="38100"/>
                </a:cubicBezTo>
                <a:lnTo>
                  <a:pt x="285750" y="38100"/>
                </a:lnTo>
                <a:cubicBezTo>
                  <a:pt x="296287" y="38100"/>
                  <a:pt x="304800" y="46613"/>
                  <a:pt x="304800" y="57150"/>
                </a:cubicBezTo>
                <a:cubicBezTo>
                  <a:pt x="304800" y="67687"/>
                  <a:pt x="296287" y="76200"/>
                  <a:pt x="285750" y="76200"/>
                </a:cubicBezTo>
                <a:lnTo>
                  <a:pt x="152400" y="76200"/>
                </a:lnTo>
                <a:cubicBezTo>
                  <a:pt x="141863" y="76200"/>
                  <a:pt x="133350" y="67687"/>
                  <a:pt x="133350" y="57150"/>
                </a:cubicBezTo>
                <a:close/>
                <a:moveTo>
                  <a:pt x="133350" y="152400"/>
                </a:moveTo>
                <a:cubicBezTo>
                  <a:pt x="133350" y="141863"/>
                  <a:pt x="141863" y="133350"/>
                  <a:pt x="152400" y="133350"/>
                </a:cubicBezTo>
                <a:lnTo>
                  <a:pt x="285750" y="133350"/>
                </a:lnTo>
                <a:cubicBezTo>
                  <a:pt x="296287" y="133350"/>
                  <a:pt x="304800" y="141863"/>
                  <a:pt x="304800" y="152400"/>
                </a:cubicBezTo>
                <a:cubicBezTo>
                  <a:pt x="304800" y="162937"/>
                  <a:pt x="296287" y="171450"/>
                  <a:pt x="285750" y="171450"/>
                </a:cubicBezTo>
                <a:lnTo>
                  <a:pt x="152400" y="171450"/>
                </a:lnTo>
                <a:cubicBezTo>
                  <a:pt x="141863" y="171450"/>
                  <a:pt x="133350" y="162937"/>
                  <a:pt x="133350" y="152400"/>
                </a:cubicBezTo>
                <a:close/>
                <a:moveTo>
                  <a:pt x="95250" y="247650"/>
                </a:moveTo>
                <a:cubicBezTo>
                  <a:pt x="95250" y="237113"/>
                  <a:pt x="103763" y="228600"/>
                  <a:pt x="114300" y="228600"/>
                </a:cubicBezTo>
                <a:lnTo>
                  <a:pt x="285750" y="228600"/>
                </a:lnTo>
                <a:cubicBezTo>
                  <a:pt x="296287" y="228600"/>
                  <a:pt x="304800" y="237113"/>
                  <a:pt x="304800" y="247650"/>
                </a:cubicBezTo>
                <a:cubicBezTo>
                  <a:pt x="304800" y="258187"/>
                  <a:pt x="296287" y="266700"/>
                  <a:pt x="285750" y="266700"/>
                </a:cubicBezTo>
                <a:lnTo>
                  <a:pt x="114300" y="266700"/>
                </a:lnTo>
                <a:cubicBezTo>
                  <a:pt x="103763" y="266700"/>
                  <a:pt x="95250" y="258187"/>
                  <a:pt x="95250" y="247650"/>
                </a:cubicBezTo>
                <a:close/>
                <a:moveTo>
                  <a:pt x="38100" y="223838"/>
                </a:moveTo>
                <a:cubicBezTo>
                  <a:pt x="51242" y="223838"/>
                  <a:pt x="61912" y="234508"/>
                  <a:pt x="61912" y="247650"/>
                </a:cubicBezTo>
                <a:cubicBezTo>
                  <a:pt x="61912" y="260792"/>
                  <a:pt x="51242" y="271463"/>
                  <a:pt x="38100" y="271463"/>
                </a:cubicBezTo>
                <a:cubicBezTo>
                  <a:pt x="24958" y="271463"/>
                  <a:pt x="14288" y="260792"/>
                  <a:pt x="14288" y="247650"/>
                </a:cubicBezTo>
                <a:cubicBezTo>
                  <a:pt x="14288" y="234508"/>
                  <a:pt x="24958" y="223838"/>
                  <a:pt x="38100" y="223838"/>
                </a:cubicBezTo>
                <a:close/>
              </a:path>
            </a:pathLst>
          </a:custGeom>
          <a:solidFill>
            <a:srgbClr val="D35400"/>
          </a:solidFill>
          <a:ln/>
        </p:spPr>
      </p:sp>
      <p:sp>
        <p:nvSpPr>
          <p:cNvPr id="15" name="Text 13"/>
          <p:cNvSpPr/>
          <p:nvPr/>
        </p:nvSpPr>
        <p:spPr>
          <a:xfrm>
            <a:off x="9144000" y="3835400"/>
            <a:ext cx="6096000" cy="355600"/>
          </a:xfrm>
          <a:prstGeom prst="rect">
            <a:avLst/>
          </a:prstGeom>
          <a:noFill/>
          <a:ln/>
        </p:spPr>
        <p:txBody>
          <a:bodyPr wrap="none" lIns="0" tIns="0" rIns="0" bIns="0" rtlCol="0" anchor="ctr"/>
          <a:lstStyle/>
          <a:p>
            <a:pPr>
              <a:lnSpc>
                <a:spcPct val="100000"/>
              </a:lnSpc>
            </a:pPr>
            <a:r>
              <a:rPr lang="en-US" sz="1500" dirty="0">
                <a:solidFill>
                  <a:srgbClr val="1A1A1A"/>
                </a:solidFill>
                <a:latin typeface="Quattrocento Sans" pitchFamily="34" charset="0"/>
                <a:ea typeface="Quattrocento Sans" pitchFamily="34" charset="-122"/>
                <a:cs typeface="Quattrocento Sans" pitchFamily="34" charset="-120"/>
              </a:rPr>
              <a:t>Listes ONU, UE, OFAC integrees</a:t>
            </a:r>
            <a:endParaRPr lang="en-US" sz="1600" dirty="0"/>
          </a:p>
        </p:txBody>
      </p:sp>
      <p:sp>
        <p:nvSpPr>
          <p:cNvPr id="16" name="Shape 14"/>
          <p:cNvSpPr/>
          <p:nvPr/>
        </p:nvSpPr>
        <p:spPr>
          <a:xfrm>
            <a:off x="8699500" y="4381500"/>
            <a:ext cx="304800" cy="304800"/>
          </a:xfrm>
          <a:custGeom>
            <a:avLst/>
            <a:gdLst/>
            <a:ahLst/>
            <a:cxnLst/>
            <a:rect l="l" t="t" r="r" b="b"/>
            <a:pathLst>
              <a:path w="304800" h="304800">
                <a:moveTo>
                  <a:pt x="79653" y="21610"/>
                </a:moveTo>
                <a:cubicBezTo>
                  <a:pt x="86142" y="26134"/>
                  <a:pt x="87690" y="35064"/>
                  <a:pt x="83165" y="41493"/>
                </a:cubicBezTo>
                <a:lnTo>
                  <a:pt x="49828" y="89118"/>
                </a:lnTo>
                <a:cubicBezTo>
                  <a:pt x="47387" y="92571"/>
                  <a:pt x="43577" y="94774"/>
                  <a:pt x="39350" y="95131"/>
                </a:cubicBezTo>
                <a:cubicBezTo>
                  <a:pt x="35123" y="95488"/>
                  <a:pt x="30956" y="94059"/>
                  <a:pt x="27980" y="91083"/>
                </a:cubicBezTo>
                <a:lnTo>
                  <a:pt x="4167" y="67270"/>
                </a:lnTo>
                <a:cubicBezTo>
                  <a:pt x="-1369" y="61674"/>
                  <a:pt x="-1369" y="52626"/>
                  <a:pt x="4167" y="47030"/>
                </a:cubicBezTo>
                <a:cubicBezTo>
                  <a:pt x="9704" y="41434"/>
                  <a:pt x="18812" y="41493"/>
                  <a:pt x="24408" y="47030"/>
                </a:cubicBezTo>
                <a:lnTo>
                  <a:pt x="36195" y="58817"/>
                </a:lnTo>
                <a:lnTo>
                  <a:pt x="59769" y="25122"/>
                </a:lnTo>
                <a:cubicBezTo>
                  <a:pt x="64294" y="18633"/>
                  <a:pt x="73223" y="17085"/>
                  <a:pt x="79653" y="21610"/>
                </a:cubicBezTo>
                <a:close/>
                <a:moveTo>
                  <a:pt x="79653" y="116860"/>
                </a:moveTo>
                <a:cubicBezTo>
                  <a:pt x="86142" y="121384"/>
                  <a:pt x="87690" y="130314"/>
                  <a:pt x="83165" y="136743"/>
                </a:cubicBezTo>
                <a:lnTo>
                  <a:pt x="49828" y="184368"/>
                </a:lnTo>
                <a:cubicBezTo>
                  <a:pt x="47387" y="187821"/>
                  <a:pt x="43577" y="190024"/>
                  <a:pt x="39350" y="190381"/>
                </a:cubicBezTo>
                <a:cubicBezTo>
                  <a:pt x="35123" y="190738"/>
                  <a:pt x="30956" y="189309"/>
                  <a:pt x="27980" y="186333"/>
                </a:cubicBezTo>
                <a:lnTo>
                  <a:pt x="4167" y="162520"/>
                </a:lnTo>
                <a:cubicBezTo>
                  <a:pt x="-1429" y="156924"/>
                  <a:pt x="-1429" y="147876"/>
                  <a:pt x="4167" y="142339"/>
                </a:cubicBezTo>
                <a:cubicBezTo>
                  <a:pt x="9763" y="136803"/>
                  <a:pt x="18812" y="136743"/>
                  <a:pt x="24348" y="142339"/>
                </a:cubicBezTo>
                <a:lnTo>
                  <a:pt x="36135" y="154126"/>
                </a:lnTo>
                <a:lnTo>
                  <a:pt x="59710" y="120432"/>
                </a:lnTo>
                <a:cubicBezTo>
                  <a:pt x="64234" y="113943"/>
                  <a:pt x="73164" y="112395"/>
                  <a:pt x="79593" y="116919"/>
                </a:cubicBezTo>
                <a:close/>
                <a:moveTo>
                  <a:pt x="133350" y="57150"/>
                </a:moveTo>
                <a:cubicBezTo>
                  <a:pt x="133350" y="46613"/>
                  <a:pt x="141863" y="38100"/>
                  <a:pt x="152400" y="38100"/>
                </a:cubicBezTo>
                <a:lnTo>
                  <a:pt x="285750" y="38100"/>
                </a:lnTo>
                <a:cubicBezTo>
                  <a:pt x="296287" y="38100"/>
                  <a:pt x="304800" y="46613"/>
                  <a:pt x="304800" y="57150"/>
                </a:cubicBezTo>
                <a:cubicBezTo>
                  <a:pt x="304800" y="67687"/>
                  <a:pt x="296287" y="76200"/>
                  <a:pt x="285750" y="76200"/>
                </a:cubicBezTo>
                <a:lnTo>
                  <a:pt x="152400" y="76200"/>
                </a:lnTo>
                <a:cubicBezTo>
                  <a:pt x="141863" y="76200"/>
                  <a:pt x="133350" y="67687"/>
                  <a:pt x="133350" y="57150"/>
                </a:cubicBezTo>
                <a:close/>
                <a:moveTo>
                  <a:pt x="133350" y="152400"/>
                </a:moveTo>
                <a:cubicBezTo>
                  <a:pt x="133350" y="141863"/>
                  <a:pt x="141863" y="133350"/>
                  <a:pt x="152400" y="133350"/>
                </a:cubicBezTo>
                <a:lnTo>
                  <a:pt x="285750" y="133350"/>
                </a:lnTo>
                <a:cubicBezTo>
                  <a:pt x="296287" y="133350"/>
                  <a:pt x="304800" y="141863"/>
                  <a:pt x="304800" y="152400"/>
                </a:cubicBezTo>
                <a:cubicBezTo>
                  <a:pt x="304800" y="162937"/>
                  <a:pt x="296287" y="171450"/>
                  <a:pt x="285750" y="171450"/>
                </a:cubicBezTo>
                <a:lnTo>
                  <a:pt x="152400" y="171450"/>
                </a:lnTo>
                <a:cubicBezTo>
                  <a:pt x="141863" y="171450"/>
                  <a:pt x="133350" y="162937"/>
                  <a:pt x="133350" y="152400"/>
                </a:cubicBezTo>
                <a:close/>
                <a:moveTo>
                  <a:pt x="95250" y="247650"/>
                </a:moveTo>
                <a:cubicBezTo>
                  <a:pt x="95250" y="237113"/>
                  <a:pt x="103763" y="228600"/>
                  <a:pt x="114300" y="228600"/>
                </a:cubicBezTo>
                <a:lnTo>
                  <a:pt x="285750" y="228600"/>
                </a:lnTo>
                <a:cubicBezTo>
                  <a:pt x="296287" y="228600"/>
                  <a:pt x="304800" y="237113"/>
                  <a:pt x="304800" y="247650"/>
                </a:cubicBezTo>
                <a:cubicBezTo>
                  <a:pt x="304800" y="258187"/>
                  <a:pt x="296287" y="266700"/>
                  <a:pt x="285750" y="266700"/>
                </a:cubicBezTo>
                <a:lnTo>
                  <a:pt x="114300" y="266700"/>
                </a:lnTo>
                <a:cubicBezTo>
                  <a:pt x="103763" y="266700"/>
                  <a:pt x="95250" y="258187"/>
                  <a:pt x="95250" y="247650"/>
                </a:cubicBezTo>
                <a:close/>
                <a:moveTo>
                  <a:pt x="38100" y="223838"/>
                </a:moveTo>
                <a:cubicBezTo>
                  <a:pt x="51242" y="223838"/>
                  <a:pt x="61912" y="234508"/>
                  <a:pt x="61912" y="247650"/>
                </a:cubicBezTo>
                <a:cubicBezTo>
                  <a:pt x="61912" y="260792"/>
                  <a:pt x="51242" y="271463"/>
                  <a:pt x="38100" y="271463"/>
                </a:cubicBezTo>
                <a:cubicBezTo>
                  <a:pt x="24958" y="271463"/>
                  <a:pt x="14288" y="260792"/>
                  <a:pt x="14288" y="247650"/>
                </a:cubicBezTo>
                <a:cubicBezTo>
                  <a:pt x="14288" y="234508"/>
                  <a:pt x="24958" y="223838"/>
                  <a:pt x="38100" y="223838"/>
                </a:cubicBezTo>
                <a:close/>
              </a:path>
            </a:pathLst>
          </a:custGeom>
          <a:solidFill>
            <a:srgbClr val="D35400"/>
          </a:solidFill>
          <a:ln/>
        </p:spPr>
      </p:sp>
      <p:sp>
        <p:nvSpPr>
          <p:cNvPr id="17" name="Text 15"/>
          <p:cNvSpPr/>
          <p:nvPr/>
        </p:nvSpPr>
        <p:spPr>
          <a:xfrm>
            <a:off x="9144000" y="4343400"/>
            <a:ext cx="6096000" cy="355600"/>
          </a:xfrm>
          <a:prstGeom prst="rect">
            <a:avLst/>
          </a:prstGeom>
          <a:noFill/>
          <a:ln/>
        </p:spPr>
        <p:txBody>
          <a:bodyPr wrap="none" lIns="0" tIns="0" rIns="0" bIns="0" rtlCol="0" anchor="ctr"/>
          <a:lstStyle/>
          <a:p>
            <a:pPr>
              <a:lnSpc>
                <a:spcPct val="100000"/>
              </a:lnSpc>
            </a:pPr>
            <a:r>
              <a:rPr lang="en-US" sz="1500" dirty="0">
                <a:solidFill>
                  <a:srgbClr val="1A1A1A"/>
                </a:solidFill>
                <a:latin typeface="Quattrocento Sans" pitchFamily="34" charset="0"/>
                <a:ea typeface="Quattrocento Sans" pitchFamily="34" charset="-122"/>
                <a:cs typeface="Quattrocento Sans" pitchFamily="34" charset="-120"/>
              </a:rPr>
              <a:t>PEP interne BICEC maintenable</a:t>
            </a:r>
            <a:endParaRPr lang="en-US" sz="1600" dirty="0"/>
          </a:p>
        </p:txBody>
      </p:sp>
      <p:sp>
        <p:nvSpPr>
          <p:cNvPr id="18" name="Shape 16"/>
          <p:cNvSpPr/>
          <p:nvPr/>
        </p:nvSpPr>
        <p:spPr>
          <a:xfrm>
            <a:off x="8699500" y="4889500"/>
            <a:ext cx="304800" cy="304800"/>
          </a:xfrm>
          <a:custGeom>
            <a:avLst/>
            <a:gdLst/>
            <a:ahLst/>
            <a:cxnLst/>
            <a:rect l="l" t="t" r="r" b="b"/>
            <a:pathLst>
              <a:path w="304800" h="304800">
                <a:moveTo>
                  <a:pt x="79653" y="21610"/>
                </a:moveTo>
                <a:cubicBezTo>
                  <a:pt x="86142" y="26134"/>
                  <a:pt x="87690" y="35064"/>
                  <a:pt x="83165" y="41493"/>
                </a:cubicBezTo>
                <a:lnTo>
                  <a:pt x="49828" y="89118"/>
                </a:lnTo>
                <a:cubicBezTo>
                  <a:pt x="47387" y="92571"/>
                  <a:pt x="43577" y="94774"/>
                  <a:pt x="39350" y="95131"/>
                </a:cubicBezTo>
                <a:cubicBezTo>
                  <a:pt x="35123" y="95488"/>
                  <a:pt x="30956" y="94059"/>
                  <a:pt x="27980" y="91083"/>
                </a:cubicBezTo>
                <a:lnTo>
                  <a:pt x="4167" y="67270"/>
                </a:lnTo>
                <a:cubicBezTo>
                  <a:pt x="-1369" y="61674"/>
                  <a:pt x="-1369" y="52626"/>
                  <a:pt x="4167" y="47030"/>
                </a:cubicBezTo>
                <a:cubicBezTo>
                  <a:pt x="9704" y="41434"/>
                  <a:pt x="18812" y="41493"/>
                  <a:pt x="24408" y="47030"/>
                </a:cubicBezTo>
                <a:lnTo>
                  <a:pt x="36195" y="58817"/>
                </a:lnTo>
                <a:lnTo>
                  <a:pt x="59769" y="25122"/>
                </a:lnTo>
                <a:cubicBezTo>
                  <a:pt x="64294" y="18633"/>
                  <a:pt x="73223" y="17085"/>
                  <a:pt x="79653" y="21610"/>
                </a:cubicBezTo>
                <a:close/>
                <a:moveTo>
                  <a:pt x="79653" y="116860"/>
                </a:moveTo>
                <a:cubicBezTo>
                  <a:pt x="86142" y="121384"/>
                  <a:pt x="87690" y="130314"/>
                  <a:pt x="83165" y="136743"/>
                </a:cubicBezTo>
                <a:lnTo>
                  <a:pt x="49828" y="184368"/>
                </a:lnTo>
                <a:cubicBezTo>
                  <a:pt x="47387" y="187821"/>
                  <a:pt x="43577" y="190024"/>
                  <a:pt x="39350" y="190381"/>
                </a:cubicBezTo>
                <a:cubicBezTo>
                  <a:pt x="35123" y="190738"/>
                  <a:pt x="30956" y="189309"/>
                  <a:pt x="27980" y="186333"/>
                </a:cubicBezTo>
                <a:lnTo>
                  <a:pt x="4167" y="162520"/>
                </a:lnTo>
                <a:cubicBezTo>
                  <a:pt x="-1429" y="156924"/>
                  <a:pt x="-1429" y="147876"/>
                  <a:pt x="4167" y="142339"/>
                </a:cubicBezTo>
                <a:cubicBezTo>
                  <a:pt x="9763" y="136803"/>
                  <a:pt x="18812" y="136743"/>
                  <a:pt x="24348" y="142339"/>
                </a:cubicBezTo>
                <a:lnTo>
                  <a:pt x="36135" y="154126"/>
                </a:lnTo>
                <a:lnTo>
                  <a:pt x="59710" y="120432"/>
                </a:lnTo>
                <a:cubicBezTo>
                  <a:pt x="64234" y="113943"/>
                  <a:pt x="73164" y="112395"/>
                  <a:pt x="79593" y="116919"/>
                </a:cubicBezTo>
                <a:close/>
                <a:moveTo>
                  <a:pt x="133350" y="57150"/>
                </a:moveTo>
                <a:cubicBezTo>
                  <a:pt x="133350" y="46613"/>
                  <a:pt x="141863" y="38100"/>
                  <a:pt x="152400" y="38100"/>
                </a:cubicBezTo>
                <a:lnTo>
                  <a:pt x="285750" y="38100"/>
                </a:lnTo>
                <a:cubicBezTo>
                  <a:pt x="296287" y="38100"/>
                  <a:pt x="304800" y="46613"/>
                  <a:pt x="304800" y="57150"/>
                </a:cubicBezTo>
                <a:cubicBezTo>
                  <a:pt x="304800" y="67687"/>
                  <a:pt x="296287" y="76200"/>
                  <a:pt x="285750" y="76200"/>
                </a:cubicBezTo>
                <a:lnTo>
                  <a:pt x="152400" y="76200"/>
                </a:lnTo>
                <a:cubicBezTo>
                  <a:pt x="141863" y="76200"/>
                  <a:pt x="133350" y="67687"/>
                  <a:pt x="133350" y="57150"/>
                </a:cubicBezTo>
                <a:close/>
                <a:moveTo>
                  <a:pt x="133350" y="152400"/>
                </a:moveTo>
                <a:cubicBezTo>
                  <a:pt x="133350" y="141863"/>
                  <a:pt x="141863" y="133350"/>
                  <a:pt x="152400" y="133350"/>
                </a:cubicBezTo>
                <a:lnTo>
                  <a:pt x="285750" y="133350"/>
                </a:lnTo>
                <a:cubicBezTo>
                  <a:pt x="296287" y="133350"/>
                  <a:pt x="304800" y="141863"/>
                  <a:pt x="304800" y="152400"/>
                </a:cubicBezTo>
                <a:cubicBezTo>
                  <a:pt x="304800" y="162937"/>
                  <a:pt x="296287" y="171450"/>
                  <a:pt x="285750" y="171450"/>
                </a:cubicBezTo>
                <a:lnTo>
                  <a:pt x="152400" y="171450"/>
                </a:lnTo>
                <a:cubicBezTo>
                  <a:pt x="141863" y="171450"/>
                  <a:pt x="133350" y="162937"/>
                  <a:pt x="133350" y="152400"/>
                </a:cubicBezTo>
                <a:close/>
                <a:moveTo>
                  <a:pt x="95250" y="247650"/>
                </a:moveTo>
                <a:cubicBezTo>
                  <a:pt x="95250" y="237113"/>
                  <a:pt x="103763" y="228600"/>
                  <a:pt x="114300" y="228600"/>
                </a:cubicBezTo>
                <a:lnTo>
                  <a:pt x="285750" y="228600"/>
                </a:lnTo>
                <a:cubicBezTo>
                  <a:pt x="296287" y="228600"/>
                  <a:pt x="304800" y="237113"/>
                  <a:pt x="304800" y="247650"/>
                </a:cubicBezTo>
                <a:cubicBezTo>
                  <a:pt x="304800" y="258187"/>
                  <a:pt x="296287" y="266700"/>
                  <a:pt x="285750" y="266700"/>
                </a:cubicBezTo>
                <a:lnTo>
                  <a:pt x="114300" y="266700"/>
                </a:lnTo>
                <a:cubicBezTo>
                  <a:pt x="103763" y="266700"/>
                  <a:pt x="95250" y="258187"/>
                  <a:pt x="95250" y="247650"/>
                </a:cubicBezTo>
                <a:close/>
                <a:moveTo>
                  <a:pt x="38100" y="223838"/>
                </a:moveTo>
                <a:cubicBezTo>
                  <a:pt x="51242" y="223838"/>
                  <a:pt x="61912" y="234508"/>
                  <a:pt x="61912" y="247650"/>
                </a:cubicBezTo>
                <a:cubicBezTo>
                  <a:pt x="61912" y="260792"/>
                  <a:pt x="51242" y="271463"/>
                  <a:pt x="38100" y="271463"/>
                </a:cubicBezTo>
                <a:cubicBezTo>
                  <a:pt x="24958" y="271463"/>
                  <a:pt x="14288" y="260792"/>
                  <a:pt x="14288" y="247650"/>
                </a:cubicBezTo>
                <a:cubicBezTo>
                  <a:pt x="14288" y="234508"/>
                  <a:pt x="24958" y="223838"/>
                  <a:pt x="38100" y="223838"/>
                </a:cubicBezTo>
                <a:close/>
              </a:path>
            </a:pathLst>
          </a:custGeom>
          <a:solidFill>
            <a:srgbClr val="D35400"/>
          </a:solidFill>
          <a:ln/>
        </p:spPr>
      </p:sp>
      <p:sp>
        <p:nvSpPr>
          <p:cNvPr id="19" name="Text 17"/>
          <p:cNvSpPr/>
          <p:nvPr/>
        </p:nvSpPr>
        <p:spPr>
          <a:xfrm>
            <a:off x="9144000" y="4851400"/>
            <a:ext cx="6096000" cy="355600"/>
          </a:xfrm>
          <a:prstGeom prst="rect">
            <a:avLst/>
          </a:prstGeom>
          <a:noFill/>
          <a:ln/>
        </p:spPr>
        <p:txBody>
          <a:bodyPr wrap="none" lIns="0" tIns="0" rIns="0" bIns="0" rtlCol="0" anchor="ctr"/>
          <a:lstStyle/>
          <a:p>
            <a:pPr>
              <a:lnSpc>
                <a:spcPct val="100000"/>
              </a:lnSpc>
            </a:pPr>
            <a:r>
              <a:rPr lang="en-US" sz="1500" dirty="0">
                <a:solidFill>
                  <a:srgbClr val="1A1A1A"/>
                </a:solidFill>
                <a:latin typeface="Quattrocento Sans" pitchFamily="34" charset="0"/>
                <a:ea typeface="Quattrocento Sans" pitchFamily="34" charset="-122"/>
                <a:cs typeface="Quattrocento Sans" pitchFamily="34" charset="-120"/>
              </a:rPr>
              <a:t>Deduplication NIU (conflits d'identite)</a:t>
            </a:r>
            <a:endParaRPr lang="en-US" sz="1600" dirty="0"/>
          </a:p>
        </p:txBody>
      </p:sp>
      <p:sp>
        <p:nvSpPr>
          <p:cNvPr id="20" name="Shape 18"/>
          <p:cNvSpPr/>
          <p:nvPr/>
        </p:nvSpPr>
        <p:spPr>
          <a:xfrm>
            <a:off x="8699500" y="5397500"/>
            <a:ext cx="304800" cy="304800"/>
          </a:xfrm>
          <a:custGeom>
            <a:avLst/>
            <a:gdLst/>
            <a:ahLst/>
            <a:cxnLst/>
            <a:rect l="l" t="t" r="r" b="b"/>
            <a:pathLst>
              <a:path w="304800" h="304800">
                <a:moveTo>
                  <a:pt x="79653" y="21610"/>
                </a:moveTo>
                <a:cubicBezTo>
                  <a:pt x="86142" y="26134"/>
                  <a:pt x="87690" y="35064"/>
                  <a:pt x="83165" y="41493"/>
                </a:cubicBezTo>
                <a:lnTo>
                  <a:pt x="49828" y="89118"/>
                </a:lnTo>
                <a:cubicBezTo>
                  <a:pt x="47387" y="92571"/>
                  <a:pt x="43577" y="94774"/>
                  <a:pt x="39350" y="95131"/>
                </a:cubicBezTo>
                <a:cubicBezTo>
                  <a:pt x="35123" y="95488"/>
                  <a:pt x="30956" y="94059"/>
                  <a:pt x="27980" y="91083"/>
                </a:cubicBezTo>
                <a:lnTo>
                  <a:pt x="4167" y="67270"/>
                </a:lnTo>
                <a:cubicBezTo>
                  <a:pt x="-1369" y="61674"/>
                  <a:pt x="-1369" y="52626"/>
                  <a:pt x="4167" y="47030"/>
                </a:cubicBezTo>
                <a:cubicBezTo>
                  <a:pt x="9704" y="41434"/>
                  <a:pt x="18812" y="41493"/>
                  <a:pt x="24408" y="47030"/>
                </a:cubicBezTo>
                <a:lnTo>
                  <a:pt x="36195" y="58817"/>
                </a:lnTo>
                <a:lnTo>
                  <a:pt x="59769" y="25122"/>
                </a:lnTo>
                <a:cubicBezTo>
                  <a:pt x="64294" y="18633"/>
                  <a:pt x="73223" y="17085"/>
                  <a:pt x="79653" y="21610"/>
                </a:cubicBezTo>
                <a:close/>
                <a:moveTo>
                  <a:pt x="79653" y="116860"/>
                </a:moveTo>
                <a:cubicBezTo>
                  <a:pt x="86142" y="121384"/>
                  <a:pt x="87690" y="130314"/>
                  <a:pt x="83165" y="136743"/>
                </a:cubicBezTo>
                <a:lnTo>
                  <a:pt x="49828" y="184368"/>
                </a:lnTo>
                <a:cubicBezTo>
                  <a:pt x="47387" y="187821"/>
                  <a:pt x="43577" y="190024"/>
                  <a:pt x="39350" y="190381"/>
                </a:cubicBezTo>
                <a:cubicBezTo>
                  <a:pt x="35123" y="190738"/>
                  <a:pt x="30956" y="189309"/>
                  <a:pt x="27980" y="186333"/>
                </a:cubicBezTo>
                <a:lnTo>
                  <a:pt x="4167" y="162520"/>
                </a:lnTo>
                <a:cubicBezTo>
                  <a:pt x="-1429" y="156924"/>
                  <a:pt x="-1429" y="147876"/>
                  <a:pt x="4167" y="142339"/>
                </a:cubicBezTo>
                <a:cubicBezTo>
                  <a:pt x="9763" y="136803"/>
                  <a:pt x="18812" y="136743"/>
                  <a:pt x="24348" y="142339"/>
                </a:cubicBezTo>
                <a:lnTo>
                  <a:pt x="36135" y="154126"/>
                </a:lnTo>
                <a:lnTo>
                  <a:pt x="59710" y="120432"/>
                </a:lnTo>
                <a:cubicBezTo>
                  <a:pt x="64234" y="113943"/>
                  <a:pt x="73164" y="112395"/>
                  <a:pt x="79593" y="116919"/>
                </a:cubicBezTo>
                <a:close/>
                <a:moveTo>
                  <a:pt x="133350" y="57150"/>
                </a:moveTo>
                <a:cubicBezTo>
                  <a:pt x="133350" y="46613"/>
                  <a:pt x="141863" y="38100"/>
                  <a:pt x="152400" y="38100"/>
                </a:cubicBezTo>
                <a:lnTo>
                  <a:pt x="285750" y="38100"/>
                </a:lnTo>
                <a:cubicBezTo>
                  <a:pt x="296287" y="38100"/>
                  <a:pt x="304800" y="46613"/>
                  <a:pt x="304800" y="57150"/>
                </a:cubicBezTo>
                <a:cubicBezTo>
                  <a:pt x="304800" y="67687"/>
                  <a:pt x="296287" y="76200"/>
                  <a:pt x="285750" y="76200"/>
                </a:cubicBezTo>
                <a:lnTo>
                  <a:pt x="152400" y="76200"/>
                </a:lnTo>
                <a:cubicBezTo>
                  <a:pt x="141863" y="76200"/>
                  <a:pt x="133350" y="67687"/>
                  <a:pt x="133350" y="57150"/>
                </a:cubicBezTo>
                <a:close/>
                <a:moveTo>
                  <a:pt x="133350" y="152400"/>
                </a:moveTo>
                <a:cubicBezTo>
                  <a:pt x="133350" y="141863"/>
                  <a:pt x="141863" y="133350"/>
                  <a:pt x="152400" y="133350"/>
                </a:cubicBezTo>
                <a:lnTo>
                  <a:pt x="285750" y="133350"/>
                </a:lnTo>
                <a:cubicBezTo>
                  <a:pt x="296287" y="133350"/>
                  <a:pt x="304800" y="141863"/>
                  <a:pt x="304800" y="152400"/>
                </a:cubicBezTo>
                <a:cubicBezTo>
                  <a:pt x="304800" y="162937"/>
                  <a:pt x="296287" y="171450"/>
                  <a:pt x="285750" y="171450"/>
                </a:cubicBezTo>
                <a:lnTo>
                  <a:pt x="152400" y="171450"/>
                </a:lnTo>
                <a:cubicBezTo>
                  <a:pt x="141863" y="171450"/>
                  <a:pt x="133350" y="162937"/>
                  <a:pt x="133350" y="152400"/>
                </a:cubicBezTo>
                <a:close/>
                <a:moveTo>
                  <a:pt x="95250" y="247650"/>
                </a:moveTo>
                <a:cubicBezTo>
                  <a:pt x="95250" y="237113"/>
                  <a:pt x="103763" y="228600"/>
                  <a:pt x="114300" y="228600"/>
                </a:cubicBezTo>
                <a:lnTo>
                  <a:pt x="285750" y="228600"/>
                </a:lnTo>
                <a:cubicBezTo>
                  <a:pt x="296287" y="228600"/>
                  <a:pt x="304800" y="237113"/>
                  <a:pt x="304800" y="247650"/>
                </a:cubicBezTo>
                <a:cubicBezTo>
                  <a:pt x="304800" y="258187"/>
                  <a:pt x="296287" y="266700"/>
                  <a:pt x="285750" y="266700"/>
                </a:cubicBezTo>
                <a:lnTo>
                  <a:pt x="114300" y="266700"/>
                </a:lnTo>
                <a:cubicBezTo>
                  <a:pt x="103763" y="266700"/>
                  <a:pt x="95250" y="258187"/>
                  <a:pt x="95250" y="247650"/>
                </a:cubicBezTo>
                <a:close/>
                <a:moveTo>
                  <a:pt x="38100" y="223838"/>
                </a:moveTo>
                <a:cubicBezTo>
                  <a:pt x="51242" y="223838"/>
                  <a:pt x="61912" y="234508"/>
                  <a:pt x="61912" y="247650"/>
                </a:cubicBezTo>
                <a:cubicBezTo>
                  <a:pt x="61912" y="260792"/>
                  <a:pt x="51242" y="271463"/>
                  <a:pt x="38100" y="271463"/>
                </a:cubicBezTo>
                <a:cubicBezTo>
                  <a:pt x="24958" y="271463"/>
                  <a:pt x="14288" y="260792"/>
                  <a:pt x="14288" y="247650"/>
                </a:cubicBezTo>
                <a:cubicBezTo>
                  <a:pt x="14288" y="234508"/>
                  <a:pt x="24958" y="223838"/>
                  <a:pt x="38100" y="223838"/>
                </a:cubicBezTo>
                <a:close/>
              </a:path>
            </a:pathLst>
          </a:custGeom>
          <a:solidFill>
            <a:srgbClr val="D35400"/>
          </a:solidFill>
          <a:ln/>
        </p:spPr>
      </p:sp>
      <p:sp>
        <p:nvSpPr>
          <p:cNvPr id="21" name="Text 19"/>
          <p:cNvSpPr/>
          <p:nvPr/>
        </p:nvSpPr>
        <p:spPr>
          <a:xfrm>
            <a:off x="9144000" y="5359400"/>
            <a:ext cx="6096000" cy="355600"/>
          </a:xfrm>
          <a:prstGeom prst="rect">
            <a:avLst/>
          </a:prstGeom>
          <a:noFill/>
          <a:ln/>
        </p:spPr>
        <p:txBody>
          <a:bodyPr wrap="none" lIns="0" tIns="0" rIns="0" bIns="0" rtlCol="0" anchor="ctr"/>
          <a:lstStyle/>
          <a:p>
            <a:pPr>
              <a:lnSpc>
                <a:spcPct val="100000"/>
              </a:lnSpc>
            </a:pPr>
            <a:r>
              <a:rPr lang="en-US" sz="1500" dirty="0">
                <a:solidFill>
                  <a:srgbClr val="1A1A1A"/>
                </a:solidFill>
                <a:latin typeface="Quattrocento Sans" pitchFamily="34" charset="0"/>
                <a:ea typeface="Quattrocento Sans" pitchFamily="34" charset="-122"/>
                <a:cs typeface="Quattrocento Sans" pitchFamily="34" charset="-120"/>
              </a:rPr>
              <a:t>Fuzzy matching pg_trgm</a:t>
            </a:r>
            <a:endParaRPr lang="en-US" sz="1600" dirty="0"/>
          </a:p>
        </p:txBody>
      </p:sp>
      <p:sp>
        <p:nvSpPr>
          <p:cNvPr id="22" name="Shape 20"/>
          <p:cNvSpPr/>
          <p:nvPr/>
        </p:nvSpPr>
        <p:spPr>
          <a:xfrm>
            <a:off x="8699500" y="5905500"/>
            <a:ext cx="304800" cy="304800"/>
          </a:xfrm>
          <a:custGeom>
            <a:avLst/>
            <a:gdLst/>
            <a:ahLst/>
            <a:cxnLst/>
            <a:rect l="l" t="t" r="r" b="b"/>
            <a:pathLst>
              <a:path w="304800" h="304800">
                <a:moveTo>
                  <a:pt x="79653" y="21610"/>
                </a:moveTo>
                <a:cubicBezTo>
                  <a:pt x="86142" y="26134"/>
                  <a:pt x="87690" y="35064"/>
                  <a:pt x="83165" y="41493"/>
                </a:cubicBezTo>
                <a:lnTo>
                  <a:pt x="49828" y="89118"/>
                </a:lnTo>
                <a:cubicBezTo>
                  <a:pt x="47387" y="92571"/>
                  <a:pt x="43577" y="94774"/>
                  <a:pt x="39350" y="95131"/>
                </a:cubicBezTo>
                <a:cubicBezTo>
                  <a:pt x="35123" y="95488"/>
                  <a:pt x="30956" y="94059"/>
                  <a:pt x="27980" y="91083"/>
                </a:cubicBezTo>
                <a:lnTo>
                  <a:pt x="4167" y="67270"/>
                </a:lnTo>
                <a:cubicBezTo>
                  <a:pt x="-1369" y="61674"/>
                  <a:pt x="-1369" y="52626"/>
                  <a:pt x="4167" y="47030"/>
                </a:cubicBezTo>
                <a:cubicBezTo>
                  <a:pt x="9704" y="41434"/>
                  <a:pt x="18812" y="41493"/>
                  <a:pt x="24408" y="47030"/>
                </a:cubicBezTo>
                <a:lnTo>
                  <a:pt x="36195" y="58817"/>
                </a:lnTo>
                <a:lnTo>
                  <a:pt x="59769" y="25122"/>
                </a:lnTo>
                <a:cubicBezTo>
                  <a:pt x="64294" y="18633"/>
                  <a:pt x="73223" y="17085"/>
                  <a:pt x="79653" y="21610"/>
                </a:cubicBezTo>
                <a:close/>
                <a:moveTo>
                  <a:pt x="79653" y="116860"/>
                </a:moveTo>
                <a:cubicBezTo>
                  <a:pt x="86142" y="121384"/>
                  <a:pt x="87690" y="130314"/>
                  <a:pt x="83165" y="136743"/>
                </a:cubicBezTo>
                <a:lnTo>
                  <a:pt x="49828" y="184368"/>
                </a:lnTo>
                <a:cubicBezTo>
                  <a:pt x="47387" y="187821"/>
                  <a:pt x="43577" y="190024"/>
                  <a:pt x="39350" y="190381"/>
                </a:cubicBezTo>
                <a:cubicBezTo>
                  <a:pt x="35123" y="190738"/>
                  <a:pt x="30956" y="189309"/>
                  <a:pt x="27980" y="186333"/>
                </a:cubicBezTo>
                <a:lnTo>
                  <a:pt x="4167" y="162520"/>
                </a:lnTo>
                <a:cubicBezTo>
                  <a:pt x="-1429" y="156924"/>
                  <a:pt x="-1429" y="147876"/>
                  <a:pt x="4167" y="142339"/>
                </a:cubicBezTo>
                <a:cubicBezTo>
                  <a:pt x="9763" y="136803"/>
                  <a:pt x="18812" y="136743"/>
                  <a:pt x="24348" y="142339"/>
                </a:cubicBezTo>
                <a:lnTo>
                  <a:pt x="36135" y="154126"/>
                </a:lnTo>
                <a:lnTo>
                  <a:pt x="59710" y="120432"/>
                </a:lnTo>
                <a:cubicBezTo>
                  <a:pt x="64234" y="113943"/>
                  <a:pt x="73164" y="112395"/>
                  <a:pt x="79593" y="116919"/>
                </a:cubicBezTo>
                <a:close/>
                <a:moveTo>
                  <a:pt x="133350" y="57150"/>
                </a:moveTo>
                <a:cubicBezTo>
                  <a:pt x="133350" y="46613"/>
                  <a:pt x="141863" y="38100"/>
                  <a:pt x="152400" y="38100"/>
                </a:cubicBezTo>
                <a:lnTo>
                  <a:pt x="285750" y="38100"/>
                </a:lnTo>
                <a:cubicBezTo>
                  <a:pt x="296287" y="38100"/>
                  <a:pt x="304800" y="46613"/>
                  <a:pt x="304800" y="57150"/>
                </a:cubicBezTo>
                <a:cubicBezTo>
                  <a:pt x="304800" y="67687"/>
                  <a:pt x="296287" y="76200"/>
                  <a:pt x="285750" y="76200"/>
                </a:cubicBezTo>
                <a:lnTo>
                  <a:pt x="152400" y="76200"/>
                </a:lnTo>
                <a:cubicBezTo>
                  <a:pt x="141863" y="76200"/>
                  <a:pt x="133350" y="67687"/>
                  <a:pt x="133350" y="57150"/>
                </a:cubicBezTo>
                <a:close/>
                <a:moveTo>
                  <a:pt x="133350" y="152400"/>
                </a:moveTo>
                <a:cubicBezTo>
                  <a:pt x="133350" y="141863"/>
                  <a:pt x="141863" y="133350"/>
                  <a:pt x="152400" y="133350"/>
                </a:cubicBezTo>
                <a:lnTo>
                  <a:pt x="285750" y="133350"/>
                </a:lnTo>
                <a:cubicBezTo>
                  <a:pt x="296287" y="133350"/>
                  <a:pt x="304800" y="141863"/>
                  <a:pt x="304800" y="152400"/>
                </a:cubicBezTo>
                <a:cubicBezTo>
                  <a:pt x="304800" y="162937"/>
                  <a:pt x="296287" y="171450"/>
                  <a:pt x="285750" y="171450"/>
                </a:cubicBezTo>
                <a:lnTo>
                  <a:pt x="152400" y="171450"/>
                </a:lnTo>
                <a:cubicBezTo>
                  <a:pt x="141863" y="171450"/>
                  <a:pt x="133350" y="162937"/>
                  <a:pt x="133350" y="152400"/>
                </a:cubicBezTo>
                <a:close/>
                <a:moveTo>
                  <a:pt x="95250" y="247650"/>
                </a:moveTo>
                <a:cubicBezTo>
                  <a:pt x="95250" y="237113"/>
                  <a:pt x="103763" y="228600"/>
                  <a:pt x="114300" y="228600"/>
                </a:cubicBezTo>
                <a:lnTo>
                  <a:pt x="285750" y="228600"/>
                </a:lnTo>
                <a:cubicBezTo>
                  <a:pt x="296287" y="228600"/>
                  <a:pt x="304800" y="237113"/>
                  <a:pt x="304800" y="247650"/>
                </a:cubicBezTo>
                <a:cubicBezTo>
                  <a:pt x="304800" y="258187"/>
                  <a:pt x="296287" y="266700"/>
                  <a:pt x="285750" y="266700"/>
                </a:cubicBezTo>
                <a:lnTo>
                  <a:pt x="114300" y="266700"/>
                </a:lnTo>
                <a:cubicBezTo>
                  <a:pt x="103763" y="266700"/>
                  <a:pt x="95250" y="258187"/>
                  <a:pt x="95250" y="247650"/>
                </a:cubicBezTo>
                <a:close/>
                <a:moveTo>
                  <a:pt x="38100" y="223838"/>
                </a:moveTo>
                <a:cubicBezTo>
                  <a:pt x="51242" y="223838"/>
                  <a:pt x="61912" y="234508"/>
                  <a:pt x="61912" y="247650"/>
                </a:cubicBezTo>
                <a:cubicBezTo>
                  <a:pt x="61912" y="260792"/>
                  <a:pt x="51242" y="271463"/>
                  <a:pt x="38100" y="271463"/>
                </a:cubicBezTo>
                <a:cubicBezTo>
                  <a:pt x="24958" y="271463"/>
                  <a:pt x="14288" y="260792"/>
                  <a:pt x="14288" y="247650"/>
                </a:cubicBezTo>
                <a:cubicBezTo>
                  <a:pt x="14288" y="234508"/>
                  <a:pt x="24958" y="223838"/>
                  <a:pt x="38100" y="223838"/>
                </a:cubicBezTo>
                <a:close/>
              </a:path>
            </a:pathLst>
          </a:custGeom>
          <a:solidFill>
            <a:srgbClr val="D35400"/>
          </a:solidFill>
          <a:ln/>
        </p:spPr>
      </p:sp>
      <p:sp>
        <p:nvSpPr>
          <p:cNvPr id="23" name="Text 21"/>
          <p:cNvSpPr/>
          <p:nvPr/>
        </p:nvSpPr>
        <p:spPr>
          <a:xfrm>
            <a:off x="9144000" y="5867400"/>
            <a:ext cx="6096000" cy="355600"/>
          </a:xfrm>
          <a:prstGeom prst="rect">
            <a:avLst/>
          </a:prstGeom>
          <a:noFill/>
          <a:ln/>
        </p:spPr>
        <p:txBody>
          <a:bodyPr wrap="none" lIns="0" tIns="0" rIns="0" bIns="0" rtlCol="0" anchor="ctr"/>
          <a:lstStyle/>
          <a:p>
            <a:pPr>
              <a:lnSpc>
                <a:spcPct val="100000"/>
              </a:lnSpc>
            </a:pPr>
            <a:r>
              <a:rPr lang="en-US" sz="1500" dirty="0">
                <a:solidFill>
                  <a:srgbClr val="1A1A1A"/>
                </a:solidFill>
                <a:latin typeface="Quattrocento Sans" pitchFamily="34" charset="0"/>
                <a:ea typeface="Quattrocento Sans" pitchFamily="34" charset="-122"/>
                <a:cs typeface="Quattrocento Sans" pitchFamily="34" charset="-120"/>
              </a:rPr>
              <a:t>Scoring de similarite avec seuils</a:t>
            </a:r>
            <a:endParaRPr lang="en-US" sz="1600" dirty="0"/>
          </a:p>
        </p:txBody>
      </p:sp>
      <p:sp>
        <p:nvSpPr>
          <p:cNvPr id="24" name="Shape 22"/>
          <p:cNvSpPr/>
          <p:nvPr/>
        </p:nvSpPr>
        <p:spPr>
          <a:xfrm>
            <a:off x="8699500" y="6413500"/>
            <a:ext cx="304800" cy="304800"/>
          </a:xfrm>
          <a:custGeom>
            <a:avLst/>
            <a:gdLst/>
            <a:ahLst/>
            <a:cxnLst/>
            <a:rect l="l" t="t" r="r" b="b"/>
            <a:pathLst>
              <a:path w="304800" h="304800">
                <a:moveTo>
                  <a:pt x="79653" y="21610"/>
                </a:moveTo>
                <a:cubicBezTo>
                  <a:pt x="86142" y="26134"/>
                  <a:pt x="87690" y="35064"/>
                  <a:pt x="83165" y="41493"/>
                </a:cubicBezTo>
                <a:lnTo>
                  <a:pt x="49828" y="89118"/>
                </a:lnTo>
                <a:cubicBezTo>
                  <a:pt x="47387" y="92571"/>
                  <a:pt x="43577" y="94774"/>
                  <a:pt x="39350" y="95131"/>
                </a:cubicBezTo>
                <a:cubicBezTo>
                  <a:pt x="35123" y="95488"/>
                  <a:pt x="30956" y="94059"/>
                  <a:pt x="27980" y="91083"/>
                </a:cubicBezTo>
                <a:lnTo>
                  <a:pt x="4167" y="67270"/>
                </a:lnTo>
                <a:cubicBezTo>
                  <a:pt x="-1369" y="61674"/>
                  <a:pt x="-1369" y="52626"/>
                  <a:pt x="4167" y="47030"/>
                </a:cubicBezTo>
                <a:cubicBezTo>
                  <a:pt x="9704" y="41434"/>
                  <a:pt x="18812" y="41493"/>
                  <a:pt x="24408" y="47030"/>
                </a:cubicBezTo>
                <a:lnTo>
                  <a:pt x="36195" y="58817"/>
                </a:lnTo>
                <a:lnTo>
                  <a:pt x="59769" y="25122"/>
                </a:lnTo>
                <a:cubicBezTo>
                  <a:pt x="64294" y="18633"/>
                  <a:pt x="73223" y="17085"/>
                  <a:pt x="79653" y="21610"/>
                </a:cubicBezTo>
                <a:close/>
                <a:moveTo>
                  <a:pt x="79653" y="116860"/>
                </a:moveTo>
                <a:cubicBezTo>
                  <a:pt x="86142" y="121384"/>
                  <a:pt x="87690" y="130314"/>
                  <a:pt x="83165" y="136743"/>
                </a:cubicBezTo>
                <a:lnTo>
                  <a:pt x="49828" y="184368"/>
                </a:lnTo>
                <a:cubicBezTo>
                  <a:pt x="47387" y="187821"/>
                  <a:pt x="43577" y="190024"/>
                  <a:pt x="39350" y="190381"/>
                </a:cubicBezTo>
                <a:cubicBezTo>
                  <a:pt x="35123" y="190738"/>
                  <a:pt x="30956" y="189309"/>
                  <a:pt x="27980" y="186333"/>
                </a:cubicBezTo>
                <a:lnTo>
                  <a:pt x="4167" y="162520"/>
                </a:lnTo>
                <a:cubicBezTo>
                  <a:pt x="-1429" y="156924"/>
                  <a:pt x="-1429" y="147876"/>
                  <a:pt x="4167" y="142339"/>
                </a:cubicBezTo>
                <a:cubicBezTo>
                  <a:pt x="9763" y="136803"/>
                  <a:pt x="18812" y="136743"/>
                  <a:pt x="24348" y="142339"/>
                </a:cubicBezTo>
                <a:lnTo>
                  <a:pt x="36135" y="154126"/>
                </a:lnTo>
                <a:lnTo>
                  <a:pt x="59710" y="120432"/>
                </a:lnTo>
                <a:cubicBezTo>
                  <a:pt x="64234" y="113943"/>
                  <a:pt x="73164" y="112395"/>
                  <a:pt x="79593" y="116919"/>
                </a:cubicBezTo>
                <a:close/>
                <a:moveTo>
                  <a:pt x="133350" y="57150"/>
                </a:moveTo>
                <a:cubicBezTo>
                  <a:pt x="133350" y="46613"/>
                  <a:pt x="141863" y="38100"/>
                  <a:pt x="152400" y="38100"/>
                </a:cubicBezTo>
                <a:lnTo>
                  <a:pt x="285750" y="38100"/>
                </a:lnTo>
                <a:cubicBezTo>
                  <a:pt x="296287" y="38100"/>
                  <a:pt x="304800" y="46613"/>
                  <a:pt x="304800" y="57150"/>
                </a:cubicBezTo>
                <a:cubicBezTo>
                  <a:pt x="304800" y="67687"/>
                  <a:pt x="296287" y="76200"/>
                  <a:pt x="285750" y="76200"/>
                </a:cubicBezTo>
                <a:lnTo>
                  <a:pt x="152400" y="76200"/>
                </a:lnTo>
                <a:cubicBezTo>
                  <a:pt x="141863" y="76200"/>
                  <a:pt x="133350" y="67687"/>
                  <a:pt x="133350" y="57150"/>
                </a:cubicBezTo>
                <a:close/>
                <a:moveTo>
                  <a:pt x="133350" y="152400"/>
                </a:moveTo>
                <a:cubicBezTo>
                  <a:pt x="133350" y="141863"/>
                  <a:pt x="141863" y="133350"/>
                  <a:pt x="152400" y="133350"/>
                </a:cubicBezTo>
                <a:lnTo>
                  <a:pt x="285750" y="133350"/>
                </a:lnTo>
                <a:cubicBezTo>
                  <a:pt x="296287" y="133350"/>
                  <a:pt x="304800" y="141863"/>
                  <a:pt x="304800" y="152400"/>
                </a:cubicBezTo>
                <a:cubicBezTo>
                  <a:pt x="304800" y="162937"/>
                  <a:pt x="296287" y="171450"/>
                  <a:pt x="285750" y="171450"/>
                </a:cubicBezTo>
                <a:lnTo>
                  <a:pt x="152400" y="171450"/>
                </a:lnTo>
                <a:cubicBezTo>
                  <a:pt x="141863" y="171450"/>
                  <a:pt x="133350" y="162937"/>
                  <a:pt x="133350" y="152400"/>
                </a:cubicBezTo>
                <a:close/>
                <a:moveTo>
                  <a:pt x="95250" y="247650"/>
                </a:moveTo>
                <a:cubicBezTo>
                  <a:pt x="95250" y="237113"/>
                  <a:pt x="103763" y="228600"/>
                  <a:pt x="114300" y="228600"/>
                </a:cubicBezTo>
                <a:lnTo>
                  <a:pt x="285750" y="228600"/>
                </a:lnTo>
                <a:cubicBezTo>
                  <a:pt x="296287" y="228600"/>
                  <a:pt x="304800" y="237113"/>
                  <a:pt x="304800" y="247650"/>
                </a:cubicBezTo>
                <a:cubicBezTo>
                  <a:pt x="304800" y="258187"/>
                  <a:pt x="296287" y="266700"/>
                  <a:pt x="285750" y="266700"/>
                </a:cubicBezTo>
                <a:lnTo>
                  <a:pt x="114300" y="266700"/>
                </a:lnTo>
                <a:cubicBezTo>
                  <a:pt x="103763" y="266700"/>
                  <a:pt x="95250" y="258187"/>
                  <a:pt x="95250" y="247650"/>
                </a:cubicBezTo>
                <a:close/>
                <a:moveTo>
                  <a:pt x="38100" y="223838"/>
                </a:moveTo>
                <a:cubicBezTo>
                  <a:pt x="51242" y="223838"/>
                  <a:pt x="61912" y="234508"/>
                  <a:pt x="61912" y="247650"/>
                </a:cubicBezTo>
                <a:cubicBezTo>
                  <a:pt x="61912" y="260792"/>
                  <a:pt x="51242" y="271463"/>
                  <a:pt x="38100" y="271463"/>
                </a:cubicBezTo>
                <a:cubicBezTo>
                  <a:pt x="24958" y="271463"/>
                  <a:pt x="14288" y="260792"/>
                  <a:pt x="14288" y="247650"/>
                </a:cubicBezTo>
                <a:cubicBezTo>
                  <a:pt x="14288" y="234508"/>
                  <a:pt x="24958" y="223838"/>
                  <a:pt x="38100" y="223838"/>
                </a:cubicBezTo>
                <a:close/>
              </a:path>
            </a:pathLst>
          </a:custGeom>
          <a:solidFill>
            <a:srgbClr val="D35400"/>
          </a:solidFill>
          <a:ln/>
        </p:spPr>
      </p:sp>
      <p:sp>
        <p:nvSpPr>
          <p:cNvPr id="25" name="Text 23"/>
          <p:cNvSpPr/>
          <p:nvPr/>
        </p:nvSpPr>
        <p:spPr>
          <a:xfrm>
            <a:off x="9144000" y="6375400"/>
            <a:ext cx="6096000" cy="355600"/>
          </a:xfrm>
          <a:prstGeom prst="rect">
            <a:avLst/>
          </a:prstGeom>
          <a:noFill/>
          <a:ln/>
        </p:spPr>
        <p:txBody>
          <a:bodyPr wrap="none" lIns="0" tIns="0" rIns="0" bIns="0" rtlCol="0" anchor="ctr"/>
          <a:lstStyle/>
          <a:p>
            <a:pPr>
              <a:lnSpc>
                <a:spcPct val="100000"/>
              </a:lnSpc>
            </a:pPr>
            <a:r>
              <a:rPr lang="en-US" sz="1500" dirty="0">
                <a:solidFill>
                  <a:srgbClr val="1A1A1A"/>
                </a:solidFill>
                <a:latin typeface="Quattrocento Sans" pitchFamily="34" charset="0"/>
                <a:ea typeface="Quattrocento Sans" pitchFamily="34" charset="-122"/>
                <a:cs typeface="Quattrocento Sans" pitchFamily="34" charset="-120"/>
              </a:rPr>
              <a:t>Sync hebdomadaire automatique</a:t>
            </a:r>
            <a:endParaRPr lang="en-US" sz="1600" dirty="0"/>
          </a:p>
        </p:txBody>
      </p:sp>
      <p:sp>
        <p:nvSpPr>
          <p:cNvPr id="26" name="Shape 24"/>
          <p:cNvSpPr/>
          <p:nvPr/>
        </p:nvSpPr>
        <p:spPr>
          <a:xfrm>
            <a:off x="8445500" y="7048500"/>
            <a:ext cx="7048500" cy="1016000"/>
          </a:xfrm>
          <a:prstGeom prst="rect">
            <a:avLst/>
          </a:prstGeom>
          <a:solidFill>
            <a:srgbClr val="D35400"/>
          </a:solidFill>
          <a:ln/>
        </p:spPr>
      </p:sp>
      <p:sp>
        <p:nvSpPr>
          <p:cNvPr id="27" name="Text 25"/>
          <p:cNvSpPr/>
          <p:nvPr/>
        </p:nvSpPr>
        <p:spPr>
          <a:xfrm>
            <a:off x="8699500" y="7175500"/>
            <a:ext cx="6540500" cy="762000"/>
          </a:xfrm>
          <a:prstGeom prst="rect">
            <a:avLst/>
          </a:prstGeom>
          <a:noFill/>
          <a:ln/>
        </p:spPr>
        <p:txBody>
          <a:bodyPr wrap="square" lIns="0" tIns="0" rIns="0" bIns="0" rtlCol="0" anchor="ctr"/>
          <a:lstStyle/>
          <a:p>
            <a:pPr algn="ctr">
              <a:lnSpc>
                <a:spcPct val="140000"/>
              </a:lnSpc>
            </a:pPr>
            <a:r>
              <a:rPr lang="en-US" sz="1500" b="1" dirty="0">
                <a:solidFill>
                  <a:srgbClr val="FFFFFF"/>
                </a:solidFill>
                <a:latin typeface="Quattrocento Sans" pitchFamily="34" charset="0"/>
                <a:ea typeface="Quattrocento Sans" pitchFamily="34" charset="-122"/>
                <a:cs typeface="Quattrocento Sans" pitchFamily="34" charset="-120"/>
              </a:rPr>
              <a:t>La conformite n'est pas un frein.</a:t>
            </a:r>
            <a:endParaRPr lang="en-US" sz="1600" dirty="0"/>
          </a:p>
          <a:p>
            <a:pPr algn="ctr">
              <a:lnSpc>
                <a:spcPct val="140000"/>
              </a:lnSpc>
            </a:pPr>
            <a:r>
              <a:rPr lang="en-US" sz="1500" dirty="0">
                <a:solidFill>
                  <a:srgbClr val="FFFFFF"/>
                </a:solidFill>
                <a:latin typeface="Quattrocento Sans" pitchFamily="34" charset="0"/>
                <a:ea typeface="Quattrocento Sans" pitchFamily="34" charset="-122"/>
                <a:cs typeface="Quattrocento Sans" pitchFamily="34" charset="-120"/>
              </a:rPr>
              <a:t>C'est un garde-fou qui protege la croissance.</a:t>
            </a:r>
            <a:endParaRPr lang="en-US" sz="1600" dirty="0"/>
          </a:p>
        </p:txBody>
      </p:sp>
      <p:sp>
        <p:nvSpPr>
          <p:cNvPr id="28" name="Text 26"/>
          <p:cNvSpPr/>
          <p:nvPr/>
        </p:nvSpPr>
        <p:spPr>
          <a:xfrm>
            <a:off x="14986000" y="8636000"/>
            <a:ext cx="762000" cy="254000"/>
          </a:xfrm>
          <a:prstGeom prst="rect">
            <a:avLst/>
          </a:prstGeom>
          <a:noFill/>
          <a:ln/>
        </p:spPr>
        <p:txBody>
          <a:bodyPr wrap="none" lIns="0" tIns="0" rIns="0" bIns="0" rtlCol="0" anchor="ctr"/>
          <a:lstStyle/>
          <a:p>
            <a:pPr algn="r">
              <a:lnSpc>
                <a:spcPct val="140000"/>
              </a:lnSpc>
            </a:pPr>
            <a:r>
              <a:rPr lang="en-US" sz="1200" dirty="0">
                <a:solidFill>
                  <a:srgbClr val="8A8A8A"/>
                </a:solidFill>
                <a:latin typeface="QuattrocentoSans" pitchFamily="34" charset="0"/>
                <a:ea typeface="QuattrocentoSans" pitchFamily="34" charset="-122"/>
                <a:cs typeface="QuattrocentoSans" pitchFamily="34" charset="-120"/>
              </a:rPr>
              <a:t>11</a:t>
            </a:r>
            <a:endParaRPr lang="en-US" sz="1200" dirty="0"/>
          </a:p>
        </p:txBody>
      </p:sp>
    </p:spTree>
  </p:cSld>
  <p:clrMapOvr>
    <a:masterClrMapping/>
  </p:clrMapOvr>
  <p:transition>
    <p:fade/>
    <p:spd val="med"/>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0F0F"/>
        </a:solidFill>
      </p:bgPr>
    </p:bg>
    <p:spTree>
      <p:nvGrpSpPr>
        <p:cNvPr id="1" name=""/>
        <p:cNvGrpSpPr/>
        <p:nvPr/>
      </p:nvGrpSpPr>
      <p:grpSpPr>
        <a:xfrm>
          <a:off x="0" y="0"/>
          <a:ext cx="0" cy="0"/>
          <a:chOff x="0" y="0"/>
          <a:chExt cx="0" cy="0"/>
        </a:xfrm>
      </p:grpSpPr>
      <p:sp>
        <p:nvSpPr>
          <p:cNvPr id="2" name="Shape 0"/>
          <p:cNvSpPr/>
          <p:nvPr/>
        </p:nvSpPr>
        <p:spPr>
          <a:xfrm>
            <a:off x="762000" y="635000"/>
            <a:ext cx="508000" cy="50800"/>
          </a:xfrm>
          <a:prstGeom prst="rect">
            <a:avLst/>
          </a:prstGeom>
          <a:solidFill>
            <a:srgbClr val="D35400"/>
          </a:solidFill>
          <a:ln/>
        </p:spPr>
      </p:sp>
      <p:sp>
        <p:nvSpPr>
          <p:cNvPr id="3" name="Text 1"/>
          <p:cNvSpPr/>
          <p:nvPr/>
        </p:nvSpPr>
        <p:spPr>
          <a:xfrm>
            <a:off x="762000" y="825500"/>
            <a:ext cx="2540000" cy="254000"/>
          </a:xfrm>
          <a:prstGeom prst="rect">
            <a:avLst/>
          </a:prstGeom>
          <a:noFill/>
          <a:ln/>
        </p:spPr>
        <p:txBody>
          <a:bodyPr wrap="none" lIns="0" tIns="0" rIns="0" bIns="0" rtlCol="0" anchor="ctr"/>
          <a:lstStyle/>
          <a:p>
            <a:pPr>
              <a:lnSpc>
                <a:spcPct val="120000"/>
              </a:lnSpc>
            </a:pPr>
            <a:r>
              <a:rPr lang="en-US" sz="1200" spc="200" kern="0" dirty="0">
                <a:solidFill>
                  <a:srgbClr val="D35400"/>
                </a:solidFill>
                <a:latin typeface="Liter" pitchFamily="34" charset="0"/>
                <a:ea typeface="Liter" pitchFamily="34" charset="-122"/>
                <a:cs typeface="Liter" pitchFamily="34" charset="-120"/>
              </a:rPr>
              <a:t>LA PREUVE</a:t>
            </a:r>
            <a:endParaRPr lang="en-US" sz="1200" dirty="0"/>
          </a:p>
        </p:txBody>
      </p:sp>
      <p:sp>
        <p:nvSpPr>
          <p:cNvPr id="4" name="Text 2"/>
          <p:cNvSpPr/>
          <p:nvPr/>
        </p:nvSpPr>
        <p:spPr>
          <a:xfrm>
            <a:off x="762000" y="1206500"/>
            <a:ext cx="10160000" cy="571500"/>
          </a:xfrm>
          <a:prstGeom prst="rect">
            <a:avLst/>
          </a:prstGeom>
          <a:noFill/>
          <a:ln/>
        </p:spPr>
        <p:txBody>
          <a:bodyPr wrap="none" lIns="0" tIns="0" rIns="0" bIns="0" rtlCol="0" anchor="ctr"/>
          <a:lstStyle/>
          <a:p>
            <a:pPr>
              <a:lnSpc>
                <a:spcPct val="130000"/>
              </a:lnSpc>
            </a:pPr>
            <a:r>
              <a:rPr lang="en-US" sz="3000" dirty="0">
                <a:solidFill>
                  <a:srgbClr val="FFFFFF"/>
                </a:solidFill>
                <a:latin typeface="Liter" pitchFamily="34" charset="0"/>
                <a:ea typeface="Liter" pitchFamily="34" charset="-122"/>
                <a:cs typeface="Liter" pitchFamily="34" charset="-120"/>
              </a:rPr>
              <a:t>Audit COBAC-ready : chaque action est une preuve</a:t>
            </a:r>
            <a:endParaRPr lang="en-US" sz="3000" dirty="0"/>
          </a:p>
        </p:txBody>
      </p:sp>
      <p:sp>
        <p:nvSpPr>
          <p:cNvPr id="5" name="Shape 3"/>
          <p:cNvSpPr/>
          <p:nvPr/>
        </p:nvSpPr>
        <p:spPr>
          <a:xfrm>
            <a:off x="762000" y="2159000"/>
            <a:ext cx="14732000" cy="1397000"/>
          </a:xfrm>
          <a:prstGeom prst="rect">
            <a:avLst/>
          </a:prstGeom>
          <a:solidFill>
            <a:srgbClr val="1E1E1E"/>
          </a:solidFill>
          <a:ln/>
        </p:spPr>
      </p:sp>
      <p:sp>
        <p:nvSpPr>
          <p:cNvPr id="6" name="Text 4"/>
          <p:cNvSpPr/>
          <p:nvPr/>
        </p:nvSpPr>
        <p:spPr>
          <a:xfrm>
            <a:off x="1016000" y="2286000"/>
            <a:ext cx="2540000" cy="635000"/>
          </a:xfrm>
          <a:prstGeom prst="rect">
            <a:avLst/>
          </a:prstGeom>
          <a:noFill/>
          <a:ln/>
        </p:spPr>
        <p:txBody>
          <a:bodyPr wrap="none" lIns="0" tIns="0" rIns="0" bIns="0" rtlCol="0" anchor="ctr"/>
          <a:lstStyle/>
          <a:p>
            <a:pPr>
              <a:lnSpc>
                <a:spcPct val="100000"/>
              </a:lnSpc>
            </a:pPr>
            <a:r>
              <a:rPr lang="en-US" sz="4200" dirty="0">
                <a:solidFill>
                  <a:srgbClr val="D35400"/>
                </a:solidFill>
                <a:latin typeface="Liter" pitchFamily="34" charset="0"/>
                <a:ea typeface="Liter" pitchFamily="34" charset="-122"/>
                <a:cs typeface="Liter" pitchFamily="34" charset="-120"/>
              </a:rPr>
              <a:t>23</a:t>
            </a:r>
            <a:endParaRPr lang="en-US" sz="1600" dirty="0"/>
          </a:p>
        </p:txBody>
      </p:sp>
      <p:sp>
        <p:nvSpPr>
          <p:cNvPr id="7" name="Text 5"/>
          <p:cNvSpPr/>
          <p:nvPr/>
        </p:nvSpPr>
        <p:spPr>
          <a:xfrm>
            <a:off x="1016000" y="2984500"/>
            <a:ext cx="2540000" cy="381000"/>
          </a:xfrm>
          <a:prstGeom prst="rect">
            <a:avLst/>
          </a:prstGeom>
          <a:noFill/>
          <a:ln/>
        </p:spPr>
        <p:txBody>
          <a:bodyPr wrap="none" lIns="0" tIns="0" rIns="0" bIns="0" rtlCol="0" anchor="ctr"/>
          <a:lstStyle/>
          <a:p>
            <a:pPr>
              <a:lnSpc>
                <a:spcPct val="100000"/>
              </a:lnSpc>
            </a:pPr>
            <a:r>
              <a:rPr lang="en-US" sz="1300" dirty="0">
                <a:solidFill>
                  <a:srgbClr val="8A8A8A"/>
                </a:solidFill>
                <a:latin typeface="Quattrocento Sans" pitchFamily="34" charset="0"/>
                <a:ea typeface="Quattrocento Sans" pitchFamily="34" charset="-122"/>
                <a:cs typeface="Quattrocento Sans" pitchFamily="34" charset="-120"/>
              </a:rPr>
              <a:t>actions tracees (demo)</a:t>
            </a:r>
            <a:endParaRPr lang="en-US" sz="1600" dirty="0"/>
          </a:p>
        </p:txBody>
      </p:sp>
      <p:sp>
        <p:nvSpPr>
          <p:cNvPr id="8" name="Text 6"/>
          <p:cNvSpPr/>
          <p:nvPr/>
        </p:nvSpPr>
        <p:spPr>
          <a:xfrm>
            <a:off x="3937000" y="2286000"/>
            <a:ext cx="2540000" cy="635000"/>
          </a:xfrm>
          <a:prstGeom prst="rect">
            <a:avLst/>
          </a:prstGeom>
          <a:noFill/>
          <a:ln/>
        </p:spPr>
        <p:txBody>
          <a:bodyPr wrap="none" lIns="0" tIns="0" rIns="0" bIns="0" rtlCol="0" anchor="ctr"/>
          <a:lstStyle/>
          <a:p>
            <a:pPr>
              <a:lnSpc>
                <a:spcPct val="100000"/>
              </a:lnSpc>
            </a:pPr>
            <a:r>
              <a:rPr lang="en-US" sz="4200" dirty="0">
                <a:solidFill>
                  <a:srgbClr val="D35400"/>
                </a:solidFill>
                <a:latin typeface="Liter" pitchFamily="34" charset="0"/>
                <a:ea typeface="Liter" pitchFamily="34" charset="-122"/>
                <a:cs typeface="Liter" pitchFamily="34" charset="-120"/>
              </a:rPr>
              <a:t>6</a:t>
            </a:r>
            <a:endParaRPr lang="en-US" sz="1600" dirty="0"/>
          </a:p>
        </p:txBody>
      </p:sp>
      <p:sp>
        <p:nvSpPr>
          <p:cNvPr id="9" name="Text 7"/>
          <p:cNvSpPr/>
          <p:nvPr/>
        </p:nvSpPr>
        <p:spPr>
          <a:xfrm>
            <a:off x="3937000" y="2984500"/>
            <a:ext cx="2540000" cy="381000"/>
          </a:xfrm>
          <a:prstGeom prst="rect">
            <a:avLst/>
          </a:prstGeom>
          <a:noFill/>
          <a:ln/>
        </p:spPr>
        <p:txBody>
          <a:bodyPr wrap="none" lIns="0" tIns="0" rIns="0" bIns="0" rtlCol="0" anchor="ctr"/>
          <a:lstStyle/>
          <a:p>
            <a:pPr>
              <a:lnSpc>
                <a:spcPct val="100000"/>
              </a:lnSpc>
            </a:pPr>
            <a:r>
              <a:rPr lang="en-US" sz="1300" dirty="0">
                <a:solidFill>
                  <a:srgbClr val="8A8A8A"/>
                </a:solidFill>
                <a:latin typeface="Quattrocento Sans" pitchFamily="34" charset="0"/>
                <a:ea typeface="Quattrocento Sans" pitchFamily="34" charset="-122"/>
                <a:cs typeface="Quattrocento Sans" pitchFamily="34" charset="-120"/>
              </a:rPr>
              <a:t>acteurs distincts</a:t>
            </a:r>
            <a:endParaRPr lang="en-US" sz="1600" dirty="0"/>
          </a:p>
        </p:txBody>
      </p:sp>
      <p:sp>
        <p:nvSpPr>
          <p:cNvPr id="10" name="Text 8"/>
          <p:cNvSpPr/>
          <p:nvPr/>
        </p:nvSpPr>
        <p:spPr>
          <a:xfrm>
            <a:off x="6858000" y="2286000"/>
            <a:ext cx="2540000" cy="635000"/>
          </a:xfrm>
          <a:prstGeom prst="rect">
            <a:avLst/>
          </a:prstGeom>
          <a:noFill/>
          <a:ln/>
        </p:spPr>
        <p:txBody>
          <a:bodyPr wrap="none" lIns="0" tIns="0" rIns="0" bIns="0" rtlCol="0" anchor="ctr"/>
          <a:lstStyle/>
          <a:p>
            <a:pPr>
              <a:lnSpc>
                <a:spcPct val="100000"/>
              </a:lnSpc>
            </a:pPr>
            <a:r>
              <a:rPr lang="en-US" sz="4200" dirty="0">
                <a:solidFill>
                  <a:srgbClr val="D35400"/>
                </a:solidFill>
                <a:latin typeface="Liter" pitchFamily="34" charset="0"/>
                <a:ea typeface="Liter" pitchFamily="34" charset="-122"/>
                <a:cs typeface="Liter" pitchFamily="34" charset="-120"/>
              </a:rPr>
              <a:t>9</a:t>
            </a:r>
            <a:endParaRPr lang="en-US" sz="1600" dirty="0"/>
          </a:p>
        </p:txBody>
      </p:sp>
      <p:sp>
        <p:nvSpPr>
          <p:cNvPr id="11" name="Text 9"/>
          <p:cNvSpPr/>
          <p:nvPr/>
        </p:nvSpPr>
        <p:spPr>
          <a:xfrm>
            <a:off x="6858000" y="2984500"/>
            <a:ext cx="2540000" cy="381000"/>
          </a:xfrm>
          <a:prstGeom prst="rect">
            <a:avLst/>
          </a:prstGeom>
          <a:noFill/>
          <a:ln/>
        </p:spPr>
        <p:txBody>
          <a:bodyPr wrap="none" lIns="0" tIns="0" rIns="0" bIns="0" rtlCol="0" anchor="ctr"/>
          <a:lstStyle/>
          <a:p>
            <a:pPr>
              <a:lnSpc>
                <a:spcPct val="100000"/>
              </a:lnSpc>
            </a:pPr>
            <a:r>
              <a:rPr lang="en-US" sz="1300" dirty="0">
                <a:solidFill>
                  <a:srgbClr val="8A8A8A"/>
                </a:solidFill>
                <a:latin typeface="Quattrocento Sans" pitchFamily="34" charset="0"/>
                <a:ea typeface="Quattrocento Sans" pitchFamily="34" charset="-122"/>
                <a:cs typeface="Quattrocento Sans" pitchFamily="34" charset="-120"/>
              </a:rPr>
              <a:t>decisions controlees</a:t>
            </a:r>
            <a:endParaRPr lang="en-US" sz="1600" dirty="0"/>
          </a:p>
        </p:txBody>
      </p:sp>
      <p:sp>
        <p:nvSpPr>
          <p:cNvPr id="12" name="Text 10"/>
          <p:cNvSpPr/>
          <p:nvPr/>
        </p:nvSpPr>
        <p:spPr>
          <a:xfrm>
            <a:off x="9779000" y="2286000"/>
            <a:ext cx="3175000" cy="635000"/>
          </a:xfrm>
          <a:prstGeom prst="rect">
            <a:avLst/>
          </a:prstGeom>
          <a:noFill/>
          <a:ln/>
        </p:spPr>
        <p:txBody>
          <a:bodyPr wrap="none" lIns="0" tIns="0" rIns="0" bIns="0" rtlCol="0" anchor="ctr"/>
          <a:lstStyle/>
          <a:p>
            <a:pPr>
              <a:lnSpc>
                <a:spcPct val="100000"/>
              </a:lnSpc>
            </a:pPr>
            <a:r>
              <a:rPr lang="en-US" sz="4200" dirty="0">
                <a:solidFill>
                  <a:srgbClr val="F39C12"/>
                </a:solidFill>
                <a:latin typeface="Liter" pitchFamily="34" charset="0"/>
                <a:ea typeface="Liter" pitchFamily="34" charset="-122"/>
                <a:cs typeface="Liter" pitchFamily="34" charset="-120"/>
              </a:rPr>
              <a:t>10 ans</a:t>
            </a:r>
            <a:endParaRPr lang="en-US" sz="1600" dirty="0"/>
          </a:p>
        </p:txBody>
      </p:sp>
      <p:sp>
        <p:nvSpPr>
          <p:cNvPr id="13" name="Text 11"/>
          <p:cNvSpPr/>
          <p:nvPr/>
        </p:nvSpPr>
        <p:spPr>
          <a:xfrm>
            <a:off x="9779000" y="2984500"/>
            <a:ext cx="3175000" cy="381000"/>
          </a:xfrm>
          <a:prstGeom prst="rect">
            <a:avLst/>
          </a:prstGeom>
          <a:noFill/>
          <a:ln/>
        </p:spPr>
        <p:txBody>
          <a:bodyPr wrap="none" lIns="0" tIns="0" rIns="0" bIns="0" rtlCol="0" anchor="ctr"/>
          <a:lstStyle/>
          <a:p>
            <a:pPr>
              <a:lnSpc>
                <a:spcPct val="100000"/>
              </a:lnSpc>
            </a:pPr>
            <a:r>
              <a:rPr lang="en-US" sz="1300" dirty="0">
                <a:solidFill>
                  <a:srgbClr val="8A8A8A"/>
                </a:solidFill>
                <a:latin typeface="Quattrocento Sans" pitchFamily="34" charset="0"/>
                <a:ea typeface="Quattrocento Sans" pitchFamily="34" charset="-122"/>
                <a:cs typeface="Quattrocento Sans" pitchFamily="34" charset="-120"/>
              </a:rPr>
              <a:t>conservation COBAC</a:t>
            </a:r>
            <a:endParaRPr lang="en-US" sz="1600" dirty="0"/>
          </a:p>
        </p:txBody>
      </p:sp>
      <p:sp>
        <p:nvSpPr>
          <p:cNvPr id="14" name="Shape 12"/>
          <p:cNvSpPr/>
          <p:nvPr/>
        </p:nvSpPr>
        <p:spPr>
          <a:xfrm>
            <a:off x="13433425" y="2413000"/>
            <a:ext cx="514350" cy="457200"/>
          </a:xfrm>
          <a:custGeom>
            <a:avLst/>
            <a:gdLst/>
            <a:ahLst/>
            <a:cxnLst/>
            <a:rect l="l" t="t" r="r" b="b"/>
            <a:pathLst>
              <a:path w="514350" h="457200">
                <a:moveTo>
                  <a:pt x="85725" y="0"/>
                </a:moveTo>
                <a:cubicBezTo>
                  <a:pt x="54203" y="0"/>
                  <a:pt x="28575" y="25628"/>
                  <a:pt x="28575" y="57150"/>
                </a:cubicBezTo>
                <a:lnTo>
                  <a:pt x="28575" y="400050"/>
                </a:lnTo>
                <a:cubicBezTo>
                  <a:pt x="28575" y="431572"/>
                  <a:pt x="54203" y="457200"/>
                  <a:pt x="85725" y="457200"/>
                </a:cubicBezTo>
                <a:lnTo>
                  <a:pt x="265390" y="457200"/>
                </a:lnTo>
                <a:cubicBezTo>
                  <a:pt x="233065" y="419160"/>
                  <a:pt x="214313" y="370136"/>
                  <a:pt x="214313" y="318254"/>
                </a:cubicBezTo>
                <a:lnTo>
                  <a:pt x="214313" y="290483"/>
                </a:lnTo>
                <a:cubicBezTo>
                  <a:pt x="214313" y="259765"/>
                  <a:pt x="233958" y="232440"/>
                  <a:pt x="263158" y="222706"/>
                </a:cubicBezTo>
                <a:lnTo>
                  <a:pt x="363170" y="189399"/>
                </a:lnTo>
                <a:cubicBezTo>
                  <a:pt x="365939" y="188506"/>
                  <a:pt x="368707" y="187791"/>
                  <a:pt x="371475" y="187166"/>
                </a:cubicBezTo>
                <a:lnTo>
                  <a:pt x="371475" y="152251"/>
                </a:lnTo>
                <a:cubicBezTo>
                  <a:pt x="371475" y="137071"/>
                  <a:pt x="365492" y="122515"/>
                  <a:pt x="354776" y="111800"/>
                </a:cubicBezTo>
                <a:lnTo>
                  <a:pt x="259586" y="16699"/>
                </a:lnTo>
                <a:cubicBezTo>
                  <a:pt x="248870" y="5983"/>
                  <a:pt x="234404" y="0"/>
                  <a:pt x="219224" y="0"/>
                </a:cubicBezTo>
                <a:lnTo>
                  <a:pt x="85725" y="0"/>
                </a:lnTo>
                <a:close/>
                <a:moveTo>
                  <a:pt x="319236" y="157163"/>
                </a:moveTo>
                <a:lnTo>
                  <a:pt x="235744" y="157163"/>
                </a:lnTo>
                <a:cubicBezTo>
                  <a:pt x="223867" y="157163"/>
                  <a:pt x="214313" y="147608"/>
                  <a:pt x="214313" y="135731"/>
                </a:cubicBezTo>
                <a:lnTo>
                  <a:pt x="214313" y="52239"/>
                </a:lnTo>
                <a:lnTo>
                  <a:pt x="319236" y="157163"/>
                </a:lnTo>
                <a:close/>
                <a:moveTo>
                  <a:pt x="397639" y="436215"/>
                </a:moveTo>
                <a:lnTo>
                  <a:pt x="385763" y="441841"/>
                </a:lnTo>
                <a:lnTo>
                  <a:pt x="385763" y="273874"/>
                </a:lnTo>
                <a:lnTo>
                  <a:pt x="471488" y="302449"/>
                </a:lnTo>
                <a:lnTo>
                  <a:pt x="471488" y="319951"/>
                </a:lnTo>
                <a:cubicBezTo>
                  <a:pt x="471488" y="369778"/>
                  <a:pt x="442734" y="415052"/>
                  <a:pt x="397639" y="436305"/>
                </a:cubicBezTo>
                <a:close/>
                <a:moveTo>
                  <a:pt x="376744" y="231725"/>
                </a:moveTo>
                <a:lnTo>
                  <a:pt x="276731" y="265033"/>
                </a:lnTo>
                <a:cubicBezTo>
                  <a:pt x="265033" y="268962"/>
                  <a:pt x="257175" y="279856"/>
                  <a:pt x="257175" y="292179"/>
                </a:cubicBezTo>
                <a:lnTo>
                  <a:pt x="257175" y="319951"/>
                </a:lnTo>
                <a:cubicBezTo>
                  <a:pt x="257175" y="386388"/>
                  <a:pt x="295573" y="446842"/>
                  <a:pt x="355580" y="475059"/>
                </a:cubicBezTo>
                <a:lnTo>
                  <a:pt x="372100" y="482828"/>
                </a:lnTo>
                <a:cubicBezTo>
                  <a:pt x="376386" y="484793"/>
                  <a:pt x="381030" y="485864"/>
                  <a:pt x="385673" y="485864"/>
                </a:cubicBezTo>
                <a:cubicBezTo>
                  <a:pt x="390317" y="485864"/>
                  <a:pt x="395049" y="484793"/>
                  <a:pt x="399246" y="482828"/>
                </a:cubicBezTo>
                <a:lnTo>
                  <a:pt x="415766" y="475059"/>
                </a:lnTo>
                <a:cubicBezTo>
                  <a:pt x="475952" y="446752"/>
                  <a:pt x="514350" y="386298"/>
                  <a:pt x="514350" y="319861"/>
                </a:cubicBezTo>
                <a:lnTo>
                  <a:pt x="514350" y="292090"/>
                </a:lnTo>
                <a:cubicBezTo>
                  <a:pt x="514350" y="279767"/>
                  <a:pt x="506492" y="268873"/>
                  <a:pt x="494794" y="264944"/>
                </a:cubicBezTo>
                <a:lnTo>
                  <a:pt x="394781" y="231636"/>
                </a:lnTo>
                <a:cubicBezTo>
                  <a:pt x="388888" y="229672"/>
                  <a:pt x="382548" y="229672"/>
                  <a:pt x="376744" y="231636"/>
                </a:cubicBezTo>
                <a:close/>
              </a:path>
            </a:pathLst>
          </a:custGeom>
          <a:solidFill>
            <a:srgbClr val="F39C12"/>
          </a:solidFill>
          <a:ln/>
        </p:spPr>
      </p:sp>
      <p:sp>
        <p:nvSpPr>
          <p:cNvPr id="15" name="Text 13"/>
          <p:cNvSpPr/>
          <p:nvPr/>
        </p:nvSpPr>
        <p:spPr>
          <a:xfrm>
            <a:off x="13208000" y="2984500"/>
            <a:ext cx="2032000" cy="381000"/>
          </a:xfrm>
          <a:prstGeom prst="rect">
            <a:avLst/>
          </a:prstGeom>
          <a:noFill/>
          <a:ln/>
        </p:spPr>
        <p:txBody>
          <a:bodyPr wrap="none" lIns="0" tIns="0" rIns="0" bIns="0" rtlCol="0" anchor="t"/>
          <a:lstStyle/>
          <a:p>
            <a:pPr algn="ctr">
              <a:lnSpc>
                <a:spcPct val="100000"/>
              </a:lnSpc>
            </a:pPr>
            <a:r>
              <a:rPr lang="en-US" sz="1300" dirty="0">
                <a:solidFill>
                  <a:srgbClr val="8A8A8A"/>
                </a:solidFill>
                <a:latin typeface="Quattrocento Sans" pitchFamily="34" charset="0"/>
                <a:ea typeface="Quattrocento Sans" pitchFamily="34" charset="-122"/>
                <a:cs typeface="Quattrocento Sans" pitchFamily="34" charset="-120"/>
              </a:rPr>
              <a:t>COBAC-ready</a:t>
            </a:r>
            <a:endParaRPr lang="en-US" sz="1600" dirty="0"/>
          </a:p>
        </p:txBody>
      </p:sp>
      <p:sp>
        <p:nvSpPr>
          <p:cNvPr id="16" name="Text 14"/>
          <p:cNvSpPr/>
          <p:nvPr/>
        </p:nvSpPr>
        <p:spPr>
          <a:xfrm>
            <a:off x="762000" y="3937000"/>
            <a:ext cx="5080000" cy="355600"/>
          </a:xfrm>
          <a:prstGeom prst="rect">
            <a:avLst/>
          </a:prstGeom>
          <a:noFill/>
          <a:ln/>
        </p:spPr>
        <p:txBody>
          <a:bodyPr wrap="none" lIns="0" tIns="0" rIns="0" bIns="0" rtlCol="0" anchor="ctr"/>
          <a:lstStyle/>
          <a:p>
            <a:pPr>
              <a:lnSpc>
                <a:spcPct val="100000"/>
              </a:lnSpc>
            </a:pPr>
            <a:r>
              <a:rPr lang="en-US" sz="1800" dirty="0">
                <a:solidFill>
                  <a:srgbClr val="FFFFFF"/>
                </a:solidFill>
                <a:latin typeface="Liter" pitchFamily="34" charset="0"/>
                <a:ea typeface="Liter" pitchFamily="34" charset="-122"/>
                <a:cs typeface="Liter" pitchFamily="34" charset="-120"/>
              </a:rPr>
              <a:t>CAPACITES D'AUDIT</a:t>
            </a:r>
            <a:endParaRPr lang="en-US" sz="1600" dirty="0"/>
          </a:p>
        </p:txBody>
      </p:sp>
      <p:sp>
        <p:nvSpPr>
          <p:cNvPr id="17" name="Shape 15"/>
          <p:cNvSpPr/>
          <p:nvPr/>
        </p:nvSpPr>
        <p:spPr>
          <a:xfrm>
            <a:off x="762000" y="4356100"/>
            <a:ext cx="14732000" cy="12700"/>
          </a:xfrm>
          <a:prstGeom prst="rect">
            <a:avLst/>
          </a:prstGeom>
          <a:solidFill>
            <a:srgbClr val="333333"/>
          </a:solidFill>
          <a:ln/>
        </p:spPr>
      </p:sp>
      <p:sp>
        <p:nvSpPr>
          <p:cNvPr id="18" name="Shape 16"/>
          <p:cNvSpPr/>
          <p:nvPr/>
        </p:nvSpPr>
        <p:spPr>
          <a:xfrm>
            <a:off x="762000" y="4635500"/>
            <a:ext cx="3429000" cy="2032000"/>
          </a:xfrm>
          <a:prstGeom prst="rect">
            <a:avLst/>
          </a:prstGeom>
          <a:solidFill>
            <a:srgbClr val="1E1E1E"/>
          </a:solidFill>
          <a:ln w="12700">
            <a:solidFill>
              <a:srgbClr val="333333"/>
            </a:solidFill>
            <a:prstDash val="solid"/>
          </a:ln>
        </p:spPr>
      </p:sp>
      <p:sp>
        <p:nvSpPr>
          <p:cNvPr id="19" name="Shape 17"/>
          <p:cNvSpPr/>
          <p:nvPr/>
        </p:nvSpPr>
        <p:spPr>
          <a:xfrm>
            <a:off x="1016000" y="4826000"/>
            <a:ext cx="355600" cy="355600"/>
          </a:xfrm>
          <a:custGeom>
            <a:avLst/>
            <a:gdLst/>
            <a:ahLst/>
            <a:cxnLst/>
            <a:rect l="l" t="t" r="r" b="b"/>
            <a:pathLst>
              <a:path w="355600" h="355600">
                <a:moveTo>
                  <a:pt x="33337" y="177800"/>
                </a:moveTo>
                <a:cubicBezTo>
                  <a:pt x="33337" y="97998"/>
                  <a:pt x="97998" y="33337"/>
                  <a:pt x="177800" y="33337"/>
                </a:cubicBezTo>
                <a:cubicBezTo>
                  <a:pt x="221625" y="33337"/>
                  <a:pt x="260866" y="52854"/>
                  <a:pt x="287397" y="83691"/>
                </a:cubicBezTo>
                <a:cubicBezTo>
                  <a:pt x="293370" y="90706"/>
                  <a:pt x="303927" y="91470"/>
                  <a:pt x="310872" y="85497"/>
                </a:cubicBezTo>
                <a:cubicBezTo>
                  <a:pt x="317818" y="79524"/>
                  <a:pt x="318651" y="68967"/>
                  <a:pt x="312678" y="62022"/>
                </a:cubicBezTo>
                <a:cubicBezTo>
                  <a:pt x="280104" y="24031"/>
                  <a:pt x="231765" y="0"/>
                  <a:pt x="177800" y="0"/>
                </a:cubicBezTo>
                <a:cubicBezTo>
                  <a:pt x="79593" y="0"/>
                  <a:pt x="0" y="79593"/>
                  <a:pt x="0" y="177800"/>
                </a:cubicBezTo>
                <a:lnTo>
                  <a:pt x="0" y="205581"/>
                </a:lnTo>
                <a:cubicBezTo>
                  <a:pt x="0" y="214819"/>
                  <a:pt x="7431" y="222250"/>
                  <a:pt x="16669" y="222250"/>
                </a:cubicBezTo>
                <a:cubicBezTo>
                  <a:pt x="25906" y="222250"/>
                  <a:pt x="33337" y="214819"/>
                  <a:pt x="33337" y="205581"/>
                </a:cubicBezTo>
                <a:lnTo>
                  <a:pt x="33337" y="177800"/>
                </a:lnTo>
                <a:close/>
                <a:moveTo>
                  <a:pt x="351780" y="141059"/>
                </a:moveTo>
                <a:cubicBezTo>
                  <a:pt x="349905" y="132030"/>
                  <a:pt x="341015" y="126266"/>
                  <a:pt x="332055" y="128210"/>
                </a:cubicBezTo>
                <a:cubicBezTo>
                  <a:pt x="323096" y="130155"/>
                  <a:pt x="317262" y="138976"/>
                  <a:pt x="319207" y="147935"/>
                </a:cubicBezTo>
                <a:cubicBezTo>
                  <a:pt x="321221" y="157589"/>
                  <a:pt x="322332" y="167590"/>
                  <a:pt x="322332" y="177869"/>
                </a:cubicBezTo>
                <a:lnTo>
                  <a:pt x="322332" y="205651"/>
                </a:lnTo>
                <a:cubicBezTo>
                  <a:pt x="322332" y="214888"/>
                  <a:pt x="329763" y="222319"/>
                  <a:pt x="339001" y="222319"/>
                </a:cubicBezTo>
                <a:cubicBezTo>
                  <a:pt x="348238" y="222319"/>
                  <a:pt x="355669" y="214888"/>
                  <a:pt x="355669" y="205651"/>
                </a:cubicBezTo>
                <a:lnTo>
                  <a:pt x="355669" y="177869"/>
                </a:lnTo>
                <a:cubicBezTo>
                  <a:pt x="355669" y="165298"/>
                  <a:pt x="354350" y="153005"/>
                  <a:pt x="351850" y="141129"/>
                </a:cubicBezTo>
                <a:close/>
                <a:moveTo>
                  <a:pt x="177800" y="55563"/>
                </a:moveTo>
                <a:cubicBezTo>
                  <a:pt x="164604" y="55563"/>
                  <a:pt x="151825" y="57646"/>
                  <a:pt x="139948" y="61535"/>
                </a:cubicBezTo>
                <a:cubicBezTo>
                  <a:pt x="129391" y="65008"/>
                  <a:pt x="126960" y="77996"/>
                  <a:pt x="134183" y="86469"/>
                </a:cubicBezTo>
                <a:cubicBezTo>
                  <a:pt x="139115" y="92234"/>
                  <a:pt x="147241" y="93970"/>
                  <a:pt x="154603" y="91956"/>
                </a:cubicBezTo>
                <a:cubicBezTo>
                  <a:pt x="161965" y="89942"/>
                  <a:pt x="169743" y="88900"/>
                  <a:pt x="177800" y="88900"/>
                </a:cubicBezTo>
                <a:cubicBezTo>
                  <a:pt x="226903" y="88900"/>
                  <a:pt x="266700" y="128697"/>
                  <a:pt x="266700" y="177800"/>
                </a:cubicBezTo>
                <a:lnTo>
                  <a:pt x="266700" y="195094"/>
                </a:lnTo>
                <a:cubicBezTo>
                  <a:pt x="266700" y="212596"/>
                  <a:pt x="265658" y="230029"/>
                  <a:pt x="263644" y="247392"/>
                </a:cubicBezTo>
                <a:cubicBezTo>
                  <a:pt x="262463" y="257532"/>
                  <a:pt x="270173" y="266700"/>
                  <a:pt x="280452" y="266700"/>
                </a:cubicBezTo>
                <a:cubicBezTo>
                  <a:pt x="288647" y="266700"/>
                  <a:pt x="295662" y="260727"/>
                  <a:pt x="296634" y="252601"/>
                </a:cubicBezTo>
                <a:cubicBezTo>
                  <a:pt x="298926" y="233571"/>
                  <a:pt x="300107" y="214402"/>
                  <a:pt x="300107" y="195163"/>
                </a:cubicBezTo>
                <a:lnTo>
                  <a:pt x="300107" y="177869"/>
                </a:lnTo>
                <a:cubicBezTo>
                  <a:pt x="300107" y="110361"/>
                  <a:pt x="245378" y="55632"/>
                  <a:pt x="177869" y="55632"/>
                </a:cubicBezTo>
                <a:close/>
                <a:moveTo>
                  <a:pt x="104666" y="103277"/>
                </a:moveTo>
                <a:cubicBezTo>
                  <a:pt x="98346" y="95915"/>
                  <a:pt x="87094" y="95359"/>
                  <a:pt x="81121" y="102999"/>
                </a:cubicBezTo>
                <a:cubicBezTo>
                  <a:pt x="65078" y="123696"/>
                  <a:pt x="55562" y="149602"/>
                  <a:pt x="55562" y="177800"/>
                </a:cubicBezTo>
                <a:lnTo>
                  <a:pt x="55562" y="195094"/>
                </a:lnTo>
                <a:cubicBezTo>
                  <a:pt x="55562" y="211901"/>
                  <a:pt x="53757" y="228709"/>
                  <a:pt x="50145" y="245031"/>
                </a:cubicBezTo>
                <a:cubicBezTo>
                  <a:pt x="47784" y="255865"/>
                  <a:pt x="55632" y="266631"/>
                  <a:pt x="66744" y="266631"/>
                </a:cubicBezTo>
                <a:cubicBezTo>
                  <a:pt x="74037" y="266631"/>
                  <a:pt x="80566" y="261769"/>
                  <a:pt x="82163" y="254615"/>
                </a:cubicBezTo>
                <a:cubicBezTo>
                  <a:pt x="86608" y="235099"/>
                  <a:pt x="88900" y="215166"/>
                  <a:pt x="88900" y="195024"/>
                </a:cubicBezTo>
                <a:lnTo>
                  <a:pt x="88900" y="177731"/>
                </a:lnTo>
                <a:cubicBezTo>
                  <a:pt x="88900" y="158839"/>
                  <a:pt x="94804" y="141337"/>
                  <a:pt x="104805" y="126960"/>
                </a:cubicBezTo>
                <a:cubicBezTo>
                  <a:pt x="109805" y="119737"/>
                  <a:pt x="110361" y="109875"/>
                  <a:pt x="104666" y="103207"/>
                </a:cubicBezTo>
                <a:close/>
                <a:moveTo>
                  <a:pt x="177800" y="111125"/>
                </a:moveTo>
                <a:cubicBezTo>
                  <a:pt x="140990" y="111125"/>
                  <a:pt x="111125" y="140990"/>
                  <a:pt x="111125" y="177800"/>
                </a:cubicBezTo>
                <a:lnTo>
                  <a:pt x="111125" y="195094"/>
                </a:lnTo>
                <a:cubicBezTo>
                  <a:pt x="111125" y="220027"/>
                  <a:pt x="107930" y="244753"/>
                  <a:pt x="101540" y="268784"/>
                </a:cubicBezTo>
                <a:cubicBezTo>
                  <a:pt x="98901" y="278715"/>
                  <a:pt x="106194" y="288925"/>
                  <a:pt x="116473" y="288925"/>
                </a:cubicBezTo>
                <a:cubicBezTo>
                  <a:pt x="123071" y="288925"/>
                  <a:pt x="128905" y="284619"/>
                  <a:pt x="130641" y="278229"/>
                </a:cubicBezTo>
                <a:cubicBezTo>
                  <a:pt x="137934" y="251142"/>
                  <a:pt x="141684" y="223222"/>
                  <a:pt x="141684" y="195094"/>
                </a:cubicBezTo>
                <a:lnTo>
                  <a:pt x="141684" y="177800"/>
                </a:lnTo>
                <a:cubicBezTo>
                  <a:pt x="141684" y="157867"/>
                  <a:pt x="157867" y="141684"/>
                  <a:pt x="177800" y="141684"/>
                </a:cubicBezTo>
                <a:cubicBezTo>
                  <a:pt x="197733" y="141684"/>
                  <a:pt x="213916" y="157867"/>
                  <a:pt x="213916" y="177800"/>
                </a:cubicBezTo>
                <a:lnTo>
                  <a:pt x="213916" y="195094"/>
                </a:lnTo>
                <a:cubicBezTo>
                  <a:pt x="213916" y="220305"/>
                  <a:pt x="211485" y="245378"/>
                  <a:pt x="206693" y="270034"/>
                </a:cubicBezTo>
                <a:cubicBezTo>
                  <a:pt x="204817" y="279688"/>
                  <a:pt x="212040" y="288925"/>
                  <a:pt x="221833" y="288925"/>
                </a:cubicBezTo>
                <a:cubicBezTo>
                  <a:pt x="228918" y="288925"/>
                  <a:pt x="235029" y="284063"/>
                  <a:pt x="236418" y="277118"/>
                </a:cubicBezTo>
                <a:cubicBezTo>
                  <a:pt x="241766" y="250170"/>
                  <a:pt x="244475" y="222736"/>
                  <a:pt x="244475" y="195094"/>
                </a:cubicBezTo>
                <a:lnTo>
                  <a:pt x="244475" y="177800"/>
                </a:lnTo>
                <a:cubicBezTo>
                  <a:pt x="244475" y="140990"/>
                  <a:pt x="214610" y="111125"/>
                  <a:pt x="177800" y="111125"/>
                </a:cubicBezTo>
                <a:close/>
                <a:moveTo>
                  <a:pt x="194469" y="177800"/>
                </a:moveTo>
                <a:cubicBezTo>
                  <a:pt x="194469" y="168563"/>
                  <a:pt x="187037" y="161131"/>
                  <a:pt x="177800" y="161131"/>
                </a:cubicBezTo>
                <a:cubicBezTo>
                  <a:pt x="168563" y="161131"/>
                  <a:pt x="161131" y="168563"/>
                  <a:pt x="161131" y="177800"/>
                </a:cubicBezTo>
                <a:lnTo>
                  <a:pt x="161131" y="195094"/>
                </a:lnTo>
                <a:cubicBezTo>
                  <a:pt x="161131" y="236696"/>
                  <a:pt x="153491" y="277951"/>
                  <a:pt x="138559" y="316776"/>
                </a:cubicBezTo>
                <a:lnTo>
                  <a:pt x="134461" y="327402"/>
                </a:lnTo>
                <a:cubicBezTo>
                  <a:pt x="131128" y="336014"/>
                  <a:pt x="135434" y="345668"/>
                  <a:pt x="144046" y="348933"/>
                </a:cubicBezTo>
                <a:cubicBezTo>
                  <a:pt x="152658" y="352197"/>
                  <a:pt x="162312" y="347960"/>
                  <a:pt x="165576" y="339348"/>
                </a:cubicBezTo>
                <a:lnTo>
                  <a:pt x="169674" y="328722"/>
                </a:lnTo>
                <a:cubicBezTo>
                  <a:pt x="186065" y="286077"/>
                  <a:pt x="194469" y="240794"/>
                  <a:pt x="194469" y="195094"/>
                </a:cubicBezTo>
                <a:lnTo>
                  <a:pt x="194469" y="177800"/>
                </a:lnTo>
                <a:close/>
              </a:path>
            </a:pathLst>
          </a:custGeom>
          <a:solidFill>
            <a:srgbClr val="D35400"/>
          </a:solidFill>
          <a:ln/>
        </p:spPr>
      </p:sp>
      <p:sp>
        <p:nvSpPr>
          <p:cNvPr id="20" name="Text 18"/>
          <p:cNvSpPr/>
          <p:nvPr/>
        </p:nvSpPr>
        <p:spPr>
          <a:xfrm>
            <a:off x="1016000" y="5283200"/>
            <a:ext cx="2921000" cy="279400"/>
          </a:xfrm>
          <a:prstGeom prst="rect">
            <a:avLst/>
          </a:prstGeom>
          <a:noFill/>
          <a:ln/>
        </p:spPr>
        <p:txBody>
          <a:bodyPr wrap="none" lIns="0" tIns="0" rIns="0" bIns="0" rtlCol="0" anchor="ctr"/>
          <a:lstStyle/>
          <a:p>
            <a:pPr>
              <a:lnSpc>
                <a:spcPct val="100000"/>
              </a:lnSpc>
            </a:pPr>
            <a:r>
              <a:rPr lang="en-US" sz="1400" dirty="0">
                <a:solidFill>
                  <a:srgbClr val="FFFFFF"/>
                </a:solidFill>
                <a:latin typeface="Liter" pitchFamily="34" charset="0"/>
                <a:ea typeface="Liter" pitchFamily="34" charset="-122"/>
                <a:cs typeface="Liter" pitchFamily="34" charset="-120"/>
              </a:rPr>
              <a:t>JOURNAL IMMUABLE</a:t>
            </a:r>
            <a:endParaRPr lang="en-US" sz="1600" dirty="0"/>
          </a:p>
        </p:txBody>
      </p:sp>
      <p:sp>
        <p:nvSpPr>
          <p:cNvPr id="21" name="Text 19"/>
          <p:cNvSpPr/>
          <p:nvPr/>
        </p:nvSpPr>
        <p:spPr>
          <a:xfrm>
            <a:off x="1016000" y="5613400"/>
            <a:ext cx="2921000" cy="825500"/>
          </a:xfrm>
          <a:prstGeom prst="rect">
            <a:avLst/>
          </a:prstGeom>
          <a:noFill/>
          <a:ln/>
        </p:spPr>
        <p:txBody>
          <a:bodyPr wrap="square" lIns="0" tIns="0" rIns="0" bIns="0" rtlCol="0" anchor="ctr"/>
          <a:lstStyle/>
          <a:p>
            <a:pPr>
              <a:lnSpc>
                <a:spcPct val="150000"/>
              </a:lnSpc>
            </a:pPr>
            <a:r>
              <a:rPr lang="en-US" sz="1300" dirty="0">
                <a:solidFill>
                  <a:srgbClr val="8A8A8A"/>
                </a:solidFill>
                <a:latin typeface="Quattrocento Sans" pitchFamily="34" charset="0"/>
                <a:ea typeface="Quattrocento Sans" pitchFamily="34" charset="-122"/>
                <a:cs typeface="Quattrocento Sans" pitchFamily="34" charset="-120"/>
              </a:rPr>
              <a:t>SHA-256, append-only, IP tracking. Aucune modification possible.</a:t>
            </a:r>
            <a:endParaRPr lang="en-US" sz="1600" dirty="0"/>
          </a:p>
        </p:txBody>
      </p:sp>
      <p:sp>
        <p:nvSpPr>
          <p:cNvPr id="22" name="Shape 20"/>
          <p:cNvSpPr/>
          <p:nvPr/>
        </p:nvSpPr>
        <p:spPr>
          <a:xfrm>
            <a:off x="4445000" y="4635500"/>
            <a:ext cx="3429000" cy="2032000"/>
          </a:xfrm>
          <a:prstGeom prst="rect">
            <a:avLst/>
          </a:prstGeom>
          <a:solidFill>
            <a:srgbClr val="1E1E1E"/>
          </a:solidFill>
          <a:ln w="12700">
            <a:solidFill>
              <a:srgbClr val="333333"/>
            </a:solidFill>
            <a:prstDash val="solid"/>
          </a:ln>
        </p:spPr>
      </p:sp>
      <p:sp>
        <p:nvSpPr>
          <p:cNvPr id="23" name="Shape 21"/>
          <p:cNvSpPr/>
          <p:nvPr/>
        </p:nvSpPr>
        <p:spPr>
          <a:xfrm>
            <a:off x="4676775" y="4826000"/>
            <a:ext cx="400050" cy="355600"/>
          </a:xfrm>
          <a:custGeom>
            <a:avLst/>
            <a:gdLst/>
            <a:ahLst/>
            <a:cxnLst/>
            <a:rect l="l" t="t" r="r" b="b"/>
            <a:pathLst>
              <a:path w="400050" h="355600">
                <a:moveTo>
                  <a:pt x="67022" y="0"/>
                </a:moveTo>
                <a:cubicBezTo>
                  <a:pt x="42505" y="0"/>
                  <a:pt x="22572" y="19933"/>
                  <a:pt x="22572" y="44450"/>
                </a:cubicBezTo>
                <a:lnTo>
                  <a:pt x="22572" y="311150"/>
                </a:lnTo>
                <a:cubicBezTo>
                  <a:pt x="22572" y="335667"/>
                  <a:pt x="42505" y="355600"/>
                  <a:pt x="67022" y="355600"/>
                </a:cubicBezTo>
                <a:lnTo>
                  <a:pt x="244822" y="355600"/>
                </a:lnTo>
                <a:cubicBezTo>
                  <a:pt x="269339" y="355600"/>
                  <a:pt x="289272" y="335667"/>
                  <a:pt x="289272" y="311150"/>
                </a:cubicBezTo>
                <a:lnTo>
                  <a:pt x="289272" y="244475"/>
                </a:lnTo>
                <a:lnTo>
                  <a:pt x="343515" y="244475"/>
                </a:lnTo>
                <a:lnTo>
                  <a:pt x="321985" y="266005"/>
                </a:lnTo>
                <a:cubicBezTo>
                  <a:pt x="315456" y="272534"/>
                  <a:pt x="315456" y="283091"/>
                  <a:pt x="321985" y="289550"/>
                </a:cubicBezTo>
                <a:cubicBezTo>
                  <a:pt x="328513" y="296009"/>
                  <a:pt x="339070" y="296079"/>
                  <a:pt x="345529" y="289550"/>
                </a:cubicBezTo>
                <a:lnTo>
                  <a:pt x="395536" y="239544"/>
                </a:lnTo>
                <a:cubicBezTo>
                  <a:pt x="402064" y="233015"/>
                  <a:pt x="402064" y="222458"/>
                  <a:pt x="395536" y="215999"/>
                </a:cubicBezTo>
                <a:lnTo>
                  <a:pt x="345529" y="165993"/>
                </a:lnTo>
                <a:cubicBezTo>
                  <a:pt x="339001" y="159464"/>
                  <a:pt x="328444" y="159464"/>
                  <a:pt x="321985" y="165993"/>
                </a:cubicBezTo>
                <a:cubicBezTo>
                  <a:pt x="315526" y="172522"/>
                  <a:pt x="315456" y="183078"/>
                  <a:pt x="321985" y="189538"/>
                </a:cubicBezTo>
                <a:lnTo>
                  <a:pt x="343515" y="211068"/>
                </a:lnTo>
                <a:lnTo>
                  <a:pt x="289272" y="211068"/>
                </a:lnTo>
                <a:lnTo>
                  <a:pt x="289272" y="118348"/>
                </a:lnTo>
                <a:cubicBezTo>
                  <a:pt x="289272" y="106541"/>
                  <a:pt x="284619" y="95220"/>
                  <a:pt x="276285" y="86886"/>
                </a:cubicBezTo>
                <a:lnTo>
                  <a:pt x="202248" y="12988"/>
                </a:lnTo>
                <a:cubicBezTo>
                  <a:pt x="193913" y="4653"/>
                  <a:pt x="182662" y="0"/>
                  <a:pt x="170855" y="0"/>
                </a:cubicBezTo>
                <a:lnTo>
                  <a:pt x="67022" y="0"/>
                </a:lnTo>
                <a:close/>
                <a:moveTo>
                  <a:pt x="248642" y="122238"/>
                </a:moveTo>
                <a:lnTo>
                  <a:pt x="183704" y="122238"/>
                </a:lnTo>
                <a:cubicBezTo>
                  <a:pt x="174466" y="122238"/>
                  <a:pt x="167035" y="114806"/>
                  <a:pt x="167035" y="105569"/>
                </a:cubicBezTo>
                <a:lnTo>
                  <a:pt x="167035" y="40630"/>
                </a:lnTo>
                <a:lnTo>
                  <a:pt x="248642" y="122238"/>
                </a:lnTo>
                <a:close/>
                <a:moveTo>
                  <a:pt x="155922" y="227806"/>
                </a:moveTo>
                <a:cubicBezTo>
                  <a:pt x="155922" y="218569"/>
                  <a:pt x="163354" y="211138"/>
                  <a:pt x="172591" y="211138"/>
                </a:cubicBezTo>
                <a:lnTo>
                  <a:pt x="244822" y="211138"/>
                </a:lnTo>
                <a:lnTo>
                  <a:pt x="244822" y="244475"/>
                </a:lnTo>
                <a:lnTo>
                  <a:pt x="172591" y="244475"/>
                </a:lnTo>
                <a:cubicBezTo>
                  <a:pt x="163354" y="244475"/>
                  <a:pt x="155922" y="237044"/>
                  <a:pt x="155922" y="227806"/>
                </a:cubicBezTo>
                <a:close/>
              </a:path>
            </a:pathLst>
          </a:custGeom>
          <a:solidFill>
            <a:srgbClr val="D35400"/>
          </a:solidFill>
          <a:ln/>
        </p:spPr>
      </p:sp>
      <p:sp>
        <p:nvSpPr>
          <p:cNvPr id="24" name="Text 22"/>
          <p:cNvSpPr/>
          <p:nvPr/>
        </p:nvSpPr>
        <p:spPr>
          <a:xfrm>
            <a:off x="4699000" y="5283200"/>
            <a:ext cx="2921000" cy="279400"/>
          </a:xfrm>
          <a:prstGeom prst="rect">
            <a:avLst/>
          </a:prstGeom>
          <a:noFill/>
          <a:ln/>
        </p:spPr>
        <p:txBody>
          <a:bodyPr wrap="none" lIns="0" tIns="0" rIns="0" bIns="0" rtlCol="0" anchor="ctr"/>
          <a:lstStyle/>
          <a:p>
            <a:pPr>
              <a:lnSpc>
                <a:spcPct val="100000"/>
              </a:lnSpc>
            </a:pPr>
            <a:r>
              <a:rPr lang="en-US" sz="1400" dirty="0">
                <a:solidFill>
                  <a:srgbClr val="FFFFFF"/>
                </a:solidFill>
                <a:latin typeface="Liter" pitchFamily="34" charset="0"/>
                <a:ea typeface="Liter" pitchFamily="34" charset="-122"/>
                <a:cs typeface="Liter" pitchFamily="34" charset="-120"/>
              </a:rPr>
              <a:t>EXPORT COBAC</a:t>
            </a:r>
            <a:endParaRPr lang="en-US" sz="1600" dirty="0"/>
          </a:p>
        </p:txBody>
      </p:sp>
      <p:sp>
        <p:nvSpPr>
          <p:cNvPr id="25" name="Text 23"/>
          <p:cNvSpPr/>
          <p:nvPr/>
        </p:nvSpPr>
        <p:spPr>
          <a:xfrm>
            <a:off x="4699000" y="5613400"/>
            <a:ext cx="2921000" cy="825500"/>
          </a:xfrm>
          <a:prstGeom prst="rect">
            <a:avLst/>
          </a:prstGeom>
          <a:noFill/>
          <a:ln/>
        </p:spPr>
        <p:txBody>
          <a:bodyPr wrap="square" lIns="0" tIns="0" rIns="0" bIns="0" rtlCol="0" anchor="ctr"/>
          <a:lstStyle/>
          <a:p>
            <a:pPr>
              <a:lnSpc>
                <a:spcPct val="150000"/>
              </a:lnSpc>
            </a:pPr>
            <a:r>
              <a:rPr lang="en-US" sz="1300" dirty="0">
                <a:solidFill>
                  <a:srgbClr val="8A8A8A"/>
                </a:solidFill>
                <a:latin typeface="Quattrocento Sans" pitchFamily="34" charset="0"/>
                <a:ea typeface="Quattrocento Sans" pitchFamily="34" charset="-122"/>
                <a:cs typeface="Quattrocento Sans" pitchFamily="34" charset="-120"/>
              </a:rPr>
              <a:t>Pack conformite PDF + JSON + Images en un clic.</a:t>
            </a:r>
            <a:endParaRPr lang="en-US" sz="1600" dirty="0"/>
          </a:p>
        </p:txBody>
      </p:sp>
      <p:sp>
        <p:nvSpPr>
          <p:cNvPr id="26" name="Shape 24"/>
          <p:cNvSpPr/>
          <p:nvPr/>
        </p:nvSpPr>
        <p:spPr>
          <a:xfrm>
            <a:off x="8128000" y="4635500"/>
            <a:ext cx="3429000" cy="2032000"/>
          </a:xfrm>
          <a:prstGeom prst="rect">
            <a:avLst/>
          </a:prstGeom>
          <a:solidFill>
            <a:srgbClr val="1E1E1E"/>
          </a:solidFill>
          <a:ln w="12700">
            <a:solidFill>
              <a:srgbClr val="333333"/>
            </a:solidFill>
            <a:prstDash val="solid"/>
          </a:ln>
        </p:spPr>
      </p:sp>
      <p:sp>
        <p:nvSpPr>
          <p:cNvPr id="27" name="Shape 25"/>
          <p:cNvSpPr/>
          <p:nvPr/>
        </p:nvSpPr>
        <p:spPr>
          <a:xfrm>
            <a:off x="8426450" y="4826000"/>
            <a:ext cx="266700" cy="355600"/>
          </a:xfrm>
          <a:custGeom>
            <a:avLst/>
            <a:gdLst/>
            <a:ahLst/>
            <a:cxnLst/>
            <a:rect l="l" t="t" r="r" b="b"/>
            <a:pathLst>
              <a:path w="266700" h="355600">
                <a:moveTo>
                  <a:pt x="88900" y="66675"/>
                </a:moveTo>
                <a:lnTo>
                  <a:pt x="88900" y="111125"/>
                </a:lnTo>
                <a:lnTo>
                  <a:pt x="177800" y="111125"/>
                </a:lnTo>
                <a:lnTo>
                  <a:pt x="177800" y="66675"/>
                </a:lnTo>
                <a:cubicBezTo>
                  <a:pt x="177800" y="42158"/>
                  <a:pt x="157867" y="22225"/>
                  <a:pt x="133350" y="22225"/>
                </a:cubicBezTo>
                <a:cubicBezTo>
                  <a:pt x="108833" y="22225"/>
                  <a:pt x="88900" y="42158"/>
                  <a:pt x="88900" y="66675"/>
                </a:cubicBezTo>
                <a:close/>
                <a:moveTo>
                  <a:pt x="44450" y="111125"/>
                </a:moveTo>
                <a:lnTo>
                  <a:pt x="44450" y="66675"/>
                </a:lnTo>
                <a:cubicBezTo>
                  <a:pt x="44450" y="17572"/>
                  <a:pt x="84247" y="-22225"/>
                  <a:pt x="133350" y="-22225"/>
                </a:cubicBezTo>
                <a:cubicBezTo>
                  <a:pt x="182453" y="-22225"/>
                  <a:pt x="222250" y="17572"/>
                  <a:pt x="222250" y="66675"/>
                </a:cubicBezTo>
                <a:lnTo>
                  <a:pt x="222250" y="111125"/>
                </a:lnTo>
                <a:cubicBezTo>
                  <a:pt x="246767" y="111125"/>
                  <a:pt x="266700" y="131058"/>
                  <a:pt x="266700" y="155575"/>
                </a:cubicBezTo>
                <a:lnTo>
                  <a:pt x="266700" y="311150"/>
                </a:lnTo>
                <a:cubicBezTo>
                  <a:pt x="266700" y="335667"/>
                  <a:pt x="246767" y="355600"/>
                  <a:pt x="222250" y="355600"/>
                </a:cubicBezTo>
                <a:lnTo>
                  <a:pt x="44450" y="355600"/>
                </a:lnTo>
                <a:cubicBezTo>
                  <a:pt x="19933" y="355600"/>
                  <a:pt x="0" y="335667"/>
                  <a:pt x="0" y="311150"/>
                </a:cubicBezTo>
                <a:lnTo>
                  <a:pt x="0" y="155575"/>
                </a:lnTo>
                <a:cubicBezTo>
                  <a:pt x="0" y="131058"/>
                  <a:pt x="19933" y="111125"/>
                  <a:pt x="44450" y="111125"/>
                </a:cubicBezTo>
                <a:close/>
              </a:path>
            </a:pathLst>
          </a:custGeom>
          <a:solidFill>
            <a:srgbClr val="D35400"/>
          </a:solidFill>
          <a:ln/>
        </p:spPr>
      </p:sp>
      <p:sp>
        <p:nvSpPr>
          <p:cNvPr id="28" name="Text 26"/>
          <p:cNvSpPr/>
          <p:nvPr/>
        </p:nvSpPr>
        <p:spPr>
          <a:xfrm>
            <a:off x="8382000" y="5283200"/>
            <a:ext cx="2921000" cy="279400"/>
          </a:xfrm>
          <a:prstGeom prst="rect">
            <a:avLst/>
          </a:prstGeom>
          <a:noFill/>
          <a:ln/>
        </p:spPr>
        <p:txBody>
          <a:bodyPr wrap="none" lIns="0" tIns="0" rIns="0" bIns="0" rtlCol="0" anchor="ctr"/>
          <a:lstStyle/>
          <a:p>
            <a:pPr>
              <a:lnSpc>
                <a:spcPct val="100000"/>
              </a:lnSpc>
            </a:pPr>
            <a:r>
              <a:rPr lang="en-US" sz="1400" dirty="0">
                <a:solidFill>
                  <a:srgbClr val="FFFFFF"/>
                </a:solidFill>
                <a:latin typeface="Liter" pitchFamily="34" charset="0"/>
                <a:ea typeface="Liter" pitchFamily="34" charset="-122"/>
                <a:cs typeface="Liter" pitchFamily="34" charset="-120"/>
              </a:rPr>
              <a:t>CHIFFREMENT FERNET</a:t>
            </a:r>
            <a:endParaRPr lang="en-US" sz="1600" dirty="0"/>
          </a:p>
        </p:txBody>
      </p:sp>
      <p:sp>
        <p:nvSpPr>
          <p:cNvPr id="29" name="Text 27"/>
          <p:cNvSpPr/>
          <p:nvPr/>
        </p:nvSpPr>
        <p:spPr>
          <a:xfrm>
            <a:off x="8382000" y="5613400"/>
            <a:ext cx="2921000" cy="825500"/>
          </a:xfrm>
          <a:prstGeom prst="rect">
            <a:avLst/>
          </a:prstGeom>
          <a:noFill/>
          <a:ln/>
        </p:spPr>
        <p:txBody>
          <a:bodyPr wrap="square" lIns="0" tIns="0" rIns="0" bIns="0" rtlCol="0" anchor="ctr"/>
          <a:lstStyle/>
          <a:p>
            <a:pPr>
              <a:lnSpc>
                <a:spcPct val="150000"/>
              </a:lnSpc>
            </a:pPr>
            <a:r>
              <a:rPr lang="en-US" sz="1300" dirty="0">
                <a:solidFill>
                  <a:srgbClr val="8A8A8A"/>
                </a:solidFill>
                <a:latin typeface="Quattrocento Sans" pitchFamily="34" charset="0"/>
                <a:ea typeface="Quattrocento Sans" pitchFamily="34" charset="-122"/>
                <a:cs typeface="Quattrocento Sans" pitchFamily="34" charset="-120"/>
              </a:rPr>
              <a:t>Chiffrement applicatif + Blind Indexing pour la recherche.</a:t>
            </a:r>
            <a:endParaRPr lang="en-US" sz="1600" dirty="0"/>
          </a:p>
        </p:txBody>
      </p:sp>
      <p:sp>
        <p:nvSpPr>
          <p:cNvPr id="30" name="Shape 28"/>
          <p:cNvSpPr/>
          <p:nvPr/>
        </p:nvSpPr>
        <p:spPr>
          <a:xfrm>
            <a:off x="11811000" y="4635500"/>
            <a:ext cx="3683000" cy="2032000"/>
          </a:xfrm>
          <a:prstGeom prst="rect">
            <a:avLst/>
          </a:prstGeom>
          <a:solidFill>
            <a:srgbClr val="1E1E1E"/>
          </a:solidFill>
          <a:ln w="12700">
            <a:solidFill>
              <a:srgbClr val="333333"/>
            </a:solidFill>
            <a:prstDash val="solid"/>
          </a:ln>
        </p:spPr>
      </p:sp>
      <p:sp>
        <p:nvSpPr>
          <p:cNvPr id="31" name="Shape 29"/>
          <p:cNvSpPr/>
          <p:nvPr/>
        </p:nvSpPr>
        <p:spPr>
          <a:xfrm>
            <a:off x="12020550" y="4826000"/>
            <a:ext cx="444500" cy="355600"/>
          </a:xfrm>
          <a:custGeom>
            <a:avLst/>
            <a:gdLst/>
            <a:ahLst/>
            <a:cxnLst/>
            <a:rect l="l" t="t" r="r" b="b"/>
            <a:pathLst>
              <a:path w="444500" h="355600">
                <a:moveTo>
                  <a:pt x="266700" y="22225"/>
                </a:moveTo>
                <a:lnTo>
                  <a:pt x="355600" y="22225"/>
                </a:lnTo>
                <a:cubicBezTo>
                  <a:pt x="367893" y="22225"/>
                  <a:pt x="377825" y="32157"/>
                  <a:pt x="377825" y="44450"/>
                </a:cubicBezTo>
                <a:cubicBezTo>
                  <a:pt x="377825" y="56743"/>
                  <a:pt x="367893" y="66675"/>
                  <a:pt x="355600" y="66675"/>
                </a:cubicBezTo>
                <a:lnTo>
                  <a:pt x="276701" y="66675"/>
                </a:lnTo>
                <a:cubicBezTo>
                  <a:pt x="273090" y="84594"/>
                  <a:pt x="260796" y="99387"/>
                  <a:pt x="244475" y="106472"/>
                </a:cubicBezTo>
                <a:lnTo>
                  <a:pt x="244475" y="311150"/>
                </a:lnTo>
                <a:lnTo>
                  <a:pt x="355600" y="311150"/>
                </a:lnTo>
                <a:cubicBezTo>
                  <a:pt x="367893" y="311150"/>
                  <a:pt x="377825" y="321082"/>
                  <a:pt x="377825" y="333375"/>
                </a:cubicBezTo>
                <a:cubicBezTo>
                  <a:pt x="377825" y="345668"/>
                  <a:pt x="367893" y="355600"/>
                  <a:pt x="355600" y="355600"/>
                </a:cubicBezTo>
                <a:lnTo>
                  <a:pt x="88900" y="355600"/>
                </a:lnTo>
                <a:cubicBezTo>
                  <a:pt x="76607" y="355600"/>
                  <a:pt x="66675" y="345668"/>
                  <a:pt x="66675" y="333375"/>
                </a:cubicBezTo>
                <a:cubicBezTo>
                  <a:pt x="66675" y="321082"/>
                  <a:pt x="76607" y="311150"/>
                  <a:pt x="88900" y="311150"/>
                </a:cubicBezTo>
                <a:lnTo>
                  <a:pt x="200025" y="311150"/>
                </a:lnTo>
                <a:lnTo>
                  <a:pt x="200025" y="106472"/>
                </a:lnTo>
                <a:cubicBezTo>
                  <a:pt x="183704" y="99318"/>
                  <a:pt x="171410" y="84524"/>
                  <a:pt x="167799" y="66675"/>
                </a:cubicBezTo>
                <a:lnTo>
                  <a:pt x="88900" y="66675"/>
                </a:lnTo>
                <a:cubicBezTo>
                  <a:pt x="76607" y="66675"/>
                  <a:pt x="66675" y="56743"/>
                  <a:pt x="66675" y="44450"/>
                </a:cubicBezTo>
                <a:cubicBezTo>
                  <a:pt x="66675" y="32157"/>
                  <a:pt x="76607" y="22225"/>
                  <a:pt x="88900" y="22225"/>
                </a:cubicBezTo>
                <a:lnTo>
                  <a:pt x="177800" y="22225"/>
                </a:lnTo>
                <a:cubicBezTo>
                  <a:pt x="187940" y="8751"/>
                  <a:pt x="204053" y="0"/>
                  <a:pt x="222250" y="0"/>
                </a:cubicBezTo>
                <a:cubicBezTo>
                  <a:pt x="240447" y="0"/>
                  <a:pt x="256560" y="8751"/>
                  <a:pt x="266700" y="22225"/>
                </a:cubicBezTo>
                <a:close/>
                <a:moveTo>
                  <a:pt x="305316" y="222250"/>
                </a:moveTo>
                <a:lnTo>
                  <a:pt x="405884" y="222250"/>
                </a:lnTo>
                <a:lnTo>
                  <a:pt x="355600" y="135989"/>
                </a:lnTo>
                <a:lnTo>
                  <a:pt x="305316" y="222250"/>
                </a:lnTo>
                <a:close/>
                <a:moveTo>
                  <a:pt x="355600" y="288925"/>
                </a:moveTo>
                <a:cubicBezTo>
                  <a:pt x="311914" y="288925"/>
                  <a:pt x="275590" y="265311"/>
                  <a:pt x="268089" y="234126"/>
                </a:cubicBezTo>
                <a:cubicBezTo>
                  <a:pt x="266283" y="226487"/>
                  <a:pt x="268784" y="218638"/>
                  <a:pt x="272742" y="211832"/>
                </a:cubicBezTo>
                <a:lnTo>
                  <a:pt x="338862" y="98485"/>
                </a:lnTo>
                <a:cubicBezTo>
                  <a:pt x="342334" y="92512"/>
                  <a:pt x="348724" y="88900"/>
                  <a:pt x="355600" y="88900"/>
                </a:cubicBezTo>
                <a:cubicBezTo>
                  <a:pt x="362476" y="88900"/>
                  <a:pt x="368866" y="92581"/>
                  <a:pt x="372338" y="98485"/>
                </a:cubicBezTo>
                <a:lnTo>
                  <a:pt x="438458" y="211832"/>
                </a:lnTo>
                <a:cubicBezTo>
                  <a:pt x="442416" y="218638"/>
                  <a:pt x="444917" y="226487"/>
                  <a:pt x="443111" y="234126"/>
                </a:cubicBezTo>
                <a:cubicBezTo>
                  <a:pt x="435610" y="265241"/>
                  <a:pt x="399286" y="288925"/>
                  <a:pt x="355600" y="288925"/>
                </a:cubicBezTo>
                <a:close/>
                <a:moveTo>
                  <a:pt x="88067" y="135989"/>
                </a:moveTo>
                <a:lnTo>
                  <a:pt x="37783" y="222250"/>
                </a:lnTo>
                <a:lnTo>
                  <a:pt x="138420" y="222250"/>
                </a:lnTo>
                <a:lnTo>
                  <a:pt x="88067" y="135989"/>
                </a:lnTo>
                <a:close/>
                <a:moveTo>
                  <a:pt x="625" y="234126"/>
                </a:moveTo>
                <a:cubicBezTo>
                  <a:pt x="-1181" y="226487"/>
                  <a:pt x="1320" y="218638"/>
                  <a:pt x="5278" y="211832"/>
                </a:cubicBezTo>
                <a:lnTo>
                  <a:pt x="71398" y="98485"/>
                </a:lnTo>
                <a:cubicBezTo>
                  <a:pt x="74870" y="92512"/>
                  <a:pt x="81260" y="88900"/>
                  <a:pt x="88136" y="88900"/>
                </a:cubicBezTo>
                <a:cubicBezTo>
                  <a:pt x="95012" y="88900"/>
                  <a:pt x="101402" y="92581"/>
                  <a:pt x="104874" y="98485"/>
                </a:cubicBezTo>
                <a:lnTo>
                  <a:pt x="170994" y="211832"/>
                </a:lnTo>
                <a:cubicBezTo>
                  <a:pt x="174952" y="218638"/>
                  <a:pt x="177453" y="226487"/>
                  <a:pt x="175647" y="234126"/>
                </a:cubicBezTo>
                <a:cubicBezTo>
                  <a:pt x="168146" y="265241"/>
                  <a:pt x="131822" y="288925"/>
                  <a:pt x="88136" y="288925"/>
                </a:cubicBezTo>
                <a:cubicBezTo>
                  <a:pt x="44450" y="288925"/>
                  <a:pt x="8126" y="265311"/>
                  <a:pt x="625" y="234126"/>
                </a:cubicBezTo>
                <a:close/>
              </a:path>
            </a:pathLst>
          </a:custGeom>
          <a:solidFill>
            <a:srgbClr val="D35400"/>
          </a:solidFill>
          <a:ln/>
        </p:spPr>
      </p:sp>
      <p:sp>
        <p:nvSpPr>
          <p:cNvPr id="32" name="Text 30"/>
          <p:cNvSpPr/>
          <p:nvPr/>
        </p:nvSpPr>
        <p:spPr>
          <a:xfrm>
            <a:off x="12065000" y="5283200"/>
            <a:ext cx="3175000" cy="279400"/>
          </a:xfrm>
          <a:prstGeom prst="rect">
            <a:avLst/>
          </a:prstGeom>
          <a:noFill/>
          <a:ln/>
        </p:spPr>
        <p:txBody>
          <a:bodyPr wrap="none" lIns="0" tIns="0" rIns="0" bIns="0" rtlCol="0" anchor="ctr"/>
          <a:lstStyle/>
          <a:p>
            <a:pPr>
              <a:lnSpc>
                <a:spcPct val="100000"/>
              </a:lnSpc>
            </a:pPr>
            <a:r>
              <a:rPr lang="en-US" sz="1400" dirty="0">
                <a:solidFill>
                  <a:srgbClr val="FFFFFF"/>
                </a:solidFill>
                <a:latin typeface="Liter" pitchFamily="34" charset="0"/>
                <a:ea typeface="Liter" pitchFamily="34" charset="-122"/>
                <a:cs typeface="Liter" pitchFamily="34" charset="-120"/>
              </a:rPr>
              <a:t>LOI 2024-017</a:t>
            </a:r>
            <a:endParaRPr lang="en-US" sz="1600" dirty="0"/>
          </a:p>
        </p:txBody>
      </p:sp>
      <p:sp>
        <p:nvSpPr>
          <p:cNvPr id="33" name="Text 31"/>
          <p:cNvSpPr/>
          <p:nvPr/>
        </p:nvSpPr>
        <p:spPr>
          <a:xfrm>
            <a:off x="12065000" y="5613400"/>
            <a:ext cx="3175000" cy="825500"/>
          </a:xfrm>
          <a:prstGeom prst="rect">
            <a:avLst/>
          </a:prstGeom>
          <a:noFill/>
          <a:ln/>
        </p:spPr>
        <p:txBody>
          <a:bodyPr wrap="square" lIns="0" tIns="0" rIns="0" bIns="0" rtlCol="0" anchor="ctr"/>
          <a:lstStyle/>
          <a:p>
            <a:pPr>
              <a:lnSpc>
                <a:spcPct val="150000"/>
              </a:lnSpc>
            </a:pPr>
            <a:r>
              <a:rPr lang="en-US" sz="1300" dirty="0">
                <a:solidFill>
                  <a:srgbClr val="8A8A8A"/>
                </a:solidFill>
                <a:latin typeface="Quattrocento Sans" pitchFamily="34" charset="0"/>
                <a:ea typeface="Quattrocento Sans" pitchFamily="34" charset="-122"/>
                <a:cs typeface="Quattrocento Sans" pitchFamily="34" charset="-120"/>
              </a:rPr>
              <a:t>Consentement, minimisation, souverainete des donnees.</a:t>
            </a:r>
            <a:endParaRPr lang="en-US" sz="1600" dirty="0"/>
          </a:p>
        </p:txBody>
      </p:sp>
      <p:sp>
        <p:nvSpPr>
          <p:cNvPr id="34" name="Shape 32"/>
          <p:cNvSpPr/>
          <p:nvPr/>
        </p:nvSpPr>
        <p:spPr>
          <a:xfrm>
            <a:off x="762000" y="7048500"/>
            <a:ext cx="14732000" cy="1016000"/>
          </a:xfrm>
          <a:prstGeom prst="rect">
            <a:avLst/>
          </a:prstGeom>
          <a:solidFill>
            <a:srgbClr val="D35400"/>
          </a:solidFill>
          <a:ln/>
        </p:spPr>
      </p:sp>
      <p:sp>
        <p:nvSpPr>
          <p:cNvPr id="35" name="Shape 33"/>
          <p:cNvSpPr/>
          <p:nvPr/>
        </p:nvSpPr>
        <p:spPr>
          <a:xfrm>
            <a:off x="1050925" y="7264400"/>
            <a:ext cx="514350" cy="457200"/>
          </a:xfrm>
          <a:custGeom>
            <a:avLst/>
            <a:gdLst/>
            <a:ahLst/>
            <a:cxnLst/>
            <a:rect l="l" t="t" r="r" b="b"/>
            <a:pathLst>
              <a:path w="514350" h="457200">
                <a:moveTo>
                  <a:pt x="257175" y="28575"/>
                </a:moveTo>
                <a:cubicBezTo>
                  <a:pt x="185023" y="28575"/>
                  <a:pt x="127248" y="61436"/>
                  <a:pt x="85189" y="100548"/>
                </a:cubicBezTo>
                <a:cubicBezTo>
                  <a:pt x="43398" y="139392"/>
                  <a:pt x="15448" y="185738"/>
                  <a:pt x="2143" y="217616"/>
                </a:cubicBezTo>
                <a:cubicBezTo>
                  <a:pt x="-804" y="224671"/>
                  <a:pt x="-804" y="232529"/>
                  <a:pt x="2143" y="239584"/>
                </a:cubicBezTo>
                <a:cubicBezTo>
                  <a:pt x="15448" y="271463"/>
                  <a:pt x="43398" y="317897"/>
                  <a:pt x="85189" y="356652"/>
                </a:cubicBezTo>
                <a:cubicBezTo>
                  <a:pt x="127248" y="395674"/>
                  <a:pt x="185023" y="428625"/>
                  <a:pt x="257175" y="428625"/>
                </a:cubicBezTo>
                <a:cubicBezTo>
                  <a:pt x="329327" y="428625"/>
                  <a:pt x="387102" y="395764"/>
                  <a:pt x="429161" y="356652"/>
                </a:cubicBezTo>
                <a:cubicBezTo>
                  <a:pt x="470952" y="317808"/>
                  <a:pt x="498902" y="271463"/>
                  <a:pt x="512207" y="239584"/>
                </a:cubicBezTo>
                <a:cubicBezTo>
                  <a:pt x="515154" y="232529"/>
                  <a:pt x="515154" y="224671"/>
                  <a:pt x="512207" y="217616"/>
                </a:cubicBezTo>
                <a:cubicBezTo>
                  <a:pt x="498902" y="185737"/>
                  <a:pt x="470952" y="139303"/>
                  <a:pt x="429161" y="100548"/>
                </a:cubicBezTo>
                <a:cubicBezTo>
                  <a:pt x="387102" y="61526"/>
                  <a:pt x="329327" y="28575"/>
                  <a:pt x="257175" y="28575"/>
                </a:cubicBezTo>
                <a:close/>
                <a:moveTo>
                  <a:pt x="128588" y="228600"/>
                </a:moveTo>
                <a:cubicBezTo>
                  <a:pt x="128588" y="157631"/>
                  <a:pt x="186206" y="100013"/>
                  <a:pt x="257175" y="100013"/>
                </a:cubicBezTo>
                <a:cubicBezTo>
                  <a:pt x="328144" y="100013"/>
                  <a:pt x="385763" y="157631"/>
                  <a:pt x="385763" y="228600"/>
                </a:cubicBezTo>
                <a:cubicBezTo>
                  <a:pt x="385763" y="299569"/>
                  <a:pt x="328144" y="357188"/>
                  <a:pt x="257175" y="357188"/>
                </a:cubicBezTo>
                <a:cubicBezTo>
                  <a:pt x="186206" y="357188"/>
                  <a:pt x="128588" y="299569"/>
                  <a:pt x="128588" y="228600"/>
                </a:cubicBezTo>
                <a:close/>
                <a:moveTo>
                  <a:pt x="257175" y="171450"/>
                </a:moveTo>
                <a:cubicBezTo>
                  <a:pt x="257175" y="202972"/>
                  <a:pt x="231547" y="228600"/>
                  <a:pt x="200025" y="228600"/>
                </a:cubicBezTo>
                <a:cubicBezTo>
                  <a:pt x="189756" y="228600"/>
                  <a:pt x="180112" y="225921"/>
                  <a:pt x="171718" y="221099"/>
                </a:cubicBezTo>
                <a:cubicBezTo>
                  <a:pt x="170825" y="230832"/>
                  <a:pt x="171629" y="240834"/>
                  <a:pt x="174308" y="250746"/>
                </a:cubicBezTo>
                <a:cubicBezTo>
                  <a:pt x="186541" y="296466"/>
                  <a:pt x="233601" y="323612"/>
                  <a:pt x="279321" y="311378"/>
                </a:cubicBezTo>
                <a:cubicBezTo>
                  <a:pt x="325041" y="299145"/>
                  <a:pt x="352187" y="252085"/>
                  <a:pt x="339953" y="206365"/>
                </a:cubicBezTo>
                <a:cubicBezTo>
                  <a:pt x="329059" y="165556"/>
                  <a:pt x="290393" y="139571"/>
                  <a:pt x="249674" y="143143"/>
                </a:cubicBezTo>
                <a:cubicBezTo>
                  <a:pt x="254407" y="151448"/>
                  <a:pt x="257175" y="161092"/>
                  <a:pt x="257175" y="171450"/>
                </a:cubicBezTo>
                <a:close/>
              </a:path>
            </a:pathLst>
          </a:custGeom>
          <a:solidFill>
            <a:srgbClr val="FFFFFF"/>
          </a:solidFill>
          <a:ln/>
        </p:spPr>
      </p:sp>
      <p:sp>
        <p:nvSpPr>
          <p:cNvPr id="36" name="Text 34"/>
          <p:cNvSpPr/>
          <p:nvPr/>
        </p:nvSpPr>
        <p:spPr>
          <a:xfrm>
            <a:off x="1778000" y="7175500"/>
            <a:ext cx="13335000" cy="762000"/>
          </a:xfrm>
          <a:prstGeom prst="rect">
            <a:avLst/>
          </a:prstGeom>
          <a:noFill/>
          <a:ln/>
        </p:spPr>
        <p:txBody>
          <a:bodyPr wrap="square" lIns="0" tIns="0" rIns="0" bIns="0" rtlCol="0" anchor="ctr"/>
          <a:lstStyle/>
          <a:p>
            <a:pPr>
              <a:lnSpc>
                <a:spcPct val="140000"/>
              </a:lnSpc>
            </a:pPr>
            <a:r>
              <a:rPr lang="en-US" sz="1800" b="1" dirty="0">
                <a:solidFill>
                  <a:srgbClr val="FFFFFF"/>
                </a:solidFill>
                <a:latin typeface="Quattrocento Sans" pitchFamily="34" charset="0"/>
                <a:ea typeface="Quattrocento Sans" pitchFamily="34" charset="-122"/>
                <a:cs typeface="Quattrocento Sans" pitchFamily="34" charset="-120"/>
              </a:rPr>
              <a:t>Traçabilite complete</a:t>
            </a:r>
            <a:pPr>
              <a:lnSpc>
                <a:spcPct val="140000"/>
              </a:lnSpc>
            </a:pPr>
            <a:r>
              <a:rPr lang="en-US" sz="1800" dirty="0">
                <a:solidFill>
                  <a:srgbClr val="FFFFFF"/>
                </a:solidFill>
                <a:latin typeface="Quattrocento Sans" pitchFamily="34" charset="0"/>
                <a:ea typeface="Quattrocento Sans" pitchFamily="34" charset="-122"/>
                <a:cs typeface="Quattrocento Sans" pitchFamily="34" charset="-120"/>
              </a:rPr>
              <a:t> : qui a vu quoi, qui a decide quoi, a quel moment, depuis quelle IP.</a:t>
            </a:r>
            <a:endParaRPr lang="en-US" sz="1600" dirty="0"/>
          </a:p>
        </p:txBody>
      </p:sp>
      <p:sp>
        <p:nvSpPr>
          <p:cNvPr id="37" name="Text 35"/>
          <p:cNvSpPr/>
          <p:nvPr/>
        </p:nvSpPr>
        <p:spPr>
          <a:xfrm>
            <a:off x="14986000" y="8636000"/>
            <a:ext cx="762000" cy="254000"/>
          </a:xfrm>
          <a:prstGeom prst="rect">
            <a:avLst/>
          </a:prstGeom>
          <a:noFill/>
          <a:ln/>
        </p:spPr>
        <p:txBody>
          <a:bodyPr wrap="none" lIns="0" tIns="0" rIns="0" bIns="0" rtlCol="0" anchor="ctr"/>
          <a:lstStyle/>
          <a:p>
            <a:pPr algn="r">
              <a:lnSpc>
                <a:spcPct val="140000"/>
              </a:lnSpc>
            </a:pPr>
            <a:r>
              <a:rPr lang="en-US" sz="1200" dirty="0">
                <a:solidFill>
                  <a:srgbClr val="8A8A8A"/>
                </a:solidFill>
                <a:latin typeface="QuattrocentoSans" pitchFamily="34" charset="0"/>
                <a:ea typeface="QuattrocentoSans" pitchFamily="34" charset="-122"/>
                <a:cs typeface="QuattrocentoSans" pitchFamily="34" charset="-120"/>
              </a:rPr>
              <a:t>12</a:t>
            </a:r>
            <a:endParaRPr lang="en-US" sz="1200" dirty="0"/>
          </a:p>
        </p:txBody>
      </p:sp>
    </p:spTree>
  </p:cSld>
  <p:clrMapOvr>
    <a:masterClrMapping/>
  </p:clrMapOvr>
  <p:transition>
    <p:fade/>
    <p:spd val="med"/>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0EB"/>
        </a:solidFill>
      </p:bgPr>
    </p:bg>
    <p:spTree>
      <p:nvGrpSpPr>
        <p:cNvPr id="1" name=""/>
        <p:cNvGrpSpPr/>
        <p:nvPr/>
      </p:nvGrpSpPr>
      <p:grpSpPr>
        <a:xfrm>
          <a:off x="0" y="0"/>
          <a:ext cx="0" cy="0"/>
          <a:chOff x="0" y="0"/>
          <a:chExt cx="0" cy="0"/>
        </a:xfrm>
      </p:grpSpPr>
      <p:sp>
        <p:nvSpPr>
          <p:cNvPr id="2" name="Shape 0"/>
          <p:cNvSpPr/>
          <p:nvPr/>
        </p:nvSpPr>
        <p:spPr>
          <a:xfrm>
            <a:off x="762000" y="635000"/>
            <a:ext cx="508000" cy="50800"/>
          </a:xfrm>
          <a:prstGeom prst="rect">
            <a:avLst/>
          </a:prstGeom>
          <a:solidFill>
            <a:srgbClr val="D35400"/>
          </a:solidFill>
          <a:ln/>
        </p:spPr>
      </p:sp>
      <p:sp>
        <p:nvSpPr>
          <p:cNvPr id="3" name="Text 1"/>
          <p:cNvSpPr/>
          <p:nvPr/>
        </p:nvSpPr>
        <p:spPr>
          <a:xfrm>
            <a:off x="762000" y="825500"/>
            <a:ext cx="2540000" cy="254000"/>
          </a:xfrm>
          <a:prstGeom prst="rect">
            <a:avLst/>
          </a:prstGeom>
          <a:noFill/>
          <a:ln/>
        </p:spPr>
        <p:txBody>
          <a:bodyPr wrap="none" lIns="0" tIns="0" rIns="0" bIns="0" rtlCol="0" anchor="ctr"/>
          <a:lstStyle/>
          <a:p>
            <a:pPr>
              <a:lnSpc>
                <a:spcPct val="120000"/>
              </a:lnSpc>
            </a:pPr>
            <a:r>
              <a:rPr lang="en-US" sz="1200" spc="200" kern="0" dirty="0">
                <a:solidFill>
                  <a:srgbClr val="D35400"/>
                </a:solidFill>
                <a:latin typeface="Liter" pitchFamily="34" charset="0"/>
                <a:ea typeface="Liter" pitchFamily="34" charset="-122"/>
                <a:cs typeface="Liter" pitchFamily="34" charset="-120"/>
              </a:rPr>
              <a:t>LA PREUVE</a:t>
            </a:r>
            <a:endParaRPr lang="en-US" sz="1200" dirty="0"/>
          </a:p>
        </p:txBody>
      </p:sp>
      <p:sp>
        <p:nvSpPr>
          <p:cNvPr id="4" name="Text 2"/>
          <p:cNvSpPr/>
          <p:nvPr/>
        </p:nvSpPr>
        <p:spPr>
          <a:xfrm>
            <a:off x="762000" y="1206500"/>
            <a:ext cx="10160000" cy="571500"/>
          </a:xfrm>
          <a:prstGeom prst="rect">
            <a:avLst/>
          </a:prstGeom>
          <a:noFill/>
          <a:ln/>
        </p:spPr>
        <p:txBody>
          <a:bodyPr wrap="none" lIns="0" tIns="0" rIns="0" bIns="0" rtlCol="0" anchor="ctr"/>
          <a:lstStyle/>
          <a:p>
            <a:pPr>
              <a:lnSpc>
                <a:spcPct val="130000"/>
              </a:lnSpc>
            </a:pPr>
            <a:r>
              <a:rPr lang="en-US" sz="3000" dirty="0">
                <a:solidFill>
                  <a:srgbClr val="1A1A1A"/>
                </a:solidFill>
                <a:latin typeface="Liter" pitchFamily="34" charset="0"/>
                <a:ea typeface="Liter" pitchFamily="34" charset="-122"/>
                <a:cs typeface="Liter" pitchFamily="34" charset="-120"/>
              </a:rPr>
              <a:t>Pilotage manager : Sylvie voit tout, en temps reel</a:t>
            </a:r>
            <a:endParaRPr lang="en-US" sz="3000" dirty="0"/>
          </a:p>
        </p:txBody>
      </p:sp>
      <p:sp>
        <p:nvSpPr>
          <p:cNvPr id="5" name="Shape 3"/>
          <p:cNvSpPr/>
          <p:nvPr/>
        </p:nvSpPr>
        <p:spPr>
          <a:xfrm>
            <a:off x="762000" y="2095500"/>
            <a:ext cx="8890000" cy="5969000"/>
          </a:xfrm>
          <a:prstGeom prst="rect">
            <a:avLst/>
          </a:prstGeom>
          <a:solidFill>
            <a:srgbClr val="1E1E1E"/>
          </a:solidFill>
          <a:ln w="12700">
            <a:solidFill>
              <a:srgbClr val="333333"/>
            </a:solidFill>
            <a:prstDash val="solid"/>
          </a:ln>
        </p:spPr>
      </p:sp>
      <p:sp>
        <p:nvSpPr>
          <p:cNvPr id="6" name="Text 4"/>
          <p:cNvSpPr/>
          <p:nvPr/>
        </p:nvSpPr>
        <p:spPr>
          <a:xfrm>
            <a:off x="1016000" y="2286000"/>
            <a:ext cx="5080000" cy="355600"/>
          </a:xfrm>
          <a:prstGeom prst="rect">
            <a:avLst/>
          </a:prstGeom>
          <a:noFill/>
          <a:ln/>
        </p:spPr>
        <p:txBody>
          <a:bodyPr wrap="none" lIns="0" tIns="0" rIns="0" bIns="0" rtlCol="0" anchor="ctr"/>
          <a:lstStyle/>
          <a:p>
            <a:pPr>
              <a:lnSpc>
                <a:spcPct val="100000"/>
              </a:lnSpc>
            </a:pPr>
            <a:r>
              <a:rPr lang="en-US" sz="1800" dirty="0">
                <a:solidFill>
                  <a:srgbClr val="FFFFFF"/>
                </a:solidFill>
                <a:latin typeface="Liter" pitchFamily="34" charset="0"/>
                <a:ea typeface="Liter" pitchFamily="34" charset="-122"/>
                <a:cs typeface="Liter" pitchFamily="34" charset="-120"/>
              </a:rPr>
              <a:t>COMMAND CENTER - DASHBOARD R/Y/G</a:t>
            </a:r>
            <a:endParaRPr lang="en-US" sz="1600" dirty="0"/>
          </a:p>
        </p:txBody>
      </p:sp>
      <p:sp>
        <p:nvSpPr>
          <p:cNvPr id="7" name="Shape 5"/>
          <p:cNvSpPr/>
          <p:nvPr/>
        </p:nvSpPr>
        <p:spPr>
          <a:xfrm>
            <a:off x="1016000" y="2857500"/>
            <a:ext cx="2540000" cy="1016000"/>
          </a:xfrm>
          <a:prstGeom prst="rect">
            <a:avLst/>
          </a:prstGeom>
          <a:solidFill>
            <a:srgbClr val="E74C3C">
              <a:alpha val="13333"/>
            </a:srgbClr>
          </a:solidFill>
          <a:ln w="12700">
            <a:solidFill>
              <a:srgbClr val="E74C3C">
                <a:alpha val="33333"/>
              </a:srgbClr>
            </a:solidFill>
            <a:prstDash val="solid"/>
          </a:ln>
        </p:spPr>
      </p:sp>
      <p:sp>
        <p:nvSpPr>
          <p:cNvPr id="8" name="Shape 6"/>
          <p:cNvSpPr/>
          <p:nvPr/>
        </p:nvSpPr>
        <p:spPr>
          <a:xfrm>
            <a:off x="1206500" y="3048000"/>
            <a:ext cx="203200" cy="203200"/>
          </a:xfrm>
          <a:prstGeom prst="ellipse">
            <a:avLst/>
          </a:prstGeom>
          <a:solidFill>
            <a:srgbClr val="E74C3C"/>
          </a:solidFill>
          <a:ln/>
        </p:spPr>
      </p:sp>
      <p:sp>
        <p:nvSpPr>
          <p:cNvPr id="9" name="Text 7"/>
          <p:cNvSpPr/>
          <p:nvPr/>
        </p:nvSpPr>
        <p:spPr>
          <a:xfrm>
            <a:off x="1524000" y="3022600"/>
            <a:ext cx="1778000" cy="254000"/>
          </a:xfrm>
          <a:prstGeom prst="rect">
            <a:avLst/>
          </a:prstGeom>
          <a:noFill/>
          <a:ln/>
        </p:spPr>
        <p:txBody>
          <a:bodyPr wrap="none" lIns="0" tIns="0" rIns="0" bIns="0" rtlCol="0" anchor="ctr"/>
          <a:lstStyle/>
          <a:p>
            <a:pPr>
              <a:lnSpc>
                <a:spcPct val="100000"/>
              </a:lnSpc>
            </a:pPr>
            <a:r>
              <a:rPr lang="en-US" sz="1400" dirty="0">
                <a:solidFill>
                  <a:srgbClr val="E74C3C"/>
                </a:solidFill>
                <a:latin typeface="Liter" pitchFamily="34" charset="0"/>
                <a:ea typeface="Liter" pitchFamily="34" charset="-122"/>
                <a:cs typeface="Liter" pitchFamily="34" charset="-120"/>
              </a:rPr>
              <a:t>RED - ACTION</a:t>
            </a:r>
            <a:endParaRPr lang="en-US" sz="1600" dirty="0"/>
          </a:p>
        </p:txBody>
      </p:sp>
      <p:sp>
        <p:nvSpPr>
          <p:cNvPr id="10" name="Text 8"/>
          <p:cNvSpPr/>
          <p:nvPr/>
        </p:nvSpPr>
        <p:spPr>
          <a:xfrm>
            <a:off x="1206500" y="3365500"/>
            <a:ext cx="2159000" cy="381000"/>
          </a:xfrm>
          <a:prstGeom prst="rect">
            <a:avLst/>
          </a:prstGeom>
          <a:noFill/>
          <a:ln/>
        </p:spPr>
        <p:txBody>
          <a:bodyPr wrap="square" lIns="0" tIns="0" rIns="0" bIns="0" rtlCol="0" anchor="ctr"/>
          <a:lstStyle/>
          <a:p>
            <a:pPr>
              <a:lnSpc>
                <a:spcPct val="130000"/>
              </a:lnSpc>
            </a:pPr>
            <a:r>
              <a:rPr lang="en-US" sz="1100" dirty="0">
                <a:solidFill>
                  <a:srgbClr val="8A8A8A"/>
                </a:solidFill>
                <a:latin typeface="Quattrocento Sans" pitchFamily="34" charset="0"/>
                <a:ea typeface="Quattrocento Sans" pitchFamily="34" charset="-122"/>
                <a:cs typeface="Quattrocento Sans" pitchFamily="34" charset="-120"/>
              </a:rPr>
              <a:t>Dossiers &gt; 2h SLA, fraud alerts</a:t>
            </a:r>
            <a:endParaRPr lang="en-US" sz="1600" dirty="0"/>
          </a:p>
        </p:txBody>
      </p:sp>
      <p:sp>
        <p:nvSpPr>
          <p:cNvPr id="11" name="Shape 9"/>
          <p:cNvSpPr/>
          <p:nvPr/>
        </p:nvSpPr>
        <p:spPr>
          <a:xfrm>
            <a:off x="3810000" y="2857500"/>
            <a:ext cx="2540000" cy="1016000"/>
          </a:xfrm>
          <a:prstGeom prst="rect">
            <a:avLst/>
          </a:prstGeom>
          <a:solidFill>
            <a:srgbClr val="F39C12">
              <a:alpha val="13333"/>
            </a:srgbClr>
          </a:solidFill>
          <a:ln w="12700">
            <a:solidFill>
              <a:srgbClr val="F39C12">
                <a:alpha val="33333"/>
              </a:srgbClr>
            </a:solidFill>
            <a:prstDash val="solid"/>
          </a:ln>
        </p:spPr>
      </p:sp>
      <p:sp>
        <p:nvSpPr>
          <p:cNvPr id="12" name="Shape 10"/>
          <p:cNvSpPr/>
          <p:nvPr/>
        </p:nvSpPr>
        <p:spPr>
          <a:xfrm>
            <a:off x="4000500" y="3048000"/>
            <a:ext cx="203200" cy="203200"/>
          </a:xfrm>
          <a:prstGeom prst="ellipse">
            <a:avLst/>
          </a:prstGeom>
          <a:solidFill>
            <a:srgbClr val="F39C12"/>
          </a:solidFill>
          <a:ln/>
        </p:spPr>
      </p:sp>
      <p:sp>
        <p:nvSpPr>
          <p:cNvPr id="13" name="Text 11"/>
          <p:cNvSpPr/>
          <p:nvPr/>
        </p:nvSpPr>
        <p:spPr>
          <a:xfrm>
            <a:off x="4318000" y="3022600"/>
            <a:ext cx="1778000" cy="254000"/>
          </a:xfrm>
          <a:prstGeom prst="rect">
            <a:avLst/>
          </a:prstGeom>
          <a:noFill/>
          <a:ln/>
        </p:spPr>
        <p:txBody>
          <a:bodyPr wrap="none" lIns="0" tIns="0" rIns="0" bIns="0" rtlCol="0" anchor="ctr"/>
          <a:lstStyle/>
          <a:p>
            <a:pPr>
              <a:lnSpc>
                <a:spcPct val="100000"/>
              </a:lnSpc>
            </a:pPr>
            <a:r>
              <a:rPr lang="en-US" sz="1400" dirty="0">
                <a:solidFill>
                  <a:srgbClr val="F39C12"/>
                </a:solidFill>
                <a:latin typeface="Liter" pitchFamily="34" charset="0"/>
                <a:ea typeface="Liter" pitchFamily="34" charset="-122"/>
                <a:cs typeface="Liter" pitchFamily="34" charset="-120"/>
              </a:rPr>
              <a:t>YELLOW - WATCH</a:t>
            </a:r>
            <a:endParaRPr lang="en-US" sz="1600" dirty="0"/>
          </a:p>
        </p:txBody>
      </p:sp>
      <p:sp>
        <p:nvSpPr>
          <p:cNvPr id="14" name="Text 12"/>
          <p:cNvSpPr/>
          <p:nvPr/>
        </p:nvSpPr>
        <p:spPr>
          <a:xfrm>
            <a:off x="4000500" y="3365500"/>
            <a:ext cx="2159000" cy="381000"/>
          </a:xfrm>
          <a:prstGeom prst="rect">
            <a:avLst/>
          </a:prstGeom>
          <a:noFill/>
          <a:ln/>
        </p:spPr>
        <p:txBody>
          <a:bodyPr wrap="square" lIns="0" tIns="0" rIns="0" bIns="0" rtlCol="0" anchor="ctr"/>
          <a:lstStyle/>
          <a:p>
            <a:pPr>
              <a:lnSpc>
                <a:spcPct val="130000"/>
              </a:lnSpc>
            </a:pPr>
            <a:r>
              <a:rPr lang="en-US" sz="1100" dirty="0">
                <a:solidFill>
                  <a:srgbClr val="8A8A8A"/>
                </a:solidFill>
                <a:latin typeface="Quattrocento Sans" pitchFamily="34" charset="0"/>
                <a:ea typeface="Quattrocento Sans" pitchFamily="34" charset="-122"/>
                <a:cs typeface="Quattrocento Sans" pitchFamily="34" charset="-120"/>
              </a:rPr>
              <a:t>Drop-off rate, OCR accuracy</a:t>
            </a:r>
            <a:endParaRPr lang="en-US" sz="1600" dirty="0"/>
          </a:p>
        </p:txBody>
      </p:sp>
      <p:sp>
        <p:nvSpPr>
          <p:cNvPr id="15" name="Shape 13"/>
          <p:cNvSpPr/>
          <p:nvPr/>
        </p:nvSpPr>
        <p:spPr>
          <a:xfrm>
            <a:off x="6604000" y="2857500"/>
            <a:ext cx="2540000" cy="1016000"/>
          </a:xfrm>
          <a:prstGeom prst="rect">
            <a:avLst/>
          </a:prstGeom>
          <a:solidFill>
            <a:srgbClr val="27AE60">
              <a:alpha val="13333"/>
            </a:srgbClr>
          </a:solidFill>
          <a:ln w="12700">
            <a:solidFill>
              <a:srgbClr val="27AE60">
                <a:alpha val="33333"/>
              </a:srgbClr>
            </a:solidFill>
            <a:prstDash val="solid"/>
          </a:ln>
        </p:spPr>
      </p:sp>
      <p:sp>
        <p:nvSpPr>
          <p:cNvPr id="16" name="Shape 14"/>
          <p:cNvSpPr/>
          <p:nvPr/>
        </p:nvSpPr>
        <p:spPr>
          <a:xfrm>
            <a:off x="6794500" y="3048000"/>
            <a:ext cx="203200" cy="203200"/>
          </a:xfrm>
          <a:prstGeom prst="ellipse">
            <a:avLst/>
          </a:prstGeom>
          <a:solidFill>
            <a:srgbClr val="27AE60"/>
          </a:solidFill>
          <a:ln/>
        </p:spPr>
      </p:sp>
      <p:sp>
        <p:nvSpPr>
          <p:cNvPr id="17" name="Text 15"/>
          <p:cNvSpPr/>
          <p:nvPr/>
        </p:nvSpPr>
        <p:spPr>
          <a:xfrm>
            <a:off x="7112000" y="3022600"/>
            <a:ext cx="1778000" cy="254000"/>
          </a:xfrm>
          <a:prstGeom prst="rect">
            <a:avLst/>
          </a:prstGeom>
          <a:noFill/>
          <a:ln/>
        </p:spPr>
        <p:txBody>
          <a:bodyPr wrap="none" lIns="0" tIns="0" rIns="0" bIns="0" rtlCol="0" anchor="ctr"/>
          <a:lstStyle/>
          <a:p>
            <a:pPr>
              <a:lnSpc>
                <a:spcPct val="100000"/>
              </a:lnSpc>
            </a:pPr>
            <a:r>
              <a:rPr lang="en-US" sz="1400" dirty="0">
                <a:solidFill>
                  <a:srgbClr val="27AE60"/>
                </a:solidFill>
                <a:latin typeface="Liter" pitchFamily="34" charset="0"/>
                <a:ea typeface="Liter" pitchFamily="34" charset="-122"/>
                <a:cs typeface="Liter" pitchFamily="34" charset="-120"/>
              </a:rPr>
              <a:t>GREEN - OK</a:t>
            </a:r>
            <a:endParaRPr lang="en-US" sz="1600" dirty="0"/>
          </a:p>
        </p:txBody>
      </p:sp>
      <p:sp>
        <p:nvSpPr>
          <p:cNvPr id="18" name="Text 16"/>
          <p:cNvSpPr/>
          <p:nvPr/>
        </p:nvSpPr>
        <p:spPr>
          <a:xfrm>
            <a:off x="6794500" y="3365500"/>
            <a:ext cx="2159000" cy="508000"/>
          </a:xfrm>
          <a:prstGeom prst="rect">
            <a:avLst/>
          </a:prstGeom>
          <a:noFill/>
          <a:ln/>
        </p:spPr>
        <p:txBody>
          <a:bodyPr wrap="square" lIns="0" tIns="0" rIns="0" bIns="0" rtlCol="0" anchor="ctr"/>
          <a:lstStyle/>
          <a:p>
            <a:pPr>
              <a:lnSpc>
                <a:spcPct val="130000"/>
              </a:lnSpc>
            </a:pPr>
            <a:r>
              <a:rPr lang="en-US" sz="1100" dirty="0">
                <a:solidFill>
                  <a:srgbClr val="8A8A8A"/>
                </a:solidFill>
                <a:latin typeface="Quattrocento Sans" pitchFamily="34" charset="0"/>
                <a:ea typeface="Quattrocento Sans" pitchFamily="34" charset="-122"/>
                <a:cs typeface="Quattrocento Sans" pitchFamily="34" charset="-120"/>
              </a:rPr>
              <a:t>Daily onboardings, system health</a:t>
            </a:r>
            <a:endParaRPr lang="en-US" sz="1600" dirty="0"/>
          </a:p>
        </p:txBody>
      </p:sp>
      <p:sp>
        <p:nvSpPr>
          <p:cNvPr id="19" name="Text 17"/>
          <p:cNvSpPr/>
          <p:nvPr/>
        </p:nvSpPr>
        <p:spPr>
          <a:xfrm>
            <a:off x="1016000" y="4191000"/>
            <a:ext cx="3810000" cy="279400"/>
          </a:xfrm>
          <a:prstGeom prst="rect">
            <a:avLst/>
          </a:prstGeom>
          <a:noFill/>
          <a:ln/>
        </p:spPr>
        <p:txBody>
          <a:bodyPr wrap="none" lIns="0" tIns="0" rIns="0" bIns="0" rtlCol="0" anchor="ctr"/>
          <a:lstStyle/>
          <a:p>
            <a:pPr>
              <a:lnSpc>
                <a:spcPct val="100000"/>
              </a:lnSpc>
            </a:pPr>
            <a:r>
              <a:rPr lang="en-US" sz="1400" spc="100" kern="0" dirty="0">
                <a:solidFill>
                  <a:srgbClr val="D35400"/>
                </a:solidFill>
                <a:latin typeface="Liter" pitchFamily="34" charset="0"/>
                <a:ea typeface="Liter" pitchFamily="34" charset="-122"/>
                <a:cs typeface="Liter" pitchFamily="34" charset="-120"/>
              </a:rPr>
              <a:t>METRIQUES EN TEMPS REEL</a:t>
            </a:r>
            <a:endParaRPr lang="en-US" sz="1600" dirty="0"/>
          </a:p>
        </p:txBody>
      </p:sp>
      <p:sp>
        <p:nvSpPr>
          <p:cNvPr id="20" name="Text 18"/>
          <p:cNvSpPr/>
          <p:nvPr/>
        </p:nvSpPr>
        <p:spPr>
          <a:xfrm>
            <a:off x="1016000" y="4572000"/>
            <a:ext cx="8382000" cy="3175000"/>
          </a:xfrm>
          <a:prstGeom prst="rect">
            <a:avLst/>
          </a:prstGeom>
          <a:noFill/>
          <a:ln/>
        </p:spPr>
        <p:txBody>
          <a:bodyPr wrap="square" lIns="0" tIns="0" rIns="0" bIns="0" rtlCol="0" anchor="ctr"/>
          <a:lstStyle/>
          <a:p>
            <a:pPr>
              <a:lnSpc>
                <a:spcPct val="180000"/>
              </a:lnSpc>
            </a:pPr>
            <a:r>
              <a:rPr lang="en-US" sz="1400" dirty="0">
                <a:solidFill>
                  <a:srgbClr val="D35400"/>
                </a:solidFill>
                <a:latin typeface="Quattrocento Sans" pitchFamily="34" charset="0"/>
                <a:ea typeface="Quattrocento Sans" pitchFamily="34" charset="-122"/>
                <a:cs typeface="Quattrocento Sans" pitchFamily="34" charset="-120"/>
              </a:rPr>
              <a:t>■</a:t>
            </a:r>
            <a:pPr>
              <a:lnSpc>
                <a:spcPct val="180000"/>
              </a:lnSpc>
            </a:pPr>
            <a:r>
              <a:rPr lang="en-US" sz="1400" dirty="0">
                <a:solidFill>
                  <a:srgbClr val="CCCCCC"/>
                </a:solidFill>
                <a:latin typeface="Quattrocento Sans" pitchFamily="34" charset="0"/>
                <a:ea typeface="Quattrocento Sans" pitchFamily="34" charset="-122"/>
                <a:cs typeface="Quattrocento Sans" pitchFamily="34" charset="-120"/>
              </a:rPr>
              <a:t> Dossiers en file et temps d'attente moyen</a:t>
            </a:r>
            <a:endParaRPr lang="en-US" sz="1600" dirty="0"/>
          </a:p>
          <a:p>
            <a:pPr>
              <a:lnSpc>
                <a:spcPct val="180000"/>
              </a:lnSpc>
            </a:pPr>
            <a:r>
              <a:rPr lang="en-US" sz="1400" dirty="0">
                <a:solidFill>
                  <a:srgbClr val="D35400"/>
                </a:solidFill>
                <a:latin typeface="Quattrocento Sans" pitchFamily="34" charset="0"/>
                <a:ea typeface="Quattrocento Sans" pitchFamily="34" charset="-122"/>
                <a:cs typeface="Quattrocento Sans" pitchFamily="34" charset="-120"/>
              </a:rPr>
              <a:t>■</a:t>
            </a:r>
            <a:pPr>
              <a:lnSpc>
                <a:spcPct val="180000"/>
              </a:lnSpc>
            </a:pPr>
            <a:r>
              <a:rPr lang="en-US" sz="1400" dirty="0">
                <a:solidFill>
                  <a:srgbClr val="CCCCCC"/>
                </a:solidFill>
                <a:latin typeface="Quattrocento Sans" pitchFamily="34" charset="0"/>
                <a:ea typeface="Quattrocento Sans" pitchFamily="34" charset="-122"/>
                <a:cs typeface="Quattrocento Sans" pitchFamily="34" charset="-120"/>
              </a:rPr>
              <a:t> Taux de completion du parcours client</a:t>
            </a:r>
            <a:endParaRPr lang="en-US" sz="1600" dirty="0"/>
          </a:p>
          <a:p>
            <a:pPr>
              <a:lnSpc>
                <a:spcPct val="180000"/>
              </a:lnSpc>
            </a:pPr>
            <a:r>
              <a:rPr lang="en-US" sz="1400" dirty="0">
                <a:solidFill>
                  <a:srgbClr val="D35400"/>
                </a:solidFill>
                <a:latin typeface="Quattrocento Sans" pitchFamily="34" charset="0"/>
                <a:ea typeface="Quattrocento Sans" pitchFamily="34" charset="-122"/>
                <a:cs typeface="Quattrocento Sans" pitchFamily="34" charset="-120"/>
              </a:rPr>
              <a:t>■</a:t>
            </a:r>
            <a:pPr>
              <a:lnSpc>
                <a:spcPct val="180000"/>
              </a:lnSpc>
            </a:pPr>
            <a:r>
              <a:rPr lang="en-US" sz="1400" dirty="0">
                <a:solidFill>
                  <a:srgbClr val="CCCCCC"/>
                </a:solidFill>
                <a:latin typeface="Quattrocento Sans" pitchFamily="34" charset="0"/>
                <a:ea typeface="Quattrocento Sans" pitchFamily="34" charset="-122"/>
                <a:cs typeface="Quattrocento Sans" pitchFamily="34" charset="-120"/>
              </a:rPr>
              <a:t> Qualite OCR et taux de liveness</a:t>
            </a:r>
            <a:endParaRPr lang="en-US" sz="1600" dirty="0"/>
          </a:p>
          <a:p>
            <a:pPr>
              <a:lnSpc>
                <a:spcPct val="180000"/>
              </a:lnSpc>
            </a:pPr>
            <a:r>
              <a:rPr lang="en-US" sz="1400" dirty="0">
                <a:solidFill>
                  <a:srgbClr val="D35400"/>
                </a:solidFill>
                <a:latin typeface="Quattrocento Sans" pitchFamily="34" charset="0"/>
                <a:ea typeface="Quattrocento Sans" pitchFamily="34" charset="-122"/>
                <a:cs typeface="Quattrocento Sans" pitchFamily="34" charset="-120"/>
              </a:rPr>
              <a:t>■</a:t>
            </a:r>
            <a:pPr>
              <a:lnSpc>
                <a:spcPct val="180000"/>
              </a:lnSpc>
            </a:pPr>
            <a:r>
              <a:rPr lang="en-US" sz="1400" dirty="0">
                <a:solidFill>
                  <a:srgbClr val="CCCCCC"/>
                </a:solidFill>
                <a:latin typeface="Quattrocento Sans" pitchFamily="34" charset="0"/>
                <a:ea typeface="Quattrocento Sans" pitchFamily="34" charset="-122"/>
                <a:cs typeface="Quattrocento Sans" pitchFamily="34" charset="-120"/>
              </a:rPr>
              <a:t> Alertes AML actives et resolution time</a:t>
            </a:r>
            <a:endParaRPr lang="en-US" sz="1600" dirty="0"/>
          </a:p>
          <a:p>
            <a:pPr>
              <a:lnSpc>
                <a:spcPct val="180000"/>
              </a:lnSpc>
            </a:pPr>
            <a:r>
              <a:rPr lang="en-US" sz="1400" dirty="0">
                <a:solidFill>
                  <a:srgbClr val="D35400"/>
                </a:solidFill>
                <a:latin typeface="Quattrocento Sans" pitchFamily="34" charset="0"/>
                <a:ea typeface="Quattrocento Sans" pitchFamily="34" charset="-122"/>
                <a:cs typeface="Quattrocento Sans" pitchFamily="34" charset="-120"/>
              </a:rPr>
              <a:t>■</a:t>
            </a:r>
            <a:pPr>
              <a:lnSpc>
                <a:spcPct val="180000"/>
              </a:lnSpc>
            </a:pPr>
            <a:r>
              <a:rPr lang="en-US" sz="1400" dirty="0">
                <a:solidFill>
                  <a:srgbClr val="CCCCCC"/>
                </a:solidFill>
                <a:latin typeface="Quattrocento Sans" pitchFamily="34" charset="0"/>
                <a:ea typeface="Quattrocento Sans" pitchFamily="34" charset="-122"/>
                <a:cs typeface="Quattrocento Sans" pitchFamily="34" charset="-120"/>
              </a:rPr>
              <a:t> Charge par agent et distribution</a:t>
            </a:r>
            <a:endParaRPr lang="en-US" sz="1600" dirty="0"/>
          </a:p>
          <a:p>
            <a:pPr>
              <a:lnSpc>
                <a:spcPct val="180000"/>
              </a:lnSpc>
            </a:pPr>
            <a:r>
              <a:rPr lang="en-US" sz="1400" dirty="0">
                <a:solidFill>
                  <a:srgbClr val="D35400"/>
                </a:solidFill>
                <a:latin typeface="Quattrocento Sans" pitchFamily="34" charset="0"/>
                <a:ea typeface="Quattrocento Sans" pitchFamily="34" charset="-122"/>
                <a:cs typeface="Quattrocento Sans" pitchFamily="34" charset="-120"/>
              </a:rPr>
              <a:t>■</a:t>
            </a:r>
            <a:pPr>
              <a:lnSpc>
                <a:spcPct val="180000"/>
              </a:lnSpc>
            </a:pPr>
            <a:r>
              <a:rPr lang="en-US" sz="1400" dirty="0">
                <a:solidFill>
                  <a:srgbClr val="CCCCCC"/>
                </a:solidFill>
                <a:latin typeface="Quattrocento Sans" pitchFamily="34" charset="0"/>
                <a:ea typeface="Quattrocento Sans" pitchFamily="34" charset="-122"/>
                <a:cs typeface="Quattrocento Sans" pitchFamily="34" charset="-120"/>
              </a:rPr>
              <a:t> Vue funnel : points de friction identifies</a:t>
            </a:r>
            <a:endParaRPr lang="en-US" sz="1600" dirty="0"/>
          </a:p>
        </p:txBody>
      </p:sp>
      <p:sp>
        <p:nvSpPr>
          <p:cNvPr id="21" name="Shape 19"/>
          <p:cNvSpPr/>
          <p:nvPr/>
        </p:nvSpPr>
        <p:spPr>
          <a:xfrm>
            <a:off x="10033000" y="2095500"/>
            <a:ext cx="5461000" cy="5969000"/>
          </a:xfrm>
          <a:prstGeom prst="rect">
            <a:avLst/>
          </a:prstGeom>
          <a:solidFill>
            <a:srgbClr val="FFFFFF"/>
          </a:solidFill>
          <a:ln w="12700">
            <a:solidFill>
              <a:srgbClr val="E0DCD8"/>
            </a:solidFill>
            <a:prstDash val="solid"/>
          </a:ln>
        </p:spPr>
      </p:sp>
      <p:sp>
        <p:nvSpPr>
          <p:cNvPr id="22" name="Text 20"/>
          <p:cNvSpPr/>
          <p:nvPr/>
        </p:nvSpPr>
        <p:spPr>
          <a:xfrm>
            <a:off x="10350500" y="2349500"/>
            <a:ext cx="3810000" cy="355600"/>
          </a:xfrm>
          <a:prstGeom prst="rect">
            <a:avLst/>
          </a:prstGeom>
          <a:noFill/>
          <a:ln/>
        </p:spPr>
        <p:txBody>
          <a:bodyPr wrap="none" lIns="0" tIns="0" rIns="0" bIns="0" rtlCol="0" anchor="ctr"/>
          <a:lstStyle/>
          <a:p>
            <a:pPr>
              <a:lnSpc>
                <a:spcPct val="100000"/>
              </a:lnSpc>
            </a:pPr>
            <a:r>
              <a:rPr lang="en-US" sz="1800" dirty="0">
                <a:solidFill>
                  <a:srgbClr val="5D2E18"/>
                </a:solidFill>
                <a:latin typeface="Liter" pitchFamily="34" charset="0"/>
                <a:ea typeface="Liter" pitchFamily="34" charset="-122"/>
                <a:cs typeface="Liter" pitchFamily="34" charset="-120"/>
              </a:rPr>
              <a:t>CAPACITES MANAGER</a:t>
            </a:r>
            <a:endParaRPr lang="en-US" sz="1600" dirty="0"/>
          </a:p>
        </p:txBody>
      </p:sp>
      <p:sp>
        <p:nvSpPr>
          <p:cNvPr id="23" name="Shape 21"/>
          <p:cNvSpPr/>
          <p:nvPr/>
        </p:nvSpPr>
        <p:spPr>
          <a:xfrm>
            <a:off x="10350500" y="2768600"/>
            <a:ext cx="4826000" cy="12700"/>
          </a:xfrm>
          <a:prstGeom prst="rect">
            <a:avLst/>
          </a:prstGeom>
          <a:solidFill>
            <a:srgbClr val="E0DCD8"/>
          </a:solidFill>
          <a:ln/>
        </p:spPr>
      </p:sp>
      <p:sp>
        <p:nvSpPr>
          <p:cNvPr id="24" name="Shape 22"/>
          <p:cNvSpPr/>
          <p:nvPr/>
        </p:nvSpPr>
        <p:spPr>
          <a:xfrm>
            <a:off x="10350500" y="3048000"/>
            <a:ext cx="304800" cy="304800"/>
          </a:xfrm>
          <a:custGeom>
            <a:avLst/>
            <a:gdLst/>
            <a:ahLst/>
            <a:cxnLst/>
            <a:rect l="l" t="t" r="r" b="b"/>
            <a:pathLst>
              <a:path w="304800" h="304800">
                <a:moveTo>
                  <a:pt x="0" y="152400"/>
                </a:moveTo>
                <a:cubicBezTo>
                  <a:pt x="0" y="68288"/>
                  <a:pt x="68288" y="0"/>
                  <a:pt x="152400" y="0"/>
                </a:cubicBezTo>
                <a:cubicBezTo>
                  <a:pt x="236512" y="0"/>
                  <a:pt x="304800" y="68288"/>
                  <a:pt x="304800" y="152400"/>
                </a:cubicBezTo>
                <a:cubicBezTo>
                  <a:pt x="304800" y="236512"/>
                  <a:pt x="236512" y="304800"/>
                  <a:pt x="152400" y="304800"/>
                </a:cubicBezTo>
                <a:cubicBezTo>
                  <a:pt x="68288" y="304800"/>
                  <a:pt x="0" y="236512"/>
                  <a:pt x="0" y="152400"/>
                </a:cubicBezTo>
                <a:close/>
                <a:moveTo>
                  <a:pt x="171450" y="57150"/>
                </a:moveTo>
                <a:cubicBezTo>
                  <a:pt x="171450" y="46636"/>
                  <a:pt x="162914" y="38100"/>
                  <a:pt x="152400" y="38100"/>
                </a:cubicBezTo>
                <a:cubicBezTo>
                  <a:pt x="141886" y="38100"/>
                  <a:pt x="133350" y="46636"/>
                  <a:pt x="133350" y="57150"/>
                </a:cubicBezTo>
                <a:cubicBezTo>
                  <a:pt x="133350" y="67664"/>
                  <a:pt x="141886" y="76200"/>
                  <a:pt x="152400" y="76200"/>
                </a:cubicBezTo>
                <a:cubicBezTo>
                  <a:pt x="162914" y="76200"/>
                  <a:pt x="171450" y="67664"/>
                  <a:pt x="171450" y="57150"/>
                </a:cubicBezTo>
                <a:close/>
                <a:moveTo>
                  <a:pt x="152400" y="247650"/>
                </a:moveTo>
                <a:cubicBezTo>
                  <a:pt x="173415" y="247650"/>
                  <a:pt x="190500" y="230565"/>
                  <a:pt x="190500" y="209550"/>
                </a:cubicBezTo>
                <a:cubicBezTo>
                  <a:pt x="190500" y="199906"/>
                  <a:pt x="186928" y="191036"/>
                  <a:pt x="180975" y="184368"/>
                </a:cubicBezTo>
                <a:lnTo>
                  <a:pt x="222349" y="101679"/>
                </a:lnTo>
                <a:cubicBezTo>
                  <a:pt x="225862" y="94595"/>
                  <a:pt x="223004" y="86023"/>
                  <a:pt x="215979" y="82510"/>
                </a:cubicBezTo>
                <a:cubicBezTo>
                  <a:pt x="208955" y="78998"/>
                  <a:pt x="200323" y="81855"/>
                  <a:pt x="196810" y="88880"/>
                </a:cubicBezTo>
                <a:lnTo>
                  <a:pt x="155436" y="171569"/>
                </a:lnTo>
                <a:cubicBezTo>
                  <a:pt x="154424" y="171510"/>
                  <a:pt x="153412" y="171450"/>
                  <a:pt x="152400" y="171450"/>
                </a:cubicBezTo>
                <a:cubicBezTo>
                  <a:pt x="131385" y="171450"/>
                  <a:pt x="114300" y="188535"/>
                  <a:pt x="114300" y="209550"/>
                </a:cubicBezTo>
                <a:cubicBezTo>
                  <a:pt x="114300" y="230565"/>
                  <a:pt x="131385" y="247650"/>
                  <a:pt x="152400" y="247650"/>
                </a:cubicBezTo>
                <a:close/>
                <a:moveTo>
                  <a:pt x="104775" y="85725"/>
                </a:moveTo>
                <a:cubicBezTo>
                  <a:pt x="104775" y="75211"/>
                  <a:pt x="96239" y="66675"/>
                  <a:pt x="85725" y="66675"/>
                </a:cubicBezTo>
                <a:cubicBezTo>
                  <a:pt x="75211" y="66675"/>
                  <a:pt x="66675" y="75211"/>
                  <a:pt x="66675" y="85725"/>
                </a:cubicBezTo>
                <a:cubicBezTo>
                  <a:pt x="66675" y="96239"/>
                  <a:pt x="75211" y="104775"/>
                  <a:pt x="85725" y="104775"/>
                </a:cubicBezTo>
                <a:cubicBezTo>
                  <a:pt x="96239" y="104775"/>
                  <a:pt x="104775" y="96239"/>
                  <a:pt x="104775" y="85725"/>
                </a:cubicBezTo>
                <a:close/>
                <a:moveTo>
                  <a:pt x="57150" y="171450"/>
                </a:moveTo>
                <a:cubicBezTo>
                  <a:pt x="67664" y="171450"/>
                  <a:pt x="76200" y="162914"/>
                  <a:pt x="76200" y="152400"/>
                </a:cubicBezTo>
                <a:cubicBezTo>
                  <a:pt x="76200" y="141886"/>
                  <a:pt x="67664" y="133350"/>
                  <a:pt x="57150" y="133350"/>
                </a:cubicBezTo>
                <a:cubicBezTo>
                  <a:pt x="46636" y="133350"/>
                  <a:pt x="38100" y="141886"/>
                  <a:pt x="38100" y="152400"/>
                </a:cubicBezTo>
                <a:cubicBezTo>
                  <a:pt x="38100" y="162914"/>
                  <a:pt x="46636" y="171450"/>
                  <a:pt x="57150" y="171450"/>
                </a:cubicBezTo>
                <a:close/>
                <a:moveTo>
                  <a:pt x="266700" y="152400"/>
                </a:moveTo>
                <a:cubicBezTo>
                  <a:pt x="266700" y="141886"/>
                  <a:pt x="258164" y="133350"/>
                  <a:pt x="247650" y="133350"/>
                </a:cubicBezTo>
                <a:cubicBezTo>
                  <a:pt x="237136" y="133350"/>
                  <a:pt x="228600" y="141886"/>
                  <a:pt x="228600" y="152400"/>
                </a:cubicBezTo>
                <a:cubicBezTo>
                  <a:pt x="228600" y="162914"/>
                  <a:pt x="237136" y="171450"/>
                  <a:pt x="247650" y="171450"/>
                </a:cubicBezTo>
                <a:cubicBezTo>
                  <a:pt x="258164" y="171450"/>
                  <a:pt x="266700" y="162914"/>
                  <a:pt x="266700" y="152400"/>
                </a:cubicBezTo>
                <a:close/>
              </a:path>
            </a:pathLst>
          </a:custGeom>
          <a:solidFill>
            <a:srgbClr val="D35400"/>
          </a:solidFill>
          <a:ln/>
        </p:spPr>
      </p:sp>
      <p:sp>
        <p:nvSpPr>
          <p:cNvPr id="25" name="Text 23"/>
          <p:cNvSpPr/>
          <p:nvPr/>
        </p:nvSpPr>
        <p:spPr>
          <a:xfrm>
            <a:off x="10795000" y="3009900"/>
            <a:ext cx="4445000" cy="635000"/>
          </a:xfrm>
          <a:prstGeom prst="rect">
            <a:avLst/>
          </a:prstGeom>
          <a:noFill/>
          <a:ln/>
        </p:spPr>
        <p:txBody>
          <a:bodyPr wrap="square" lIns="0" tIns="0" rIns="0" bIns="0" rtlCol="0" anchor="ctr"/>
          <a:lstStyle/>
          <a:p>
            <a:pPr>
              <a:lnSpc>
                <a:spcPct val="150000"/>
              </a:lnSpc>
            </a:pPr>
            <a:r>
              <a:rPr lang="en-US" sz="1400" b="1" dirty="0">
                <a:solidFill>
                  <a:srgbClr val="1A1A1A"/>
                </a:solidFill>
                <a:latin typeface="Quattrocento Sans" pitchFamily="34" charset="0"/>
                <a:ea typeface="Quattrocento Sans" pitchFamily="34" charset="-122"/>
                <a:cs typeface="Quattrocento Sans" pitchFamily="34" charset="-120"/>
              </a:rPr>
              <a:t>SLA Monitoring</a:t>
            </a:r>
            <a:pPr>
              <a:lnSpc>
                <a:spcPct val="150000"/>
              </a:lnSpc>
            </a:pPr>
            <a:r>
              <a:rPr lang="en-US" sz="1400" dirty="0">
                <a:solidFill>
                  <a:srgbClr val="1A1A1A"/>
                </a:solidFill>
                <a:latin typeface="Quattrocento Sans" pitchFamily="34" charset="0"/>
                <a:ea typeface="Quattrocento Sans" pitchFamily="34" charset="-122"/>
                <a:cs typeface="Quattrocento Sans" pitchFamily="34" charset="-120"/>
              </a:rPr>
              <a:t> : escalation auto des dossiers &gt; 2h</a:t>
            </a:r>
            <a:endParaRPr lang="en-US" sz="1600" dirty="0"/>
          </a:p>
        </p:txBody>
      </p:sp>
      <p:sp>
        <p:nvSpPr>
          <p:cNvPr id="26" name="Shape 24"/>
          <p:cNvSpPr/>
          <p:nvPr/>
        </p:nvSpPr>
        <p:spPr>
          <a:xfrm>
            <a:off x="10312400" y="3810000"/>
            <a:ext cx="381000" cy="304800"/>
          </a:xfrm>
          <a:custGeom>
            <a:avLst/>
            <a:gdLst/>
            <a:ahLst/>
            <a:cxnLst/>
            <a:rect l="l" t="t" r="r" b="b"/>
            <a:pathLst>
              <a:path w="381000" h="304800">
                <a:moveTo>
                  <a:pt x="190500" y="9525"/>
                </a:moveTo>
                <a:cubicBezTo>
                  <a:pt x="224670" y="9525"/>
                  <a:pt x="252413" y="37267"/>
                  <a:pt x="252413" y="71438"/>
                </a:cubicBezTo>
                <a:cubicBezTo>
                  <a:pt x="252413" y="105608"/>
                  <a:pt x="224670" y="133350"/>
                  <a:pt x="190500" y="133350"/>
                </a:cubicBezTo>
                <a:cubicBezTo>
                  <a:pt x="156330" y="133350"/>
                  <a:pt x="128588" y="105608"/>
                  <a:pt x="128588" y="71438"/>
                </a:cubicBezTo>
                <a:cubicBezTo>
                  <a:pt x="128588" y="37267"/>
                  <a:pt x="156330" y="9525"/>
                  <a:pt x="190500" y="9525"/>
                </a:cubicBezTo>
                <a:close/>
                <a:moveTo>
                  <a:pt x="57150" y="52388"/>
                </a:moveTo>
                <a:cubicBezTo>
                  <a:pt x="80806" y="52388"/>
                  <a:pt x="100013" y="71594"/>
                  <a:pt x="100013" y="95250"/>
                </a:cubicBezTo>
                <a:cubicBezTo>
                  <a:pt x="100013" y="118906"/>
                  <a:pt x="80806" y="138113"/>
                  <a:pt x="57150" y="138113"/>
                </a:cubicBezTo>
                <a:cubicBezTo>
                  <a:pt x="33494" y="138113"/>
                  <a:pt x="14288" y="118906"/>
                  <a:pt x="14288" y="95250"/>
                </a:cubicBezTo>
                <a:cubicBezTo>
                  <a:pt x="14288" y="71594"/>
                  <a:pt x="33494" y="52388"/>
                  <a:pt x="57150" y="52388"/>
                </a:cubicBezTo>
                <a:close/>
                <a:moveTo>
                  <a:pt x="0" y="247650"/>
                </a:moveTo>
                <a:cubicBezTo>
                  <a:pt x="0" y="205561"/>
                  <a:pt x="34111" y="171450"/>
                  <a:pt x="76200" y="171450"/>
                </a:cubicBezTo>
                <a:cubicBezTo>
                  <a:pt x="83820" y="171450"/>
                  <a:pt x="91202" y="172581"/>
                  <a:pt x="98167" y="174665"/>
                </a:cubicBezTo>
                <a:cubicBezTo>
                  <a:pt x="78581" y="196572"/>
                  <a:pt x="66675" y="225504"/>
                  <a:pt x="66675" y="257175"/>
                </a:cubicBezTo>
                <a:lnTo>
                  <a:pt x="66675" y="266700"/>
                </a:lnTo>
                <a:cubicBezTo>
                  <a:pt x="66675" y="273487"/>
                  <a:pt x="68104" y="279916"/>
                  <a:pt x="70664" y="285750"/>
                </a:cubicBezTo>
                <a:lnTo>
                  <a:pt x="19050" y="285750"/>
                </a:lnTo>
                <a:cubicBezTo>
                  <a:pt x="8513" y="285750"/>
                  <a:pt x="0" y="277237"/>
                  <a:pt x="0" y="266700"/>
                </a:cubicBezTo>
                <a:lnTo>
                  <a:pt x="0" y="247650"/>
                </a:lnTo>
                <a:close/>
                <a:moveTo>
                  <a:pt x="310336" y="285750"/>
                </a:moveTo>
                <a:cubicBezTo>
                  <a:pt x="312896" y="279916"/>
                  <a:pt x="314325" y="273487"/>
                  <a:pt x="314325" y="266700"/>
                </a:cubicBezTo>
                <a:lnTo>
                  <a:pt x="314325" y="257175"/>
                </a:lnTo>
                <a:cubicBezTo>
                  <a:pt x="314325" y="225504"/>
                  <a:pt x="302419" y="196572"/>
                  <a:pt x="282833" y="174665"/>
                </a:cubicBezTo>
                <a:cubicBezTo>
                  <a:pt x="289798" y="172581"/>
                  <a:pt x="297180" y="171450"/>
                  <a:pt x="304800" y="171450"/>
                </a:cubicBezTo>
                <a:cubicBezTo>
                  <a:pt x="346889" y="171450"/>
                  <a:pt x="381000" y="205561"/>
                  <a:pt x="381000" y="247650"/>
                </a:cubicBezTo>
                <a:lnTo>
                  <a:pt x="381000" y="266700"/>
                </a:lnTo>
                <a:cubicBezTo>
                  <a:pt x="381000" y="277237"/>
                  <a:pt x="372487" y="285750"/>
                  <a:pt x="361950" y="285750"/>
                </a:cubicBezTo>
                <a:lnTo>
                  <a:pt x="310336" y="285750"/>
                </a:lnTo>
                <a:close/>
                <a:moveTo>
                  <a:pt x="280987" y="95250"/>
                </a:moveTo>
                <a:cubicBezTo>
                  <a:pt x="280987" y="71594"/>
                  <a:pt x="300194" y="52388"/>
                  <a:pt x="323850" y="52388"/>
                </a:cubicBezTo>
                <a:cubicBezTo>
                  <a:pt x="347506" y="52388"/>
                  <a:pt x="366712" y="71594"/>
                  <a:pt x="366712" y="95250"/>
                </a:cubicBezTo>
                <a:cubicBezTo>
                  <a:pt x="366712" y="118906"/>
                  <a:pt x="347506" y="138113"/>
                  <a:pt x="323850" y="138113"/>
                </a:cubicBezTo>
                <a:cubicBezTo>
                  <a:pt x="300194" y="138113"/>
                  <a:pt x="280987" y="118906"/>
                  <a:pt x="280987" y="95250"/>
                </a:cubicBezTo>
                <a:close/>
                <a:moveTo>
                  <a:pt x="95250" y="257175"/>
                </a:moveTo>
                <a:cubicBezTo>
                  <a:pt x="95250" y="204549"/>
                  <a:pt x="137874" y="161925"/>
                  <a:pt x="190500" y="161925"/>
                </a:cubicBezTo>
                <a:cubicBezTo>
                  <a:pt x="243126" y="161925"/>
                  <a:pt x="285750" y="204549"/>
                  <a:pt x="285750" y="257175"/>
                </a:cubicBezTo>
                <a:lnTo>
                  <a:pt x="285750" y="266700"/>
                </a:lnTo>
                <a:cubicBezTo>
                  <a:pt x="285750" y="277237"/>
                  <a:pt x="277237" y="285750"/>
                  <a:pt x="266700" y="285750"/>
                </a:cubicBezTo>
                <a:lnTo>
                  <a:pt x="114300" y="285750"/>
                </a:lnTo>
                <a:cubicBezTo>
                  <a:pt x="103763" y="285750"/>
                  <a:pt x="95250" y="277237"/>
                  <a:pt x="95250" y="266700"/>
                </a:cubicBezTo>
                <a:lnTo>
                  <a:pt x="95250" y="257175"/>
                </a:lnTo>
                <a:close/>
              </a:path>
            </a:pathLst>
          </a:custGeom>
          <a:solidFill>
            <a:srgbClr val="D35400"/>
          </a:solidFill>
          <a:ln/>
        </p:spPr>
      </p:sp>
      <p:sp>
        <p:nvSpPr>
          <p:cNvPr id="27" name="Text 25"/>
          <p:cNvSpPr/>
          <p:nvPr/>
        </p:nvSpPr>
        <p:spPr>
          <a:xfrm>
            <a:off x="10795000" y="3771900"/>
            <a:ext cx="4445000" cy="635000"/>
          </a:xfrm>
          <a:prstGeom prst="rect">
            <a:avLst/>
          </a:prstGeom>
          <a:noFill/>
          <a:ln/>
        </p:spPr>
        <p:txBody>
          <a:bodyPr wrap="square" lIns="0" tIns="0" rIns="0" bIns="0" rtlCol="0" anchor="ctr"/>
          <a:lstStyle/>
          <a:p>
            <a:pPr>
              <a:lnSpc>
                <a:spcPct val="150000"/>
              </a:lnSpc>
            </a:pPr>
            <a:r>
              <a:rPr lang="en-US" sz="1400" b="1" dirty="0">
                <a:solidFill>
                  <a:srgbClr val="1A1A1A"/>
                </a:solidFill>
                <a:latin typeface="Quattrocento Sans" pitchFamily="34" charset="0"/>
                <a:ea typeface="Quattrocento Sans" pitchFamily="34" charset="-122"/>
                <a:cs typeface="Quattrocento Sans" pitchFamily="34" charset="-120"/>
              </a:rPr>
              <a:t>Load Balancing</a:t>
            </a:r>
            <a:pPr>
              <a:lnSpc>
                <a:spcPct val="150000"/>
              </a:lnSpc>
            </a:pPr>
            <a:r>
              <a:rPr lang="en-US" sz="1400" dirty="0">
                <a:solidFill>
                  <a:srgbClr val="1A1A1A"/>
                </a:solidFill>
                <a:latin typeface="Quattrocento Sans" pitchFamily="34" charset="0"/>
                <a:ea typeface="Quattrocento Sans" pitchFamily="34" charset="-122"/>
                <a:cs typeface="Quattrocento Sans" pitchFamily="34" charset="-120"/>
              </a:rPr>
              <a:t> : distribution intelligente par agent</a:t>
            </a:r>
            <a:endParaRPr lang="en-US" sz="1600" dirty="0"/>
          </a:p>
        </p:txBody>
      </p:sp>
      <p:sp>
        <p:nvSpPr>
          <p:cNvPr id="28" name="Shape 26"/>
          <p:cNvSpPr/>
          <p:nvPr/>
        </p:nvSpPr>
        <p:spPr>
          <a:xfrm>
            <a:off x="10331450" y="4572000"/>
            <a:ext cx="342900" cy="304800"/>
          </a:xfrm>
          <a:custGeom>
            <a:avLst/>
            <a:gdLst/>
            <a:ahLst/>
            <a:cxnLst/>
            <a:rect l="l" t="t" r="r" b="b"/>
            <a:pathLst>
              <a:path w="342900" h="304800">
                <a:moveTo>
                  <a:pt x="57150" y="0"/>
                </a:moveTo>
                <a:cubicBezTo>
                  <a:pt x="36135" y="0"/>
                  <a:pt x="19050" y="17085"/>
                  <a:pt x="19050" y="38100"/>
                </a:cubicBezTo>
                <a:lnTo>
                  <a:pt x="19050" y="266700"/>
                </a:lnTo>
                <a:cubicBezTo>
                  <a:pt x="19050" y="287715"/>
                  <a:pt x="36135" y="304800"/>
                  <a:pt x="57150" y="304800"/>
                </a:cubicBezTo>
                <a:lnTo>
                  <a:pt x="104775" y="304800"/>
                </a:lnTo>
                <a:lnTo>
                  <a:pt x="104775" y="238125"/>
                </a:lnTo>
                <a:cubicBezTo>
                  <a:pt x="104775" y="217110"/>
                  <a:pt x="121860" y="200025"/>
                  <a:pt x="142875" y="200025"/>
                </a:cubicBezTo>
                <a:lnTo>
                  <a:pt x="247650" y="200025"/>
                </a:lnTo>
                <a:lnTo>
                  <a:pt x="247650" y="101501"/>
                </a:lnTo>
                <a:cubicBezTo>
                  <a:pt x="247650" y="91380"/>
                  <a:pt x="243661" y="81677"/>
                  <a:pt x="236518" y="74533"/>
                </a:cubicBezTo>
                <a:lnTo>
                  <a:pt x="173057" y="11132"/>
                </a:lnTo>
                <a:cubicBezTo>
                  <a:pt x="165914" y="3989"/>
                  <a:pt x="156270" y="0"/>
                  <a:pt x="146149" y="0"/>
                </a:cubicBezTo>
                <a:lnTo>
                  <a:pt x="57150" y="0"/>
                </a:lnTo>
                <a:close/>
                <a:moveTo>
                  <a:pt x="212824" y="104775"/>
                </a:moveTo>
                <a:lnTo>
                  <a:pt x="157163" y="104775"/>
                </a:lnTo>
                <a:cubicBezTo>
                  <a:pt x="149245" y="104775"/>
                  <a:pt x="142875" y="98405"/>
                  <a:pt x="142875" y="90488"/>
                </a:cubicBezTo>
                <a:lnTo>
                  <a:pt x="142875" y="34826"/>
                </a:lnTo>
                <a:lnTo>
                  <a:pt x="212824" y="104775"/>
                </a:lnTo>
                <a:close/>
                <a:moveTo>
                  <a:pt x="142875" y="226219"/>
                </a:moveTo>
                <a:cubicBezTo>
                  <a:pt x="136327" y="226219"/>
                  <a:pt x="130969" y="231577"/>
                  <a:pt x="130969" y="238125"/>
                </a:cubicBezTo>
                <a:lnTo>
                  <a:pt x="130969" y="314325"/>
                </a:lnTo>
                <a:cubicBezTo>
                  <a:pt x="130969" y="320873"/>
                  <a:pt x="136327" y="326231"/>
                  <a:pt x="142875" y="326231"/>
                </a:cubicBezTo>
                <a:cubicBezTo>
                  <a:pt x="149423" y="326231"/>
                  <a:pt x="154781" y="320873"/>
                  <a:pt x="154781" y="314325"/>
                </a:cubicBezTo>
                <a:lnTo>
                  <a:pt x="154781" y="297656"/>
                </a:lnTo>
                <a:lnTo>
                  <a:pt x="161925" y="297656"/>
                </a:lnTo>
                <a:cubicBezTo>
                  <a:pt x="181630" y="297656"/>
                  <a:pt x="197644" y="281642"/>
                  <a:pt x="197644" y="261937"/>
                </a:cubicBezTo>
                <a:cubicBezTo>
                  <a:pt x="197644" y="242233"/>
                  <a:pt x="181630" y="226219"/>
                  <a:pt x="161925" y="226219"/>
                </a:cubicBezTo>
                <a:lnTo>
                  <a:pt x="142875" y="226219"/>
                </a:lnTo>
                <a:close/>
                <a:moveTo>
                  <a:pt x="161925" y="273844"/>
                </a:moveTo>
                <a:lnTo>
                  <a:pt x="154781" y="273844"/>
                </a:lnTo>
                <a:lnTo>
                  <a:pt x="154781" y="250031"/>
                </a:lnTo>
                <a:lnTo>
                  <a:pt x="161925" y="250031"/>
                </a:lnTo>
                <a:cubicBezTo>
                  <a:pt x="168473" y="250031"/>
                  <a:pt x="173831" y="255389"/>
                  <a:pt x="173831" y="261937"/>
                </a:cubicBezTo>
                <a:cubicBezTo>
                  <a:pt x="173831" y="268486"/>
                  <a:pt x="168473" y="273844"/>
                  <a:pt x="161925" y="273844"/>
                </a:cubicBezTo>
                <a:close/>
                <a:moveTo>
                  <a:pt x="219075" y="226219"/>
                </a:moveTo>
                <a:cubicBezTo>
                  <a:pt x="212527" y="226219"/>
                  <a:pt x="207169" y="231577"/>
                  <a:pt x="207169" y="238125"/>
                </a:cubicBezTo>
                <a:lnTo>
                  <a:pt x="207169" y="314325"/>
                </a:lnTo>
                <a:cubicBezTo>
                  <a:pt x="207169" y="320873"/>
                  <a:pt x="212527" y="326231"/>
                  <a:pt x="219075" y="326231"/>
                </a:cubicBezTo>
                <a:lnTo>
                  <a:pt x="238125" y="326231"/>
                </a:lnTo>
                <a:cubicBezTo>
                  <a:pt x="255210" y="326231"/>
                  <a:pt x="269081" y="312360"/>
                  <a:pt x="269081" y="295275"/>
                </a:cubicBezTo>
                <a:lnTo>
                  <a:pt x="269081" y="257175"/>
                </a:lnTo>
                <a:cubicBezTo>
                  <a:pt x="269081" y="240090"/>
                  <a:pt x="255210" y="226219"/>
                  <a:pt x="238125" y="226219"/>
                </a:cubicBezTo>
                <a:lnTo>
                  <a:pt x="219075" y="226219"/>
                </a:lnTo>
                <a:close/>
                <a:moveTo>
                  <a:pt x="230981" y="302419"/>
                </a:moveTo>
                <a:lnTo>
                  <a:pt x="230981" y="250031"/>
                </a:lnTo>
                <a:lnTo>
                  <a:pt x="238125" y="250031"/>
                </a:lnTo>
                <a:cubicBezTo>
                  <a:pt x="242054" y="250031"/>
                  <a:pt x="245269" y="253246"/>
                  <a:pt x="245269" y="257175"/>
                </a:cubicBezTo>
                <a:lnTo>
                  <a:pt x="245269" y="295275"/>
                </a:lnTo>
                <a:cubicBezTo>
                  <a:pt x="245269" y="299204"/>
                  <a:pt x="242054" y="302419"/>
                  <a:pt x="238125" y="302419"/>
                </a:cubicBezTo>
                <a:lnTo>
                  <a:pt x="230981" y="302419"/>
                </a:lnTo>
                <a:close/>
                <a:moveTo>
                  <a:pt x="283369" y="238125"/>
                </a:moveTo>
                <a:lnTo>
                  <a:pt x="283369" y="314325"/>
                </a:lnTo>
                <a:cubicBezTo>
                  <a:pt x="283369" y="320873"/>
                  <a:pt x="288727" y="326231"/>
                  <a:pt x="295275" y="326231"/>
                </a:cubicBezTo>
                <a:cubicBezTo>
                  <a:pt x="301823" y="326231"/>
                  <a:pt x="307181" y="320873"/>
                  <a:pt x="307181" y="314325"/>
                </a:cubicBezTo>
                <a:lnTo>
                  <a:pt x="307181" y="288131"/>
                </a:lnTo>
                <a:lnTo>
                  <a:pt x="323850" y="288131"/>
                </a:lnTo>
                <a:cubicBezTo>
                  <a:pt x="330398" y="288131"/>
                  <a:pt x="335756" y="282773"/>
                  <a:pt x="335756" y="276225"/>
                </a:cubicBezTo>
                <a:cubicBezTo>
                  <a:pt x="335756" y="269677"/>
                  <a:pt x="330398" y="264319"/>
                  <a:pt x="323850" y="264319"/>
                </a:cubicBezTo>
                <a:lnTo>
                  <a:pt x="307181" y="264319"/>
                </a:lnTo>
                <a:lnTo>
                  <a:pt x="307181" y="250031"/>
                </a:lnTo>
                <a:lnTo>
                  <a:pt x="323850" y="250031"/>
                </a:lnTo>
                <a:cubicBezTo>
                  <a:pt x="330398" y="250031"/>
                  <a:pt x="335756" y="244673"/>
                  <a:pt x="335756" y="238125"/>
                </a:cubicBezTo>
                <a:cubicBezTo>
                  <a:pt x="335756" y="231577"/>
                  <a:pt x="330398" y="226219"/>
                  <a:pt x="323850" y="226219"/>
                </a:cubicBezTo>
                <a:lnTo>
                  <a:pt x="295275" y="226219"/>
                </a:lnTo>
                <a:cubicBezTo>
                  <a:pt x="288727" y="226219"/>
                  <a:pt x="283369" y="231577"/>
                  <a:pt x="283369" y="238125"/>
                </a:cubicBezTo>
                <a:close/>
              </a:path>
            </a:pathLst>
          </a:custGeom>
          <a:solidFill>
            <a:srgbClr val="D35400"/>
          </a:solidFill>
          <a:ln/>
        </p:spPr>
      </p:sp>
      <p:sp>
        <p:nvSpPr>
          <p:cNvPr id="29" name="Text 27"/>
          <p:cNvSpPr/>
          <p:nvPr/>
        </p:nvSpPr>
        <p:spPr>
          <a:xfrm>
            <a:off x="10795000" y="4533900"/>
            <a:ext cx="4445000" cy="635000"/>
          </a:xfrm>
          <a:prstGeom prst="rect">
            <a:avLst/>
          </a:prstGeom>
          <a:noFill/>
          <a:ln/>
        </p:spPr>
        <p:txBody>
          <a:bodyPr wrap="square" lIns="0" tIns="0" rIns="0" bIns="0" rtlCol="0" anchor="ctr"/>
          <a:lstStyle/>
          <a:p>
            <a:pPr>
              <a:lnSpc>
                <a:spcPct val="150000"/>
              </a:lnSpc>
            </a:pPr>
            <a:r>
              <a:rPr lang="en-US" sz="1400" b="1" dirty="0">
                <a:solidFill>
                  <a:srgbClr val="1A1A1A"/>
                </a:solidFill>
                <a:latin typeface="Quattrocento Sans" pitchFamily="34" charset="0"/>
                <a:ea typeface="Quattrocento Sans" pitchFamily="34" charset="-122"/>
                <a:cs typeface="Quattrocento Sans" pitchFamily="34" charset="-120"/>
              </a:rPr>
              <a:t>Export Audit</a:t>
            </a:r>
            <a:pPr>
              <a:lnSpc>
                <a:spcPct val="150000"/>
              </a:lnSpc>
            </a:pPr>
            <a:r>
              <a:rPr lang="en-US" sz="1400" dirty="0">
                <a:solidFill>
                  <a:srgbClr val="1A1A1A"/>
                </a:solidFill>
                <a:latin typeface="Quattrocento Sans" pitchFamily="34" charset="0"/>
                <a:ea typeface="Quattrocento Sans" pitchFamily="34" charset="-122"/>
                <a:cs typeface="Quattrocento Sans" pitchFamily="34" charset="-120"/>
              </a:rPr>
              <a:t> : rapports de conformite en un clic</a:t>
            </a:r>
            <a:endParaRPr lang="en-US" sz="1600" dirty="0"/>
          </a:p>
        </p:txBody>
      </p:sp>
      <p:sp>
        <p:nvSpPr>
          <p:cNvPr id="30" name="Shape 28"/>
          <p:cNvSpPr/>
          <p:nvPr/>
        </p:nvSpPr>
        <p:spPr>
          <a:xfrm>
            <a:off x="10350500" y="5334000"/>
            <a:ext cx="304800" cy="304800"/>
          </a:xfrm>
          <a:custGeom>
            <a:avLst/>
            <a:gdLst/>
            <a:ahLst/>
            <a:cxnLst/>
            <a:rect l="l" t="t" r="r" b="b"/>
            <a:pathLst>
              <a:path w="304800" h="304800">
                <a:moveTo>
                  <a:pt x="19050" y="38100"/>
                </a:moveTo>
                <a:cubicBezTo>
                  <a:pt x="11370" y="38100"/>
                  <a:pt x="4405" y="42743"/>
                  <a:pt x="1429" y="49887"/>
                </a:cubicBezTo>
                <a:cubicBezTo>
                  <a:pt x="-1548" y="57031"/>
                  <a:pt x="119" y="65187"/>
                  <a:pt x="5596" y="70604"/>
                </a:cubicBezTo>
                <a:lnTo>
                  <a:pt x="114300" y="179368"/>
                </a:lnTo>
                <a:lnTo>
                  <a:pt x="114300" y="247650"/>
                </a:lnTo>
                <a:cubicBezTo>
                  <a:pt x="114300" y="252710"/>
                  <a:pt x="116324" y="257532"/>
                  <a:pt x="119896" y="261104"/>
                </a:cubicBezTo>
                <a:lnTo>
                  <a:pt x="157996" y="299204"/>
                </a:lnTo>
                <a:cubicBezTo>
                  <a:pt x="163473" y="304681"/>
                  <a:pt x="171629" y="306288"/>
                  <a:pt x="178772" y="303312"/>
                </a:cubicBezTo>
                <a:cubicBezTo>
                  <a:pt x="185916" y="300335"/>
                  <a:pt x="190500" y="293430"/>
                  <a:pt x="190500" y="285750"/>
                </a:cubicBezTo>
                <a:lnTo>
                  <a:pt x="190500" y="179368"/>
                </a:lnTo>
                <a:lnTo>
                  <a:pt x="299204" y="70664"/>
                </a:lnTo>
                <a:cubicBezTo>
                  <a:pt x="304681" y="65187"/>
                  <a:pt x="306288" y="57031"/>
                  <a:pt x="303312" y="49887"/>
                </a:cubicBezTo>
                <a:cubicBezTo>
                  <a:pt x="300335" y="42743"/>
                  <a:pt x="293430" y="38100"/>
                  <a:pt x="285750" y="38100"/>
                </a:cubicBezTo>
                <a:lnTo>
                  <a:pt x="19050" y="38100"/>
                </a:lnTo>
                <a:close/>
              </a:path>
            </a:pathLst>
          </a:custGeom>
          <a:solidFill>
            <a:srgbClr val="D35400"/>
          </a:solidFill>
          <a:ln/>
        </p:spPr>
      </p:sp>
      <p:sp>
        <p:nvSpPr>
          <p:cNvPr id="31" name="Text 29"/>
          <p:cNvSpPr/>
          <p:nvPr/>
        </p:nvSpPr>
        <p:spPr>
          <a:xfrm>
            <a:off x="10795000" y="5295900"/>
            <a:ext cx="4445000" cy="635000"/>
          </a:xfrm>
          <a:prstGeom prst="rect">
            <a:avLst/>
          </a:prstGeom>
          <a:noFill/>
          <a:ln/>
        </p:spPr>
        <p:txBody>
          <a:bodyPr wrap="square" lIns="0" tIns="0" rIns="0" bIns="0" rtlCol="0" anchor="ctr"/>
          <a:lstStyle/>
          <a:p>
            <a:pPr>
              <a:lnSpc>
                <a:spcPct val="150000"/>
              </a:lnSpc>
            </a:pPr>
            <a:r>
              <a:rPr lang="en-US" sz="1400" b="1" dirty="0">
                <a:solidFill>
                  <a:srgbClr val="1A1A1A"/>
                </a:solidFill>
                <a:latin typeface="Quattrocento Sans" pitchFamily="34" charset="0"/>
                <a:ea typeface="Quattrocento Sans" pitchFamily="34" charset="-122"/>
                <a:cs typeface="Quattrocento Sans" pitchFamily="34" charset="-120"/>
              </a:rPr>
              <a:t>Funnel Analytics</a:t>
            </a:r>
            <a:pPr>
              <a:lnSpc>
                <a:spcPct val="150000"/>
              </a:lnSpc>
            </a:pPr>
            <a:r>
              <a:rPr lang="en-US" sz="1400" dirty="0">
                <a:solidFill>
                  <a:srgbClr val="1A1A1A"/>
                </a:solidFill>
                <a:latin typeface="Quattrocento Sans" pitchFamily="34" charset="0"/>
                <a:ea typeface="Quattrocento Sans" pitchFamily="34" charset="-122"/>
                <a:cs typeface="Quattrocento Sans" pitchFamily="34" charset="-120"/>
              </a:rPr>
              <a:t> : identification des drop-offs</a:t>
            </a:r>
            <a:endParaRPr lang="en-US" sz="1600" dirty="0"/>
          </a:p>
        </p:txBody>
      </p:sp>
      <p:sp>
        <p:nvSpPr>
          <p:cNvPr id="32" name="Shape 30"/>
          <p:cNvSpPr/>
          <p:nvPr/>
        </p:nvSpPr>
        <p:spPr>
          <a:xfrm>
            <a:off x="10369550" y="6096000"/>
            <a:ext cx="266700" cy="304800"/>
          </a:xfrm>
          <a:custGeom>
            <a:avLst/>
            <a:gdLst/>
            <a:ahLst/>
            <a:cxnLst/>
            <a:rect l="l" t="t" r="r" b="b"/>
            <a:pathLst>
              <a:path w="266700" h="304800">
                <a:moveTo>
                  <a:pt x="133350" y="0"/>
                </a:moveTo>
                <a:cubicBezTo>
                  <a:pt x="122813" y="0"/>
                  <a:pt x="114300" y="8513"/>
                  <a:pt x="114300" y="19050"/>
                </a:cubicBezTo>
                <a:lnTo>
                  <a:pt x="114300" y="20955"/>
                </a:lnTo>
                <a:cubicBezTo>
                  <a:pt x="70842" y="29766"/>
                  <a:pt x="38100" y="68223"/>
                  <a:pt x="38100" y="114300"/>
                </a:cubicBezTo>
                <a:lnTo>
                  <a:pt x="38100" y="127218"/>
                </a:lnTo>
                <a:cubicBezTo>
                  <a:pt x="38100" y="155853"/>
                  <a:pt x="28337" y="183654"/>
                  <a:pt x="10478" y="206038"/>
                </a:cubicBezTo>
                <a:lnTo>
                  <a:pt x="4643" y="213300"/>
                </a:lnTo>
                <a:cubicBezTo>
                  <a:pt x="1607" y="217051"/>
                  <a:pt x="0" y="221694"/>
                  <a:pt x="0" y="226516"/>
                </a:cubicBezTo>
                <a:cubicBezTo>
                  <a:pt x="0" y="238185"/>
                  <a:pt x="9465" y="247650"/>
                  <a:pt x="21134" y="247650"/>
                </a:cubicBezTo>
                <a:lnTo>
                  <a:pt x="245507" y="247650"/>
                </a:lnTo>
                <a:cubicBezTo>
                  <a:pt x="257175" y="247650"/>
                  <a:pt x="266640" y="238185"/>
                  <a:pt x="266640" y="226516"/>
                </a:cubicBezTo>
                <a:cubicBezTo>
                  <a:pt x="266640" y="221694"/>
                  <a:pt x="265033" y="217051"/>
                  <a:pt x="261997" y="213300"/>
                </a:cubicBezTo>
                <a:lnTo>
                  <a:pt x="256163" y="206038"/>
                </a:lnTo>
                <a:cubicBezTo>
                  <a:pt x="238363" y="183654"/>
                  <a:pt x="228600" y="155853"/>
                  <a:pt x="228600" y="127218"/>
                </a:cubicBezTo>
                <a:lnTo>
                  <a:pt x="228600" y="114300"/>
                </a:lnTo>
                <a:cubicBezTo>
                  <a:pt x="228600" y="68223"/>
                  <a:pt x="195858" y="29766"/>
                  <a:pt x="152400" y="20955"/>
                </a:cubicBezTo>
                <a:lnTo>
                  <a:pt x="152400" y="19050"/>
                </a:lnTo>
                <a:cubicBezTo>
                  <a:pt x="152400" y="8513"/>
                  <a:pt x="143887" y="0"/>
                  <a:pt x="133350" y="0"/>
                </a:cubicBezTo>
                <a:close/>
                <a:moveTo>
                  <a:pt x="96441" y="276225"/>
                </a:moveTo>
                <a:cubicBezTo>
                  <a:pt x="100667" y="292656"/>
                  <a:pt x="115610" y="304800"/>
                  <a:pt x="133350" y="304800"/>
                </a:cubicBezTo>
                <a:cubicBezTo>
                  <a:pt x="151090" y="304800"/>
                  <a:pt x="166033" y="292656"/>
                  <a:pt x="170259" y="276225"/>
                </a:cubicBezTo>
                <a:lnTo>
                  <a:pt x="96441" y="276225"/>
                </a:lnTo>
                <a:close/>
              </a:path>
            </a:pathLst>
          </a:custGeom>
          <a:solidFill>
            <a:srgbClr val="D35400"/>
          </a:solidFill>
          <a:ln/>
        </p:spPr>
      </p:sp>
      <p:sp>
        <p:nvSpPr>
          <p:cNvPr id="33" name="Text 31"/>
          <p:cNvSpPr/>
          <p:nvPr/>
        </p:nvSpPr>
        <p:spPr>
          <a:xfrm>
            <a:off x="10795000" y="6057900"/>
            <a:ext cx="4445000" cy="635000"/>
          </a:xfrm>
          <a:prstGeom prst="rect">
            <a:avLst/>
          </a:prstGeom>
          <a:noFill/>
          <a:ln/>
        </p:spPr>
        <p:txBody>
          <a:bodyPr wrap="square" lIns="0" tIns="0" rIns="0" bIns="0" rtlCol="0" anchor="ctr"/>
          <a:lstStyle/>
          <a:p>
            <a:pPr>
              <a:lnSpc>
                <a:spcPct val="150000"/>
              </a:lnSpc>
            </a:pPr>
            <a:r>
              <a:rPr lang="en-US" sz="1400" b="1" dirty="0">
                <a:solidFill>
                  <a:srgbClr val="1A1A1A"/>
                </a:solidFill>
                <a:latin typeface="Quattrocento Sans" pitchFamily="34" charset="0"/>
                <a:ea typeface="Quattrocento Sans" pitchFamily="34" charset="-122"/>
                <a:cs typeface="Quattrocento Sans" pitchFamily="34" charset="-120"/>
              </a:rPr>
              <a:t>Alertes</a:t>
            </a:r>
            <a:pPr>
              <a:lnSpc>
                <a:spcPct val="150000"/>
              </a:lnSpc>
            </a:pPr>
            <a:r>
              <a:rPr lang="en-US" sz="1400" dirty="0">
                <a:solidFill>
                  <a:srgbClr val="1A1A1A"/>
                </a:solidFill>
                <a:latin typeface="Quattrocento Sans" pitchFamily="34" charset="0"/>
                <a:ea typeface="Quattrocento Sans" pitchFamily="34" charset="-122"/>
                <a:cs typeface="Quattrocento Sans" pitchFamily="34" charset="-120"/>
              </a:rPr>
              <a:t> : notifications temps reel</a:t>
            </a:r>
            <a:endParaRPr lang="en-US" sz="1600" dirty="0"/>
          </a:p>
        </p:txBody>
      </p:sp>
      <p:sp>
        <p:nvSpPr>
          <p:cNvPr id="34" name="Shape 32"/>
          <p:cNvSpPr/>
          <p:nvPr/>
        </p:nvSpPr>
        <p:spPr>
          <a:xfrm>
            <a:off x="10331450" y="6858000"/>
            <a:ext cx="342900" cy="304800"/>
          </a:xfrm>
          <a:custGeom>
            <a:avLst/>
            <a:gdLst/>
            <a:ahLst/>
            <a:cxnLst/>
            <a:rect l="l" t="t" r="r" b="b"/>
            <a:pathLst>
              <a:path w="342900" h="304800">
                <a:moveTo>
                  <a:pt x="305038" y="142875"/>
                </a:moveTo>
                <a:lnTo>
                  <a:pt x="200263" y="142875"/>
                </a:lnTo>
                <a:cubicBezTo>
                  <a:pt x="189726" y="142875"/>
                  <a:pt x="181213" y="134362"/>
                  <a:pt x="181213" y="123825"/>
                </a:cubicBezTo>
                <a:lnTo>
                  <a:pt x="181213" y="19050"/>
                </a:lnTo>
                <a:cubicBezTo>
                  <a:pt x="181213" y="8513"/>
                  <a:pt x="189786" y="-119"/>
                  <a:pt x="200204" y="1250"/>
                </a:cubicBezTo>
                <a:cubicBezTo>
                  <a:pt x="263902" y="9704"/>
                  <a:pt x="314385" y="60186"/>
                  <a:pt x="322838" y="123885"/>
                </a:cubicBezTo>
                <a:cubicBezTo>
                  <a:pt x="324207" y="134303"/>
                  <a:pt x="315575" y="142875"/>
                  <a:pt x="305038" y="142875"/>
                </a:cubicBezTo>
                <a:close/>
                <a:moveTo>
                  <a:pt x="132517" y="22146"/>
                </a:moveTo>
                <a:cubicBezTo>
                  <a:pt x="143292" y="19883"/>
                  <a:pt x="152638" y="28694"/>
                  <a:pt x="152638" y="39707"/>
                </a:cubicBezTo>
                <a:lnTo>
                  <a:pt x="152638" y="157163"/>
                </a:lnTo>
                <a:cubicBezTo>
                  <a:pt x="152638" y="160496"/>
                  <a:pt x="153829" y="163711"/>
                  <a:pt x="155912" y="166271"/>
                </a:cubicBezTo>
                <a:lnTo>
                  <a:pt x="234553" y="261164"/>
                </a:lnTo>
                <a:cubicBezTo>
                  <a:pt x="241518" y="269558"/>
                  <a:pt x="240030" y="282238"/>
                  <a:pt x="230445" y="287417"/>
                </a:cubicBezTo>
                <a:cubicBezTo>
                  <a:pt x="210145" y="298490"/>
                  <a:pt x="186869" y="304800"/>
                  <a:pt x="162163" y="304800"/>
                </a:cubicBezTo>
                <a:cubicBezTo>
                  <a:pt x="83284" y="304800"/>
                  <a:pt x="19288" y="240804"/>
                  <a:pt x="19288" y="161925"/>
                </a:cubicBezTo>
                <a:cubicBezTo>
                  <a:pt x="19288" y="93166"/>
                  <a:pt x="67806" y="35778"/>
                  <a:pt x="132517" y="22146"/>
                </a:cubicBezTo>
                <a:close/>
                <a:moveTo>
                  <a:pt x="284440" y="171450"/>
                </a:moveTo>
                <a:lnTo>
                  <a:pt x="322540" y="171450"/>
                </a:lnTo>
                <a:cubicBezTo>
                  <a:pt x="333554" y="171450"/>
                  <a:pt x="342364" y="180796"/>
                  <a:pt x="340102" y="191572"/>
                </a:cubicBezTo>
                <a:cubicBezTo>
                  <a:pt x="334030" y="220385"/>
                  <a:pt x="319266" y="245983"/>
                  <a:pt x="298668" y="265509"/>
                </a:cubicBezTo>
                <a:cubicBezTo>
                  <a:pt x="291346" y="272475"/>
                  <a:pt x="279856" y="270986"/>
                  <a:pt x="273427" y="263188"/>
                </a:cubicBezTo>
                <a:lnTo>
                  <a:pt x="223183" y="202644"/>
                </a:lnTo>
                <a:cubicBezTo>
                  <a:pt x="212884" y="190202"/>
                  <a:pt x="221754" y="171450"/>
                  <a:pt x="237827" y="171450"/>
                </a:cubicBezTo>
                <a:lnTo>
                  <a:pt x="284381" y="171450"/>
                </a:lnTo>
                <a:close/>
              </a:path>
            </a:pathLst>
          </a:custGeom>
          <a:solidFill>
            <a:srgbClr val="D35400"/>
          </a:solidFill>
          <a:ln/>
        </p:spPr>
      </p:sp>
      <p:sp>
        <p:nvSpPr>
          <p:cNvPr id="35" name="Text 33"/>
          <p:cNvSpPr/>
          <p:nvPr/>
        </p:nvSpPr>
        <p:spPr>
          <a:xfrm>
            <a:off x="10795000" y="6819900"/>
            <a:ext cx="4445000" cy="635000"/>
          </a:xfrm>
          <a:prstGeom prst="rect">
            <a:avLst/>
          </a:prstGeom>
          <a:noFill/>
          <a:ln/>
        </p:spPr>
        <p:txBody>
          <a:bodyPr wrap="square" lIns="0" tIns="0" rIns="0" bIns="0" rtlCol="0" anchor="ctr"/>
          <a:lstStyle/>
          <a:p>
            <a:pPr>
              <a:lnSpc>
                <a:spcPct val="150000"/>
              </a:lnSpc>
            </a:pPr>
            <a:r>
              <a:rPr lang="en-US" sz="1400" b="1" dirty="0">
                <a:solidFill>
                  <a:srgbClr val="1A1A1A"/>
                </a:solidFill>
                <a:latin typeface="Quattrocento Sans" pitchFamily="34" charset="0"/>
                <a:ea typeface="Quattrocento Sans" pitchFamily="34" charset="-122"/>
                <a:cs typeface="Quattrocento Sans" pitchFamily="34" charset="-120"/>
              </a:rPr>
              <a:t>Rapports</a:t>
            </a:r>
            <a:pPr>
              <a:lnSpc>
                <a:spcPct val="150000"/>
              </a:lnSpc>
            </a:pPr>
            <a:r>
              <a:rPr lang="en-US" sz="1400" dirty="0">
                <a:solidFill>
                  <a:srgbClr val="1A1A1A"/>
                </a:solidFill>
                <a:latin typeface="Quattrocento Sans" pitchFamily="34" charset="0"/>
                <a:ea typeface="Quattrocento Sans" pitchFamily="34" charset="-122"/>
                <a:cs typeface="Quattrocento Sans" pitchFamily="34" charset="-120"/>
              </a:rPr>
              <a:t> : analytics operationnels et metier</a:t>
            </a:r>
            <a:endParaRPr lang="en-US" sz="1600" dirty="0"/>
          </a:p>
        </p:txBody>
      </p:sp>
      <p:sp>
        <p:nvSpPr>
          <p:cNvPr id="36" name="Text 34"/>
          <p:cNvSpPr/>
          <p:nvPr/>
        </p:nvSpPr>
        <p:spPr>
          <a:xfrm>
            <a:off x="14986000" y="8636000"/>
            <a:ext cx="762000" cy="254000"/>
          </a:xfrm>
          <a:prstGeom prst="rect">
            <a:avLst/>
          </a:prstGeom>
          <a:noFill/>
          <a:ln/>
        </p:spPr>
        <p:txBody>
          <a:bodyPr wrap="none" lIns="0" tIns="0" rIns="0" bIns="0" rtlCol="0" anchor="ctr"/>
          <a:lstStyle/>
          <a:p>
            <a:pPr algn="r">
              <a:lnSpc>
                <a:spcPct val="140000"/>
              </a:lnSpc>
            </a:pPr>
            <a:r>
              <a:rPr lang="en-US" sz="1200" dirty="0">
                <a:solidFill>
                  <a:srgbClr val="8A8A8A"/>
                </a:solidFill>
                <a:latin typeface="QuattrocentoSans" pitchFamily="34" charset="0"/>
                <a:ea typeface="QuattrocentoSans" pitchFamily="34" charset="-122"/>
                <a:cs typeface="QuattrocentoSans" pitchFamily="34" charset="-120"/>
              </a:rPr>
              <a:t>13</a:t>
            </a:r>
            <a:endParaRPr lang="en-US" sz="1200" dirty="0"/>
          </a:p>
        </p:txBody>
      </p:sp>
    </p:spTree>
  </p:cSld>
  <p:clrMapOvr>
    <a:masterClrMapping/>
  </p:clrMapOvr>
  <p:transition>
    <p:fade/>
    <p:spd val="med"/>
  </p:transition>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https://kimi-img.moonshot.cn/pub/slides/okc/eqhpli636fwka/mnt/agents/output/veripass-presentation/images/4_Am_nagement_urbain_Paul_Biya_autorise.png">    </p:cNvPr>
          <p:cNvPicPr>
            <a:picLocks noChangeAspect="1"/>
          </p:cNvPicPr>
          <p:nvPr/>
        </p:nvPicPr>
        <p:blipFill>
          <a:blip r:embed="rId1"/>
          <a:srcRect l="0" r="0" t="50" b="50"/>
          <a:stretch/>
        </p:blipFill>
        <p:spPr>
          <a:xfrm>
            <a:off x="0" y="0"/>
            <a:ext cx="16256000" cy="9144000"/>
          </a:xfrm>
          <a:prstGeom prst="rect">
            <a:avLst/>
          </a:prstGeom>
        </p:spPr>
      </p:pic>
      <p:sp>
        <p:nvSpPr>
          <p:cNvPr id="3" name="Shape 0"/>
          <p:cNvSpPr/>
          <p:nvPr/>
        </p:nvSpPr>
        <p:spPr>
          <a:xfrm>
            <a:off x="0" y="0"/>
            <a:ext cx="16256000" cy="9144000"/>
          </a:xfrm>
          <a:prstGeom prst="rect">
            <a:avLst/>
          </a:prstGeom>
          <a:gradFill rotWithShape="1" flip="none">
            <a:gsLst>
              <a:gs pos="0">
                <a:srgbClr val="0F0F0F">
                  <a:alpha val="93000"/>
                </a:srgbClr>
              </a:gs>
              <a:gs pos="60000">
                <a:srgbClr val="0F0F0F">
                  <a:alpha val="87000"/>
                </a:srgbClr>
              </a:gs>
              <a:gs pos="100000">
                <a:srgbClr val="0F0F0F">
                  <a:alpha val="60000"/>
                </a:srgbClr>
              </a:gs>
            </a:gsLst>
            <a:lin ang="0" scaled="1"/>
          </a:gradFill>
          <a:ln w="12700">
            <a:solidFill>
              <a:srgbClr val="333333"/>
            </a:solidFill>
            <a:prstDash val="solid"/>
          </a:ln>
        </p:spPr>
      </p:sp>
      <p:sp>
        <p:nvSpPr>
          <p:cNvPr id="4" name="Text 1"/>
          <p:cNvSpPr/>
          <p:nvPr/>
        </p:nvSpPr>
        <p:spPr>
          <a:xfrm>
            <a:off x="762000" y="1524000"/>
            <a:ext cx="5080000" cy="2540000"/>
          </a:xfrm>
          <a:prstGeom prst="rect">
            <a:avLst/>
          </a:prstGeom>
          <a:noFill/>
          <a:ln/>
        </p:spPr>
        <p:txBody>
          <a:bodyPr wrap="none" lIns="0" tIns="0" rIns="0" bIns="0" rtlCol="0" anchor="ctr"/>
          <a:lstStyle/>
          <a:p>
            <a:pPr>
              <a:lnSpc>
                <a:spcPct val="100000"/>
              </a:lnSpc>
            </a:pPr>
            <a:r>
              <a:rPr lang="en-US" sz="18000" dirty="0">
                <a:solidFill>
                  <a:srgbClr val="F39C12">
                    <a:alpha val="9412"/>
                  </a:srgbClr>
                </a:solidFill>
                <a:latin typeface="Liter" pitchFamily="34" charset="0"/>
                <a:ea typeface="Liter" pitchFamily="34" charset="-122"/>
                <a:cs typeface="Liter" pitchFamily="34" charset="-120"/>
              </a:rPr>
              <a:t>04</a:t>
            </a:r>
            <a:endParaRPr lang="en-US" sz="1600" dirty="0"/>
          </a:p>
        </p:txBody>
      </p:sp>
      <p:sp>
        <p:nvSpPr>
          <p:cNvPr id="5" name="Text 2"/>
          <p:cNvSpPr/>
          <p:nvPr/>
        </p:nvSpPr>
        <p:spPr>
          <a:xfrm>
            <a:off x="762000" y="3048000"/>
            <a:ext cx="1524000" cy="381000"/>
          </a:xfrm>
          <a:prstGeom prst="rect">
            <a:avLst/>
          </a:prstGeom>
          <a:noFill/>
          <a:ln/>
        </p:spPr>
        <p:txBody>
          <a:bodyPr wrap="none" lIns="0" tIns="0" rIns="0" bIns="0" rtlCol="0" anchor="ctr"/>
          <a:lstStyle/>
          <a:p>
            <a:pPr>
              <a:lnSpc>
                <a:spcPct val="120000"/>
              </a:lnSpc>
            </a:pPr>
            <a:r>
              <a:rPr lang="en-US" sz="1200" spc="200" kern="0" dirty="0">
                <a:solidFill>
                  <a:srgbClr val="F39C12"/>
                </a:solidFill>
                <a:latin typeface="Liter" pitchFamily="34" charset="0"/>
                <a:ea typeface="Liter" pitchFamily="34" charset="-122"/>
                <a:cs typeface="Liter" pitchFamily="34" charset="-120"/>
              </a:rPr>
              <a:t>CHAPITRE 04</a:t>
            </a:r>
            <a:endParaRPr lang="en-US" sz="1200" dirty="0"/>
          </a:p>
        </p:txBody>
      </p:sp>
      <p:sp>
        <p:nvSpPr>
          <p:cNvPr id="6" name="Shape 3"/>
          <p:cNvSpPr/>
          <p:nvPr/>
        </p:nvSpPr>
        <p:spPr>
          <a:xfrm>
            <a:off x="762000" y="3556000"/>
            <a:ext cx="762000" cy="50800"/>
          </a:xfrm>
          <a:prstGeom prst="rect">
            <a:avLst/>
          </a:prstGeom>
          <a:solidFill>
            <a:srgbClr val="F39C12"/>
          </a:solidFill>
          <a:ln/>
        </p:spPr>
      </p:sp>
      <p:sp>
        <p:nvSpPr>
          <p:cNvPr id="7" name="Text 4"/>
          <p:cNvSpPr/>
          <p:nvPr/>
        </p:nvSpPr>
        <p:spPr>
          <a:xfrm>
            <a:off x="762000" y="3810000"/>
            <a:ext cx="8890000" cy="762000"/>
          </a:xfrm>
          <a:prstGeom prst="rect">
            <a:avLst/>
          </a:prstGeom>
          <a:noFill/>
          <a:ln/>
        </p:spPr>
        <p:txBody>
          <a:bodyPr wrap="none" lIns="0" tIns="0" rIns="0" bIns="0" rtlCol="0" anchor="ctr"/>
          <a:lstStyle/>
          <a:p>
            <a:pPr>
              <a:lnSpc>
                <a:spcPct val="120000"/>
              </a:lnSpc>
            </a:pPr>
            <a:r>
              <a:rPr lang="en-US" sz="4400" spc="300" kern="0" dirty="0">
                <a:solidFill>
                  <a:srgbClr val="FFFFFF"/>
                </a:solidFill>
                <a:latin typeface="Liter" pitchFamily="34" charset="0"/>
                <a:ea typeface="Liter" pitchFamily="34" charset="-122"/>
                <a:cs typeface="Liter" pitchFamily="34" charset="-120"/>
              </a:rPr>
              <a:t>L'OPPORTUNITE</a:t>
            </a:r>
            <a:endParaRPr lang="en-US" sz="4800" dirty="0"/>
          </a:p>
        </p:txBody>
      </p:sp>
      <p:sp>
        <p:nvSpPr>
          <p:cNvPr id="8" name="Text 5"/>
          <p:cNvSpPr/>
          <p:nvPr/>
        </p:nvSpPr>
        <p:spPr>
          <a:xfrm>
            <a:off x="762000" y="4826000"/>
            <a:ext cx="8890000" cy="1524000"/>
          </a:xfrm>
          <a:prstGeom prst="rect">
            <a:avLst/>
          </a:prstGeom>
          <a:noFill/>
          <a:ln/>
        </p:spPr>
        <p:txBody>
          <a:bodyPr wrap="square" lIns="0" tIns="0" rIns="0" bIns="0" rtlCol="0" anchor="ctr"/>
          <a:lstStyle/>
          <a:p>
            <a:pPr>
              <a:lnSpc>
                <a:spcPct val="160000"/>
              </a:lnSpc>
            </a:pPr>
            <a:r>
              <a:rPr lang="en-US" sz="2000" dirty="0">
                <a:solidFill>
                  <a:srgbClr val="FFFFFF">
                    <a:alpha val="73333"/>
                  </a:srgbClr>
                </a:solidFill>
                <a:latin typeface="Quattrocento Sans" pitchFamily="34" charset="0"/>
                <a:ea typeface="Quattrocento Sans" pitchFamily="34" charset="-122"/>
                <a:cs typeface="Quattrocento Sans" pitchFamily="34" charset="-120"/>
              </a:rPr>
              <a:t>Un pilote controle, mesurable, a faible cout. 20 a 50 dossiers. 2 a 4 semaines. A la fin, la BICEC aura les donnees pour decider d'industrialiser, d'acheter, d'hybrider ou d'arreter.</a:t>
            </a:r>
            <a:endParaRPr lang="en-US" sz="1600" dirty="0"/>
          </a:p>
        </p:txBody>
      </p:sp>
      <p:sp>
        <p:nvSpPr>
          <p:cNvPr id="9" name="Shape 6"/>
          <p:cNvSpPr/>
          <p:nvPr/>
        </p:nvSpPr>
        <p:spPr>
          <a:xfrm>
            <a:off x="0" y="8890000"/>
            <a:ext cx="16256000" cy="254000"/>
          </a:xfrm>
          <a:prstGeom prst="rect">
            <a:avLst/>
          </a:prstGeom>
          <a:solidFill>
            <a:srgbClr val="F39C12"/>
          </a:solidFill>
          <a:ln/>
        </p:spPr>
      </p:sp>
    </p:spTree>
  </p:cSld>
  <p:clrMapOvr>
    <a:masterClrMapping/>
  </p:clrMapOvr>
  <p:transition>
    <p:fade/>
    <p:spd val="med"/>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https://kimi-img.moonshot.cn/pub/slides/26-05-31-11:37:01-d8dqpnbduqbbfvj7q400.png">    </p:cNvPr>
          <p:cNvPicPr>
            <a:picLocks noChangeAspect="1"/>
          </p:cNvPicPr>
          <p:nvPr/>
        </p:nvPicPr>
        <p:blipFill>
          <a:blip r:embed="rId1"/>
          <a:stretch>
            <a:fillRect/>
          </a:stretch>
        </p:blipFill>
        <p:spPr>
          <a:xfrm>
            <a:off x="8440615" y="0"/>
            <a:ext cx="4220308" cy="9144000"/>
          </a:xfrm>
          <a:prstGeom prst="rect">
            <a:avLst/>
          </a:prstGeom>
        </p:spPr>
      </p:pic>
      <p:pic>
        <p:nvPicPr>
          <p:cNvPr id="3" name="Image 1" descr="https://kimi-img.moonshot.cn/pub/slides/26-05-31-11:38:05-d8dqq7bmv21i3p3fjc0g.png">    </p:cNvPr>
          <p:cNvPicPr>
            <a:picLocks noChangeAspect="1"/>
          </p:cNvPicPr>
          <p:nvPr/>
        </p:nvPicPr>
        <p:blipFill>
          <a:blip r:embed="rId2"/>
          <a:stretch>
            <a:fillRect/>
          </a:stretch>
        </p:blipFill>
        <p:spPr>
          <a:xfrm>
            <a:off x="0" y="0"/>
            <a:ext cx="4220308" cy="9144000"/>
          </a:xfrm>
          <a:prstGeom prst="rect">
            <a:avLst/>
          </a:prstGeom>
        </p:spPr>
      </p:pic>
      <p:pic>
        <p:nvPicPr>
          <p:cNvPr id="4" name="Image 2" descr="https://kimi-img.moonshot.cn/pub/slides/26-05-31-11:38:48-d8dqqi42sn19sq8dfcc0.png">    </p:cNvPr>
          <p:cNvPicPr>
            <a:picLocks noChangeAspect="1"/>
          </p:cNvPicPr>
          <p:nvPr/>
        </p:nvPicPr>
        <p:blipFill>
          <a:blip r:embed="rId3"/>
          <a:stretch>
            <a:fillRect/>
          </a:stretch>
        </p:blipFill>
        <p:spPr>
          <a:xfrm>
            <a:off x="4220308" y="0"/>
            <a:ext cx="4220308" cy="9144000"/>
          </a:xfrm>
          <a:prstGeom prst="rect">
            <a:avLst/>
          </a:prstGeom>
        </p:spPr>
      </p:pic>
      <p:pic>
        <p:nvPicPr>
          <p:cNvPr id="5" name="Image 3" descr="https://kimi-img.moonshot.cn/pub/slides/26-05-31-11:39:51-d8dqr1ue8aihh3qn0k2g.png">    </p:cNvPr>
          <p:cNvPicPr>
            <a:picLocks noChangeAspect="1"/>
          </p:cNvPicPr>
          <p:nvPr/>
        </p:nvPicPr>
        <p:blipFill>
          <a:blip r:embed="rId4"/>
          <a:stretch>
            <a:fillRect/>
          </a:stretch>
        </p:blipFill>
        <p:spPr>
          <a:xfrm>
            <a:off x="12660923" y="0"/>
            <a:ext cx="4220308" cy="9144000"/>
          </a:xfrm>
          <a:prstGeom prst="rect">
            <a:avLst/>
          </a:prstGeom>
        </p:spPr>
      </p:pic>
    </p:spTree>
  </p:cSld>
  <p:clrMapOvr>
    <a:masterClrMapping/>
  </p:clrMapOvr>
  <p:transition>
    <p:fade/>
    <p:spd val="med"/>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0EB"/>
        </a:solidFill>
      </p:bgPr>
    </p:bg>
    <p:spTree>
      <p:nvGrpSpPr>
        <p:cNvPr id="1" name=""/>
        <p:cNvGrpSpPr/>
        <p:nvPr/>
      </p:nvGrpSpPr>
      <p:grpSpPr>
        <a:xfrm>
          <a:off x="0" y="0"/>
          <a:ext cx="0" cy="0"/>
          <a:chOff x="0" y="0"/>
          <a:chExt cx="0" cy="0"/>
        </a:xfrm>
      </p:grpSpPr>
      <p:sp>
        <p:nvSpPr>
          <p:cNvPr id="2" name="Shape 0"/>
          <p:cNvSpPr/>
          <p:nvPr/>
        </p:nvSpPr>
        <p:spPr>
          <a:xfrm>
            <a:off x="762000" y="635000"/>
            <a:ext cx="508000" cy="50800"/>
          </a:xfrm>
          <a:prstGeom prst="rect">
            <a:avLst/>
          </a:prstGeom>
          <a:solidFill>
            <a:srgbClr val="D35400"/>
          </a:solidFill>
          <a:ln/>
        </p:spPr>
      </p:sp>
      <p:sp>
        <p:nvSpPr>
          <p:cNvPr id="3" name="Text 1"/>
          <p:cNvSpPr/>
          <p:nvPr/>
        </p:nvSpPr>
        <p:spPr>
          <a:xfrm>
            <a:off x="762000" y="825500"/>
            <a:ext cx="2540000" cy="254000"/>
          </a:xfrm>
          <a:prstGeom prst="rect">
            <a:avLst/>
          </a:prstGeom>
          <a:noFill/>
          <a:ln/>
        </p:spPr>
        <p:txBody>
          <a:bodyPr wrap="none" lIns="0" tIns="0" rIns="0" bIns="0" rtlCol="0" anchor="ctr"/>
          <a:lstStyle/>
          <a:p>
            <a:pPr>
              <a:lnSpc>
                <a:spcPct val="120000"/>
              </a:lnSpc>
            </a:pPr>
            <a:r>
              <a:rPr lang="en-US" sz="1200" spc="200" kern="0" dirty="0">
                <a:solidFill>
                  <a:srgbClr val="D35400"/>
                </a:solidFill>
                <a:latin typeface="Liter" pitchFamily="34" charset="0"/>
                <a:ea typeface="Liter" pitchFamily="34" charset="-122"/>
                <a:cs typeface="Liter" pitchFamily="34" charset="-120"/>
              </a:rPr>
              <a:t>L'OPPORTUNITE</a:t>
            </a:r>
            <a:endParaRPr lang="en-US" sz="1200" dirty="0"/>
          </a:p>
        </p:txBody>
      </p:sp>
      <p:sp>
        <p:nvSpPr>
          <p:cNvPr id="4" name="Text 2"/>
          <p:cNvSpPr/>
          <p:nvPr/>
        </p:nvSpPr>
        <p:spPr>
          <a:xfrm>
            <a:off x="762000" y="1206500"/>
            <a:ext cx="11430000" cy="571500"/>
          </a:xfrm>
          <a:prstGeom prst="rect">
            <a:avLst/>
          </a:prstGeom>
          <a:noFill/>
          <a:ln/>
        </p:spPr>
        <p:txBody>
          <a:bodyPr wrap="square" lIns="0" tIns="0" rIns="0" bIns="0" rtlCol="0" anchor="ctr"/>
          <a:lstStyle/>
          <a:p>
            <a:pPr>
              <a:lnSpc>
                <a:spcPct val="130000"/>
              </a:lnSpc>
            </a:pPr>
            <a:r>
              <a:rPr lang="en-US" sz="3000" dirty="0">
                <a:solidFill>
                  <a:srgbClr val="1A1A1A"/>
                </a:solidFill>
                <a:latin typeface="Liter" pitchFamily="34" charset="0"/>
                <a:ea typeface="Liter" pitchFamily="34" charset="-122"/>
                <a:cs typeface="Liter" pitchFamily="34" charset="-120"/>
              </a:rPr>
              <a:t>Un pilote pour mesurer, pas un deploiement pour risquer</a:t>
            </a:r>
            <a:endParaRPr lang="en-US" sz="3000" dirty="0"/>
          </a:p>
        </p:txBody>
      </p:sp>
      <p:sp>
        <p:nvSpPr>
          <p:cNvPr id="5" name="Shape 3"/>
          <p:cNvSpPr/>
          <p:nvPr/>
        </p:nvSpPr>
        <p:spPr>
          <a:xfrm>
            <a:off x="762000" y="2095500"/>
            <a:ext cx="4572000" cy="2540000"/>
          </a:xfrm>
          <a:prstGeom prst="rect">
            <a:avLst/>
          </a:prstGeom>
          <a:solidFill>
            <a:srgbClr val="5D2E18"/>
          </a:solidFill>
          <a:ln/>
        </p:spPr>
      </p:sp>
      <p:sp>
        <p:nvSpPr>
          <p:cNvPr id="6" name="Text 4"/>
          <p:cNvSpPr/>
          <p:nvPr/>
        </p:nvSpPr>
        <p:spPr>
          <a:xfrm>
            <a:off x="1016000" y="2286000"/>
            <a:ext cx="2540000" cy="279400"/>
          </a:xfrm>
          <a:prstGeom prst="rect">
            <a:avLst/>
          </a:prstGeom>
          <a:noFill/>
          <a:ln/>
        </p:spPr>
        <p:txBody>
          <a:bodyPr wrap="none" lIns="0" tIns="0" rIns="0" bIns="0" rtlCol="0" anchor="ctr"/>
          <a:lstStyle/>
          <a:p>
            <a:pPr>
              <a:lnSpc>
                <a:spcPct val="100000"/>
              </a:lnSpc>
            </a:pPr>
            <a:r>
              <a:rPr lang="en-US" sz="1400" spc="100" kern="0" dirty="0">
                <a:solidFill>
                  <a:srgbClr val="F39C12"/>
                </a:solidFill>
                <a:latin typeface="Liter" pitchFamily="34" charset="0"/>
                <a:ea typeface="Liter" pitchFamily="34" charset="-122"/>
                <a:cs typeface="Liter" pitchFamily="34" charset="-120"/>
              </a:rPr>
              <a:t>PERIMETRE PILOTE</a:t>
            </a:r>
            <a:endParaRPr lang="en-US" sz="1600" dirty="0"/>
          </a:p>
        </p:txBody>
      </p:sp>
      <p:sp>
        <p:nvSpPr>
          <p:cNvPr id="7" name="Text 5"/>
          <p:cNvSpPr/>
          <p:nvPr/>
        </p:nvSpPr>
        <p:spPr>
          <a:xfrm>
            <a:off x="1016000" y="2667000"/>
            <a:ext cx="1905000" cy="635000"/>
          </a:xfrm>
          <a:prstGeom prst="rect">
            <a:avLst/>
          </a:prstGeom>
          <a:noFill/>
          <a:ln/>
        </p:spPr>
        <p:txBody>
          <a:bodyPr wrap="none" lIns="0" tIns="0" rIns="0" bIns="0" rtlCol="0" anchor="ctr"/>
          <a:lstStyle/>
          <a:p>
            <a:pPr>
              <a:lnSpc>
                <a:spcPct val="100000"/>
              </a:lnSpc>
            </a:pPr>
            <a:r>
              <a:rPr lang="en-US" sz="4400" dirty="0">
                <a:solidFill>
                  <a:srgbClr val="FFFFFF"/>
                </a:solidFill>
                <a:latin typeface="Liter" pitchFamily="34" charset="0"/>
                <a:ea typeface="Liter" pitchFamily="34" charset="-122"/>
                <a:cs typeface="Liter" pitchFamily="34" charset="-120"/>
              </a:rPr>
              <a:t>20-50</a:t>
            </a:r>
            <a:endParaRPr lang="en-US" sz="1600" dirty="0"/>
          </a:p>
        </p:txBody>
      </p:sp>
      <p:sp>
        <p:nvSpPr>
          <p:cNvPr id="8" name="Text 6"/>
          <p:cNvSpPr/>
          <p:nvPr/>
        </p:nvSpPr>
        <p:spPr>
          <a:xfrm>
            <a:off x="1016000" y="3327400"/>
            <a:ext cx="2540000" cy="254000"/>
          </a:xfrm>
          <a:prstGeom prst="rect">
            <a:avLst/>
          </a:prstGeom>
          <a:noFill/>
          <a:ln/>
        </p:spPr>
        <p:txBody>
          <a:bodyPr wrap="none" lIns="0" tIns="0" rIns="0" bIns="0" rtlCol="0" anchor="ctr"/>
          <a:lstStyle/>
          <a:p>
            <a:pPr>
              <a:lnSpc>
                <a:spcPct val="100000"/>
              </a:lnSpc>
            </a:pPr>
            <a:r>
              <a:rPr lang="en-US" sz="1300" dirty="0">
                <a:solidFill>
                  <a:srgbClr val="8A8A8A"/>
                </a:solidFill>
                <a:latin typeface="Quattrocento Sans" pitchFamily="34" charset="0"/>
                <a:ea typeface="Quattrocento Sans" pitchFamily="34" charset="-122"/>
                <a:cs typeface="Quattrocento Sans" pitchFamily="34" charset="-120"/>
              </a:rPr>
              <a:t>dossiers de test controles</a:t>
            </a:r>
            <a:endParaRPr lang="en-US" sz="1600" dirty="0"/>
          </a:p>
        </p:txBody>
      </p:sp>
      <p:sp>
        <p:nvSpPr>
          <p:cNvPr id="9" name="Text 7"/>
          <p:cNvSpPr/>
          <p:nvPr/>
        </p:nvSpPr>
        <p:spPr>
          <a:xfrm>
            <a:off x="1016000" y="3683000"/>
            <a:ext cx="1905000" cy="635000"/>
          </a:xfrm>
          <a:prstGeom prst="rect">
            <a:avLst/>
          </a:prstGeom>
          <a:noFill/>
          <a:ln/>
        </p:spPr>
        <p:txBody>
          <a:bodyPr wrap="none" lIns="0" tIns="0" rIns="0" bIns="0" rtlCol="0" anchor="ctr"/>
          <a:lstStyle/>
          <a:p>
            <a:pPr>
              <a:lnSpc>
                <a:spcPct val="100000"/>
              </a:lnSpc>
            </a:pPr>
            <a:r>
              <a:rPr lang="en-US" sz="4400" dirty="0">
                <a:solidFill>
                  <a:srgbClr val="FFFFFF"/>
                </a:solidFill>
                <a:latin typeface="Liter" pitchFamily="34" charset="0"/>
                <a:ea typeface="Liter" pitchFamily="34" charset="-122"/>
                <a:cs typeface="Liter" pitchFamily="34" charset="-120"/>
              </a:rPr>
              <a:t>2-4</a:t>
            </a:r>
            <a:endParaRPr lang="en-US" sz="1600" dirty="0"/>
          </a:p>
        </p:txBody>
      </p:sp>
      <p:sp>
        <p:nvSpPr>
          <p:cNvPr id="10" name="Text 8"/>
          <p:cNvSpPr/>
          <p:nvPr/>
        </p:nvSpPr>
        <p:spPr>
          <a:xfrm>
            <a:off x="1016000" y="4343400"/>
            <a:ext cx="2540000" cy="279400"/>
          </a:xfrm>
          <a:prstGeom prst="rect">
            <a:avLst/>
          </a:prstGeom>
          <a:noFill/>
          <a:ln/>
        </p:spPr>
        <p:txBody>
          <a:bodyPr wrap="none" lIns="0" tIns="0" rIns="0" bIns="0" rtlCol="0" anchor="ctr"/>
          <a:lstStyle/>
          <a:p>
            <a:pPr>
              <a:lnSpc>
                <a:spcPct val="100000"/>
              </a:lnSpc>
            </a:pPr>
            <a:r>
              <a:rPr lang="en-US" sz="1300" dirty="0">
                <a:solidFill>
                  <a:srgbClr val="8A8A8A"/>
                </a:solidFill>
                <a:latin typeface="Quattrocento Sans" pitchFamily="34" charset="0"/>
                <a:ea typeface="Quattrocento Sans" pitchFamily="34" charset="-122"/>
                <a:cs typeface="Quattrocento Sans" pitchFamily="34" charset="-120"/>
              </a:rPr>
              <a:t>semaines de pilote</a:t>
            </a:r>
            <a:endParaRPr lang="en-US" sz="1600" dirty="0"/>
          </a:p>
        </p:txBody>
      </p:sp>
      <p:sp>
        <p:nvSpPr>
          <p:cNvPr id="11" name="Shape 9"/>
          <p:cNvSpPr/>
          <p:nvPr/>
        </p:nvSpPr>
        <p:spPr>
          <a:xfrm>
            <a:off x="5715000" y="2095500"/>
            <a:ext cx="4572000" cy="2540000"/>
          </a:xfrm>
          <a:prstGeom prst="rect">
            <a:avLst/>
          </a:prstGeom>
          <a:solidFill>
            <a:srgbClr val="D35400"/>
          </a:solidFill>
          <a:ln/>
        </p:spPr>
      </p:sp>
      <p:sp>
        <p:nvSpPr>
          <p:cNvPr id="12" name="Text 10"/>
          <p:cNvSpPr/>
          <p:nvPr/>
        </p:nvSpPr>
        <p:spPr>
          <a:xfrm>
            <a:off x="5969000" y="2286000"/>
            <a:ext cx="2540000" cy="279400"/>
          </a:xfrm>
          <a:prstGeom prst="rect">
            <a:avLst/>
          </a:prstGeom>
          <a:noFill/>
          <a:ln/>
        </p:spPr>
        <p:txBody>
          <a:bodyPr wrap="none" lIns="0" tIns="0" rIns="0" bIns="0" rtlCol="0" anchor="ctr"/>
          <a:lstStyle/>
          <a:p>
            <a:pPr>
              <a:lnSpc>
                <a:spcPct val="100000"/>
              </a:lnSpc>
            </a:pPr>
            <a:r>
              <a:rPr lang="en-US" sz="1400" spc="100" kern="0" dirty="0">
                <a:solidFill>
                  <a:srgbClr val="FFFFFF"/>
                </a:solidFill>
                <a:latin typeface="Liter" pitchFamily="34" charset="0"/>
                <a:ea typeface="Liter" pitchFamily="34" charset="-122"/>
                <a:cs typeface="Liter" pitchFamily="34" charset="-120"/>
              </a:rPr>
              <a:t>SORTIE PILOTE</a:t>
            </a:r>
            <a:endParaRPr lang="en-US" sz="1600" dirty="0"/>
          </a:p>
        </p:txBody>
      </p:sp>
      <p:sp>
        <p:nvSpPr>
          <p:cNvPr id="13" name="Text 11"/>
          <p:cNvSpPr/>
          <p:nvPr/>
        </p:nvSpPr>
        <p:spPr>
          <a:xfrm>
            <a:off x="5969000" y="2730500"/>
            <a:ext cx="4064000" cy="1651000"/>
          </a:xfrm>
          <a:prstGeom prst="rect">
            <a:avLst/>
          </a:prstGeom>
          <a:noFill/>
          <a:ln/>
        </p:spPr>
        <p:txBody>
          <a:bodyPr wrap="square" lIns="0" tIns="0" rIns="0" bIns="0" rtlCol="0" anchor="ctr"/>
          <a:lstStyle/>
          <a:p>
            <a:pPr>
              <a:lnSpc>
                <a:spcPct val="160000"/>
              </a:lnSpc>
            </a:pPr>
            <a:r>
              <a:rPr lang="en-US" sz="1500" dirty="0">
                <a:solidFill>
                  <a:srgbClr val="FFFFFF"/>
                </a:solidFill>
                <a:latin typeface="Quattrocento Sans" pitchFamily="34" charset="0"/>
                <a:ea typeface="Quattrocento Sans" pitchFamily="34" charset="-122"/>
                <a:cs typeface="Quattrocento Sans" pitchFamily="34" charset="-120"/>
              </a:rPr>
              <a:t>■ Rapport KPI complet</a:t>
            </a:r>
            <a:endParaRPr lang="en-US" sz="1600" dirty="0"/>
          </a:p>
          <a:p>
            <a:pPr>
              <a:lnSpc>
                <a:spcPct val="160000"/>
              </a:lnSpc>
            </a:pPr>
            <a:r>
              <a:rPr lang="en-US" sz="1500" dirty="0">
                <a:solidFill>
                  <a:srgbClr val="FFFFFF"/>
                </a:solidFill>
                <a:latin typeface="Quattrocento Sans" pitchFamily="34" charset="0"/>
                <a:ea typeface="Quattrocento Sans" pitchFamily="34" charset="-122"/>
                <a:cs typeface="Quattrocento Sans" pitchFamily="34" charset="-120"/>
              </a:rPr>
              <a:t>■ Analyse des risques</a:t>
            </a:r>
            <a:endParaRPr lang="en-US" sz="1600" dirty="0"/>
          </a:p>
          <a:p>
            <a:pPr>
              <a:lnSpc>
                <a:spcPct val="160000"/>
              </a:lnSpc>
            </a:pPr>
            <a:r>
              <a:rPr lang="en-US" sz="1500" dirty="0">
                <a:solidFill>
                  <a:srgbClr val="FFFFFF"/>
                </a:solidFill>
                <a:latin typeface="Quattrocento Sans" pitchFamily="34" charset="0"/>
                <a:ea typeface="Quattrocento Sans" pitchFamily="34" charset="-122"/>
                <a:cs typeface="Quattrocento Sans" pitchFamily="34" charset="-120"/>
              </a:rPr>
              <a:t>■ Budget industrialisation</a:t>
            </a:r>
            <a:endParaRPr lang="en-US" sz="1600" dirty="0"/>
          </a:p>
          <a:p>
            <a:pPr>
              <a:lnSpc>
                <a:spcPct val="160000"/>
              </a:lnSpc>
            </a:pPr>
            <a:r>
              <a:rPr lang="en-US" sz="1500" dirty="0">
                <a:solidFill>
                  <a:srgbClr val="FFFFFF"/>
                </a:solidFill>
                <a:latin typeface="Quattrocento Sans" pitchFamily="34" charset="0"/>
                <a:ea typeface="Quattrocento Sans" pitchFamily="34" charset="-122"/>
                <a:cs typeface="Quattrocento Sans" pitchFamily="34" charset="-120"/>
              </a:rPr>
              <a:t>■ Decision eclairee</a:t>
            </a:r>
            <a:endParaRPr lang="en-US" sz="1600" dirty="0"/>
          </a:p>
        </p:txBody>
      </p:sp>
      <p:sp>
        <p:nvSpPr>
          <p:cNvPr id="14" name="Shape 12"/>
          <p:cNvSpPr/>
          <p:nvPr/>
        </p:nvSpPr>
        <p:spPr>
          <a:xfrm>
            <a:off x="10668000" y="2095500"/>
            <a:ext cx="4826000" cy="2540000"/>
          </a:xfrm>
          <a:prstGeom prst="rect">
            <a:avLst/>
          </a:prstGeom>
          <a:solidFill>
            <a:srgbClr val="FFFFFF"/>
          </a:solidFill>
          <a:ln w="12700">
            <a:solidFill>
              <a:srgbClr val="E0DCD8"/>
            </a:solidFill>
            <a:prstDash val="solid"/>
          </a:ln>
        </p:spPr>
      </p:sp>
      <p:sp>
        <p:nvSpPr>
          <p:cNvPr id="15" name="Text 13"/>
          <p:cNvSpPr/>
          <p:nvPr/>
        </p:nvSpPr>
        <p:spPr>
          <a:xfrm>
            <a:off x="10922000" y="2286000"/>
            <a:ext cx="3175000" cy="279400"/>
          </a:xfrm>
          <a:prstGeom prst="rect">
            <a:avLst/>
          </a:prstGeom>
          <a:noFill/>
          <a:ln/>
        </p:spPr>
        <p:txBody>
          <a:bodyPr wrap="none" lIns="0" tIns="0" rIns="0" bIns="0" rtlCol="0" anchor="ctr"/>
          <a:lstStyle/>
          <a:p>
            <a:pPr>
              <a:lnSpc>
                <a:spcPct val="100000"/>
              </a:lnSpc>
            </a:pPr>
            <a:r>
              <a:rPr lang="en-US" sz="1400" spc="100" kern="0" dirty="0">
                <a:solidFill>
                  <a:srgbClr val="5D2E18"/>
                </a:solidFill>
                <a:latin typeface="Liter" pitchFamily="34" charset="0"/>
                <a:ea typeface="Liter" pitchFamily="34" charset="-122"/>
                <a:cs typeface="Liter" pitchFamily="34" charset="-120"/>
              </a:rPr>
              <a:t>SPONSORS RECHERCHES</a:t>
            </a:r>
            <a:endParaRPr lang="en-US" sz="1600" dirty="0"/>
          </a:p>
        </p:txBody>
      </p:sp>
      <p:sp>
        <p:nvSpPr>
          <p:cNvPr id="16" name="Text 14"/>
          <p:cNvSpPr/>
          <p:nvPr/>
        </p:nvSpPr>
        <p:spPr>
          <a:xfrm>
            <a:off x="10922000" y="2730500"/>
            <a:ext cx="4318000" cy="1651000"/>
          </a:xfrm>
          <a:prstGeom prst="rect">
            <a:avLst/>
          </a:prstGeom>
          <a:noFill/>
          <a:ln/>
        </p:spPr>
        <p:txBody>
          <a:bodyPr wrap="square" lIns="0" tIns="0" rIns="0" bIns="0" rtlCol="0" anchor="ctr"/>
          <a:lstStyle/>
          <a:p>
            <a:pPr>
              <a:lnSpc>
                <a:spcPct val="170000"/>
              </a:lnSpc>
            </a:pPr>
            <a:r>
              <a:rPr lang="en-US" sz="1500" dirty="0">
                <a:solidFill>
                  <a:srgbClr val="D35400"/>
                </a:solidFill>
                <a:latin typeface="Quattrocento Sans" pitchFamily="34" charset="0"/>
                <a:ea typeface="Quattrocento Sans" pitchFamily="34" charset="-122"/>
                <a:cs typeface="Quattrocento Sans" pitchFamily="34" charset="-120"/>
              </a:rPr>
              <a:t>■</a:t>
            </a:r>
            <a:pPr>
              <a:lnSpc>
                <a:spcPct val="170000"/>
              </a:lnSpc>
            </a:pPr>
            <a:r>
              <a:rPr lang="en-US" sz="1500" dirty="0">
                <a:solidFill>
                  <a:srgbClr val="1A1A1A"/>
                </a:solidFill>
                <a:latin typeface="Quattrocento Sans" pitchFamily="34" charset="0"/>
                <a:ea typeface="Quattrocento Sans" pitchFamily="34" charset="-122"/>
                <a:cs typeface="Quattrocento Sans" pitchFamily="34" charset="-120"/>
              </a:rPr>
              <a:t> </a:t>
            </a:r>
            <a:pPr>
              <a:lnSpc>
                <a:spcPct val="170000"/>
              </a:lnSpc>
            </a:pPr>
            <a:r>
              <a:rPr lang="en-US" sz="1500" b="1" dirty="0">
                <a:solidFill>
                  <a:srgbClr val="1A1A1A"/>
                </a:solidFill>
                <a:latin typeface="Quattrocento Sans" pitchFamily="34" charset="0"/>
                <a:ea typeface="Quattrocento Sans" pitchFamily="34" charset="-122"/>
                <a:cs typeface="Quattrocento Sans" pitchFamily="34" charset="-120"/>
              </a:rPr>
              <a:t>Banque de Detail</a:t>
            </a:r>
            <a:pPr>
              <a:lnSpc>
                <a:spcPct val="170000"/>
              </a:lnSpc>
            </a:pPr>
            <a:r>
              <a:rPr lang="en-US" sz="1500" dirty="0">
                <a:solidFill>
                  <a:srgbClr val="1A1A1A"/>
                </a:solidFill>
                <a:latin typeface="Quattrocento Sans" pitchFamily="34" charset="0"/>
                <a:ea typeface="Quattrocento Sans" pitchFamily="34" charset="-122"/>
                <a:cs typeface="Quattrocento Sans" pitchFamily="34" charset="-120"/>
              </a:rPr>
              <a:t> (metier)</a:t>
            </a:r>
            <a:endParaRPr lang="en-US" sz="1600" dirty="0"/>
          </a:p>
          <a:p>
            <a:pPr>
              <a:lnSpc>
                <a:spcPct val="170000"/>
              </a:lnSpc>
            </a:pPr>
            <a:r>
              <a:rPr lang="en-US" sz="1500" dirty="0">
                <a:solidFill>
                  <a:srgbClr val="D35400"/>
                </a:solidFill>
                <a:latin typeface="Quattrocento Sans" pitchFamily="34" charset="0"/>
                <a:ea typeface="Quattrocento Sans" pitchFamily="34" charset="-122"/>
                <a:cs typeface="Quattrocento Sans" pitchFamily="34" charset="-120"/>
              </a:rPr>
              <a:t>■</a:t>
            </a:r>
            <a:pPr>
              <a:lnSpc>
                <a:spcPct val="170000"/>
              </a:lnSpc>
            </a:pPr>
            <a:r>
              <a:rPr lang="en-US" sz="1500" dirty="0">
                <a:solidFill>
                  <a:srgbClr val="1A1A1A"/>
                </a:solidFill>
                <a:latin typeface="Quattrocento Sans" pitchFamily="34" charset="0"/>
                <a:ea typeface="Quattrocento Sans" pitchFamily="34" charset="-122"/>
                <a:cs typeface="Quattrocento Sans" pitchFamily="34" charset="-120"/>
              </a:rPr>
              <a:t> </a:t>
            </a:r>
            <a:pPr>
              <a:lnSpc>
                <a:spcPct val="170000"/>
              </a:lnSpc>
            </a:pPr>
            <a:r>
              <a:rPr lang="en-US" sz="1500" b="1" dirty="0">
                <a:solidFill>
                  <a:srgbClr val="1A1A1A"/>
                </a:solidFill>
                <a:latin typeface="Quattrocento Sans" pitchFamily="34" charset="0"/>
                <a:ea typeface="Quattrocento Sans" pitchFamily="34" charset="-122"/>
                <a:cs typeface="Quattrocento Sans" pitchFamily="34" charset="-120"/>
              </a:rPr>
              <a:t>Conformite</a:t>
            </a:r>
            <a:pPr>
              <a:lnSpc>
                <a:spcPct val="170000"/>
              </a:lnSpc>
            </a:pPr>
            <a:r>
              <a:rPr lang="en-US" sz="1500" dirty="0">
                <a:solidFill>
                  <a:srgbClr val="1A1A1A"/>
                </a:solidFill>
                <a:latin typeface="Quattrocento Sans" pitchFamily="34" charset="0"/>
                <a:ea typeface="Quattrocento Sans" pitchFamily="34" charset="-122"/>
                <a:cs typeface="Quattrocento Sans" pitchFamily="34" charset="-120"/>
              </a:rPr>
              <a:t> (risque)</a:t>
            </a:r>
            <a:endParaRPr lang="en-US" sz="1600" dirty="0"/>
          </a:p>
          <a:p>
            <a:pPr>
              <a:lnSpc>
                <a:spcPct val="170000"/>
              </a:lnSpc>
            </a:pPr>
            <a:r>
              <a:rPr lang="en-US" sz="1500" dirty="0">
                <a:solidFill>
                  <a:srgbClr val="D35400"/>
                </a:solidFill>
                <a:latin typeface="Quattrocento Sans" pitchFamily="34" charset="0"/>
                <a:ea typeface="Quattrocento Sans" pitchFamily="34" charset="-122"/>
                <a:cs typeface="Quattrocento Sans" pitchFamily="34" charset="-120"/>
              </a:rPr>
              <a:t>■</a:t>
            </a:r>
            <a:pPr>
              <a:lnSpc>
                <a:spcPct val="170000"/>
              </a:lnSpc>
            </a:pPr>
            <a:r>
              <a:rPr lang="en-US" sz="1500" dirty="0">
                <a:solidFill>
                  <a:srgbClr val="1A1A1A"/>
                </a:solidFill>
                <a:latin typeface="Quattrocento Sans" pitchFamily="34" charset="0"/>
                <a:ea typeface="Quattrocento Sans" pitchFamily="34" charset="-122"/>
                <a:cs typeface="Quattrocento Sans" pitchFamily="34" charset="-120"/>
              </a:rPr>
              <a:t> </a:t>
            </a:r>
            <a:pPr>
              <a:lnSpc>
                <a:spcPct val="170000"/>
              </a:lnSpc>
            </a:pPr>
            <a:r>
              <a:rPr lang="en-US" sz="1500" b="1" dirty="0">
                <a:solidFill>
                  <a:srgbClr val="1A1A1A"/>
                </a:solidFill>
                <a:latin typeface="Quattrocento Sans" pitchFamily="34" charset="0"/>
                <a:ea typeface="Quattrocento Sans" pitchFamily="34" charset="-122"/>
                <a:cs typeface="Quattrocento Sans" pitchFamily="34" charset="-120"/>
              </a:rPr>
              <a:t>DSI / Org. Qualite SI</a:t>
            </a:r>
            <a:pPr>
              <a:lnSpc>
                <a:spcPct val="170000"/>
              </a:lnSpc>
            </a:pPr>
            <a:r>
              <a:rPr lang="en-US" sz="1500" dirty="0">
                <a:solidFill>
                  <a:srgbClr val="1A1A1A"/>
                </a:solidFill>
                <a:latin typeface="Quattrocento Sans" pitchFamily="34" charset="0"/>
                <a:ea typeface="Quattrocento Sans" pitchFamily="34" charset="-122"/>
                <a:cs typeface="Quattrocento Sans" pitchFamily="34" charset="-120"/>
              </a:rPr>
              <a:t> (tech)</a:t>
            </a:r>
            <a:endParaRPr lang="en-US" sz="1600" dirty="0"/>
          </a:p>
        </p:txBody>
      </p:sp>
      <p:sp>
        <p:nvSpPr>
          <p:cNvPr id="17" name="Text 15"/>
          <p:cNvSpPr/>
          <p:nvPr/>
        </p:nvSpPr>
        <p:spPr>
          <a:xfrm>
            <a:off x="762000" y="5016500"/>
            <a:ext cx="5080000" cy="355600"/>
          </a:xfrm>
          <a:prstGeom prst="rect">
            <a:avLst/>
          </a:prstGeom>
          <a:noFill/>
          <a:ln/>
        </p:spPr>
        <p:txBody>
          <a:bodyPr wrap="none" lIns="0" tIns="0" rIns="0" bIns="0" rtlCol="0" anchor="ctr"/>
          <a:lstStyle/>
          <a:p>
            <a:pPr>
              <a:lnSpc>
                <a:spcPct val="100000"/>
              </a:lnSpc>
            </a:pPr>
            <a:r>
              <a:rPr lang="en-US" sz="1800" dirty="0">
                <a:solidFill>
                  <a:srgbClr val="5D2E18"/>
                </a:solidFill>
                <a:latin typeface="Liter" pitchFamily="34" charset="0"/>
                <a:ea typeface="Liter" pitchFamily="34" charset="-122"/>
                <a:cs typeface="Liter" pitchFamily="34" charset="-120"/>
              </a:rPr>
              <a:t>KPIs A MESURER</a:t>
            </a:r>
            <a:endParaRPr lang="en-US" sz="1600" dirty="0"/>
          </a:p>
        </p:txBody>
      </p:sp>
      <p:sp>
        <p:nvSpPr>
          <p:cNvPr id="18" name="Shape 16"/>
          <p:cNvSpPr/>
          <p:nvPr/>
        </p:nvSpPr>
        <p:spPr>
          <a:xfrm>
            <a:off x="762000" y="5435600"/>
            <a:ext cx="14732000" cy="12700"/>
          </a:xfrm>
          <a:prstGeom prst="rect">
            <a:avLst/>
          </a:prstGeom>
          <a:solidFill>
            <a:srgbClr val="E0DCD8"/>
          </a:solidFill>
          <a:ln/>
        </p:spPr>
      </p:sp>
      <p:sp>
        <p:nvSpPr>
          <p:cNvPr id="19" name="Text 17"/>
          <p:cNvSpPr/>
          <p:nvPr/>
        </p:nvSpPr>
        <p:spPr>
          <a:xfrm>
            <a:off x="762000" y="5651500"/>
            <a:ext cx="4572000" cy="2540000"/>
          </a:xfrm>
          <a:prstGeom prst="rect">
            <a:avLst/>
          </a:prstGeom>
          <a:noFill/>
          <a:ln/>
        </p:spPr>
        <p:txBody>
          <a:bodyPr wrap="square" lIns="0" tIns="0" rIns="0" bIns="0" rtlCol="0" anchor="ctr"/>
          <a:lstStyle/>
          <a:p>
            <a:pPr>
              <a:lnSpc>
                <a:spcPct val="180000"/>
              </a:lnSpc>
            </a:pPr>
            <a:r>
              <a:rPr lang="en-US" sz="1400" b="1" dirty="0">
                <a:solidFill>
                  <a:srgbClr val="D35400"/>
                </a:solidFill>
                <a:latin typeface="Quattrocento Sans" pitchFamily="34" charset="0"/>
                <a:ea typeface="Quattrocento Sans" pitchFamily="34" charset="-122"/>
                <a:cs typeface="Quattrocento Sans" pitchFamily="34" charset="-120"/>
              </a:rPr>
              <a:t>Delais</a:t>
            </a:r>
            <a:endParaRPr lang="en-US" sz="1600" dirty="0"/>
          </a:p>
          <a:p>
            <a:pPr>
              <a:lnSpc>
                <a:spcPct val="180000"/>
              </a:lnSpc>
            </a:pPr>
            <a:r>
              <a:rPr lang="en-US" sz="1400" dirty="0">
                <a:solidFill>
                  <a:srgbClr val="1A1A1A"/>
                </a:solidFill>
                <a:latin typeface="Quattrocento Sans" pitchFamily="34" charset="0"/>
                <a:ea typeface="Quattrocento Sans" pitchFamily="34" charset="-122"/>
                <a:cs typeface="Quattrocento Sans" pitchFamily="34" charset="-120"/>
              </a:rPr>
              <a:t>■ Prospect -&gt; dossier soumis</a:t>
            </a:r>
            <a:endParaRPr lang="en-US" sz="1600" dirty="0"/>
          </a:p>
          <a:p>
            <a:pPr>
              <a:lnSpc>
                <a:spcPct val="180000"/>
              </a:lnSpc>
            </a:pPr>
            <a:r>
              <a:rPr lang="en-US" sz="1400" dirty="0">
                <a:solidFill>
                  <a:srgbClr val="1A1A1A"/>
                </a:solidFill>
                <a:latin typeface="Quattrocento Sans" pitchFamily="34" charset="0"/>
                <a:ea typeface="Quattrocento Sans" pitchFamily="34" charset="-122"/>
                <a:cs typeface="Quattrocento Sans" pitchFamily="34" charset="-120"/>
              </a:rPr>
              <a:t>■ Dossier soumis -&gt; decision</a:t>
            </a:r>
            <a:endParaRPr lang="en-US" sz="1600" dirty="0"/>
          </a:p>
          <a:p>
            <a:pPr>
              <a:lnSpc>
                <a:spcPct val="180000"/>
              </a:lnSpc>
              <a:spcBef>
                <a:spcPts val="1000"/>
              </a:spcBef>
            </a:pPr>
            <a:r>
              <a:rPr lang="en-US" sz="1400" b="1" dirty="0">
                <a:solidFill>
                  <a:srgbClr val="D35400"/>
                </a:solidFill>
                <a:latin typeface="Quattrocento Sans" pitchFamily="34" charset="0"/>
                <a:ea typeface="Quattrocento Sans" pitchFamily="34" charset="-122"/>
                <a:cs typeface="Quattrocento Sans" pitchFamily="34" charset="-120"/>
              </a:rPr>
              <a:t>Qualite</a:t>
            </a:r>
            <a:endParaRPr lang="en-US" sz="1600" dirty="0"/>
          </a:p>
          <a:p>
            <a:pPr>
              <a:lnSpc>
                <a:spcPct val="180000"/>
              </a:lnSpc>
            </a:pPr>
            <a:r>
              <a:rPr lang="en-US" sz="1400" dirty="0">
                <a:solidFill>
                  <a:srgbClr val="1A1A1A"/>
                </a:solidFill>
                <a:latin typeface="Quattrocento Sans" pitchFamily="34" charset="0"/>
                <a:ea typeface="Quattrocento Sans" pitchFamily="34" charset="-122"/>
                <a:cs typeface="Quattrocento Sans" pitchFamily="34" charset="-120"/>
              </a:rPr>
              <a:t>■ Taux dossier complet 1er passage</a:t>
            </a:r>
            <a:endParaRPr lang="en-US" sz="1600" dirty="0"/>
          </a:p>
          <a:p>
            <a:pPr>
              <a:lnSpc>
                <a:spcPct val="180000"/>
              </a:lnSpc>
            </a:pPr>
            <a:r>
              <a:rPr lang="en-US" sz="1400" dirty="0">
                <a:solidFill>
                  <a:srgbClr val="1A1A1A"/>
                </a:solidFill>
                <a:latin typeface="Quattrocento Sans" pitchFamily="34" charset="0"/>
                <a:ea typeface="Quattrocento Sans" pitchFamily="34" charset="-122"/>
                <a:cs typeface="Quattrocento Sans" pitchFamily="34" charset="-120"/>
              </a:rPr>
              <a:t>■ Qualite OCR CNI</a:t>
            </a:r>
            <a:endParaRPr lang="en-US" sz="1600" dirty="0"/>
          </a:p>
        </p:txBody>
      </p:sp>
      <p:sp>
        <p:nvSpPr>
          <p:cNvPr id="20" name="Text 18"/>
          <p:cNvSpPr/>
          <p:nvPr/>
        </p:nvSpPr>
        <p:spPr>
          <a:xfrm>
            <a:off x="5715000" y="5651500"/>
            <a:ext cx="4572000" cy="2540000"/>
          </a:xfrm>
          <a:prstGeom prst="rect">
            <a:avLst/>
          </a:prstGeom>
          <a:noFill/>
          <a:ln/>
        </p:spPr>
        <p:txBody>
          <a:bodyPr wrap="square" lIns="0" tIns="0" rIns="0" bIns="0" rtlCol="0" anchor="ctr"/>
          <a:lstStyle/>
          <a:p>
            <a:pPr>
              <a:lnSpc>
                <a:spcPct val="180000"/>
              </a:lnSpc>
            </a:pPr>
            <a:r>
              <a:rPr lang="en-US" sz="1400" b="1" dirty="0">
                <a:solidFill>
                  <a:srgbClr val="D35400"/>
                </a:solidFill>
                <a:latin typeface="Quattrocento Sans" pitchFamily="34" charset="0"/>
                <a:ea typeface="Quattrocento Sans" pitchFamily="34" charset="-122"/>
                <a:cs typeface="Quattrocento Sans" pitchFamily="34" charset="-120"/>
              </a:rPr>
              <a:t>Efficiency</a:t>
            </a:r>
            <a:endParaRPr lang="en-US" sz="1600" dirty="0"/>
          </a:p>
          <a:p>
            <a:pPr>
              <a:lnSpc>
                <a:spcPct val="180000"/>
              </a:lnSpc>
            </a:pPr>
            <a:r>
              <a:rPr lang="en-US" sz="1400" dirty="0">
                <a:solidFill>
                  <a:srgbClr val="1A1A1A"/>
                </a:solidFill>
                <a:latin typeface="Quattrocento Sans" pitchFamily="34" charset="0"/>
                <a:ea typeface="Quattrocento Sans" pitchFamily="34" charset="-122"/>
                <a:cs typeface="Quattrocento Sans" pitchFamily="34" charset="-120"/>
              </a:rPr>
              <a:t>■ Temps agent par dossier</a:t>
            </a:r>
            <a:endParaRPr lang="en-US" sz="1600" dirty="0"/>
          </a:p>
          <a:p>
            <a:pPr>
              <a:lnSpc>
                <a:spcPct val="180000"/>
              </a:lnSpc>
            </a:pPr>
            <a:r>
              <a:rPr lang="en-US" sz="1400" dirty="0">
                <a:solidFill>
                  <a:srgbClr val="1A1A1A"/>
                </a:solidFill>
                <a:latin typeface="Quattrocento Sans" pitchFamily="34" charset="0"/>
                <a:ea typeface="Quattrocento Sans" pitchFamily="34" charset="-122"/>
                <a:cs typeface="Quattrocento Sans" pitchFamily="34" charset="-120"/>
              </a:rPr>
              <a:t>■ Taux de retours conformite</a:t>
            </a:r>
            <a:endParaRPr lang="en-US" sz="1600" dirty="0"/>
          </a:p>
          <a:p>
            <a:pPr>
              <a:lnSpc>
                <a:spcPct val="180000"/>
              </a:lnSpc>
              <a:spcBef>
                <a:spcPts val="1000"/>
              </a:spcBef>
            </a:pPr>
            <a:r>
              <a:rPr lang="en-US" sz="1400" b="1" dirty="0">
                <a:solidFill>
                  <a:srgbClr val="D35400"/>
                </a:solidFill>
                <a:latin typeface="Quattrocento Sans" pitchFamily="34" charset="0"/>
                <a:ea typeface="Quattrocento Sans" pitchFamily="34" charset="-122"/>
                <a:cs typeface="Quattrocento Sans" pitchFamily="34" charset="-120"/>
              </a:rPr>
              <a:t>Conversion</a:t>
            </a:r>
            <a:endParaRPr lang="en-US" sz="1600" dirty="0"/>
          </a:p>
          <a:p>
            <a:pPr>
              <a:lnSpc>
                <a:spcPct val="180000"/>
              </a:lnSpc>
            </a:pPr>
            <a:r>
              <a:rPr lang="en-US" sz="1400" dirty="0">
                <a:solidFill>
                  <a:srgbClr val="1A1A1A"/>
                </a:solidFill>
                <a:latin typeface="Quattrocento Sans" pitchFamily="34" charset="0"/>
                <a:ea typeface="Quattrocento Sans" pitchFamily="34" charset="-122"/>
                <a:cs typeface="Quattrocento Sans" pitchFamily="34" charset="-120"/>
              </a:rPr>
              <a:t>■ Taux d'abandon</a:t>
            </a:r>
            <a:endParaRPr lang="en-US" sz="1600" dirty="0"/>
          </a:p>
          <a:p>
            <a:pPr>
              <a:lnSpc>
                <a:spcPct val="180000"/>
              </a:lnSpc>
            </a:pPr>
            <a:r>
              <a:rPr lang="en-US" sz="1400" dirty="0">
                <a:solidFill>
                  <a:srgbClr val="1A1A1A"/>
                </a:solidFill>
                <a:latin typeface="Quattrocento Sans" pitchFamily="34" charset="0"/>
                <a:ea typeface="Quattrocento Sans" pitchFamily="34" charset="-122"/>
                <a:cs typeface="Quattrocento Sans" pitchFamily="34" charset="-120"/>
              </a:rPr>
              <a:t>■ Taux liveness a reprendre</a:t>
            </a:r>
            <a:endParaRPr lang="en-US" sz="1600" dirty="0"/>
          </a:p>
        </p:txBody>
      </p:sp>
      <p:sp>
        <p:nvSpPr>
          <p:cNvPr id="21" name="Shape 19"/>
          <p:cNvSpPr/>
          <p:nvPr/>
        </p:nvSpPr>
        <p:spPr>
          <a:xfrm>
            <a:off x="10668000" y="5651500"/>
            <a:ext cx="4826000" cy="2540000"/>
          </a:xfrm>
          <a:prstGeom prst="rect">
            <a:avLst/>
          </a:prstGeom>
          <a:solidFill>
            <a:srgbClr val="1E1E1E"/>
          </a:solidFill>
          <a:ln w="12700">
            <a:solidFill>
              <a:srgbClr val="333333"/>
            </a:solidFill>
            <a:prstDash val="solid"/>
          </a:ln>
        </p:spPr>
      </p:sp>
      <p:sp>
        <p:nvSpPr>
          <p:cNvPr id="22" name="Text 20"/>
          <p:cNvSpPr/>
          <p:nvPr/>
        </p:nvSpPr>
        <p:spPr>
          <a:xfrm>
            <a:off x="10922000" y="5842000"/>
            <a:ext cx="4318000" cy="2159000"/>
          </a:xfrm>
          <a:prstGeom prst="rect">
            <a:avLst/>
          </a:prstGeom>
          <a:noFill/>
          <a:ln/>
        </p:spPr>
        <p:txBody>
          <a:bodyPr wrap="square" lIns="0" tIns="0" rIns="0" bIns="0" rtlCol="0" anchor="ctr"/>
          <a:lstStyle/>
          <a:p>
            <a:pPr>
              <a:lnSpc>
                <a:spcPct val="160000"/>
              </a:lnSpc>
            </a:pPr>
            <a:r>
              <a:rPr lang="en-US" sz="1500" b="1" dirty="0">
                <a:solidFill>
                  <a:srgbClr val="F39C12"/>
                </a:solidFill>
                <a:latin typeface="Quattrocento Sans" pitchFamily="34" charset="0"/>
                <a:ea typeface="Quattrocento Sans" pitchFamily="34" charset="-122"/>
                <a:cs typeface="Quattrocento Sans" pitchFamily="34" charset="-120"/>
              </a:rPr>
              <a:t>Modele ROI</a:t>
            </a:r>
            <a:endParaRPr lang="en-US" sz="1600" dirty="0"/>
          </a:p>
          <a:p>
            <a:pPr>
              <a:lnSpc>
                <a:spcPct val="160000"/>
              </a:lnSpc>
              <a:spcBef>
                <a:spcPts val="800"/>
              </a:spcBef>
            </a:pPr>
            <a:r>
              <a:rPr lang="en-US" sz="1500" dirty="0">
                <a:solidFill>
                  <a:srgbClr val="FFFFFF"/>
                </a:solidFill>
                <a:latin typeface="Quattrocento Sans" pitchFamily="34" charset="0"/>
                <a:ea typeface="Quattrocento Sans" pitchFamily="34" charset="-122"/>
                <a:cs typeface="Quattrocento Sans" pitchFamily="34" charset="-120"/>
              </a:rPr>
              <a:t>Le MVP permet de mesurer les variables reelles pour construire un business case fonde sur des donnees BICEC, pas sur des hypotheses.</a:t>
            </a:r>
            <a:endParaRPr lang="en-US" sz="1600" dirty="0"/>
          </a:p>
        </p:txBody>
      </p:sp>
      <p:sp>
        <p:nvSpPr>
          <p:cNvPr id="23" name="Text 21"/>
          <p:cNvSpPr/>
          <p:nvPr/>
        </p:nvSpPr>
        <p:spPr>
          <a:xfrm>
            <a:off x="14986000" y="8636000"/>
            <a:ext cx="762000" cy="254000"/>
          </a:xfrm>
          <a:prstGeom prst="rect">
            <a:avLst/>
          </a:prstGeom>
          <a:noFill/>
          <a:ln/>
        </p:spPr>
        <p:txBody>
          <a:bodyPr wrap="none" lIns="0" tIns="0" rIns="0" bIns="0" rtlCol="0" anchor="ctr"/>
          <a:lstStyle/>
          <a:p>
            <a:pPr algn="r">
              <a:lnSpc>
                <a:spcPct val="140000"/>
              </a:lnSpc>
            </a:pPr>
            <a:r>
              <a:rPr lang="en-US" sz="1200" dirty="0">
                <a:solidFill>
                  <a:srgbClr val="8A8A8A"/>
                </a:solidFill>
                <a:latin typeface="QuattrocentoSans" pitchFamily="34" charset="0"/>
                <a:ea typeface="QuattrocentoSans" pitchFamily="34" charset="-122"/>
                <a:cs typeface="QuattrocentoSans" pitchFamily="34" charset="-120"/>
              </a:rPr>
              <a:t>15</a:t>
            </a:r>
            <a:endParaRPr lang="en-US" sz="1200" dirty="0"/>
          </a:p>
        </p:txBody>
      </p:sp>
    </p:spTree>
  </p:cSld>
  <p:clrMapOvr>
    <a:masterClrMapping/>
  </p:clrMapOvr>
  <p:transition>
    <p:fade/>
    <p:spd val="med"/>
  </p:transition>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https://kimi-img.moonshot.cn/pub/slides/okc/eqhpli636fwka/mnt/agents/output/veripass-presentation/images/1_Yaound_and_Douala_ranked_the_25th.png">    </p:cNvPr>
          <p:cNvPicPr>
            <a:picLocks noChangeAspect="1"/>
          </p:cNvPicPr>
          <p:nvPr/>
        </p:nvPicPr>
        <p:blipFill>
          <a:blip r:embed="rId1"/>
          <a:srcRect l="5556" r="5556" t="0" b="0"/>
          <a:stretch/>
        </p:blipFill>
        <p:spPr>
          <a:xfrm>
            <a:off x="0" y="0"/>
            <a:ext cx="16256000" cy="9144000"/>
          </a:xfrm>
          <a:prstGeom prst="rect">
            <a:avLst/>
          </a:prstGeom>
        </p:spPr>
      </p:pic>
      <p:sp>
        <p:nvSpPr>
          <p:cNvPr id="3" name="Shape 0"/>
          <p:cNvSpPr/>
          <p:nvPr/>
        </p:nvSpPr>
        <p:spPr>
          <a:xfrm>
            <a:off x="0" y="0"/>
            <a:ext cx="16256000" cy="9144000"/>
          </a:xfrm>
          <a:prstGeom prst="rect">
            <a:avLst/>
          </a:prstGeom>
          <a:gradFill rotWithShape="1" flip="none">
            <a:gsLst>
              <a:gs pos="0">
                <a:srgbClr val="0F0F0F">
                  <a:alpha val="27000"/>
                </a:srgbClr>
              </a:gs>
              <a:gs pos="30000">
                <a:srgbClr val="0F0F0F">
                  <a:alpha val="80000"/>
                </a:srgbClr>
              </a:gs>
              <a:gs pos="100000">
                <a:srgbClr val="0F0F0F"/>
              </a:gs>
            </a:gsLst>
            <a:lin ang="5400000" scaled="1"/>
          </a:gradFill>
          <a:ln w="12700">
            <a:solidFill>
              <a:srgbClr val="333333"/>
            </a:solidFill>
            <a:prstDash val="solid"/>
          </a:ln>
        </p:spPr>
      </p:sp>
      <p:sp>
        <p:nvSpPr>
          <p:cNvPr id="4" name="Shape 1"/>
          <p:cNvSpPr/>
          <p:nvPr/>
        </p:nvSpPr>
        <p:spPr>
          <a:xfrm>
            <a:off x="762000" y="2286000"/>
            <a:ext cx="762000" cy="50800"/>
          </a:xfrm>
          <a:prstGeom prst="rect">
            <a:avLst/>
          </a:prstGeom>
          <a:solidFill>
            <a:srgbClr val="F39C12"/>
          </a:solidFill>
          <a:ln/>
        </p:spPr>
      </p:sp>
      <p:sp>
        <p:nvSpPr>
          <p:cNvPr id="5" name="Text 2"/>
          <p:cNvSpPr/>
          <p:nvPr/>
        </p:nvSpPr>
        <p:spPr>
          <a:xfrm>
            <a:off x="762000" y="2540000"/>
            <a:ext cx="3810000" cy="254000"/>
          </a:xfrm>
          <a:prstGeom prst="rect">
            <a:avLst/>
          </a:prstGeom>
          <a:noFill/>
          <a:ln/>
        </p:spPr>
        <p:txBody>
          <a:bodyPr wrap="none" lIns="0" tIns="0" rIns="0" bIns="0" rtlCol="0" anchor="ctr"/>
          <a:lstStyle/>
          <a:p>
            <a:pPr>
              <a:lnSpc>
                <a:spcPct val="120000"/>
              </a:lnSpc>
            </a:pPr>
            <a:r>
              <a:rPr lang="en-US" sz="1200" spc="200" kern="0" dirty="0">
                <a:solidFill>
                  <a:srgbClr val="F39C12"/>
                </a:solidFill>
                <a:latin typeface="Liter" pitchFamily="34" charset="0"/>
                <a:ea typeface="Liter" pitchFamily="34" charset="-122"/>
                <a:cs typeface="Liter" pitchFamily="34" charset="-120"/>
              </a:rPr>
              <a:t>LA DECISION</a:t>
            </a:r>
            <a:endParaRPr lang="en-US" sz="1200" dirty="0"/>
          </a:p>
        </p:txBody>
      </p:sp>
      <p:sp>
        <p:nvSpPr>
          <p:cNvPr id="6" name="Text 3"/>
          <p:cNvSpPr/>
          <p:nvPr/>
        </p:nvSpPr>
        <p:spPr>
          <a:xfrm>
            <a:off x="762000" y="3048000"/>
            <a:ext cx="10160000" cy="1778000"/>
          </a:xfrm>
          <a:prstGeom prst="rect">
            <a:avLst/>
          </a:prstGeom>
          <a:noFill/>
          <a:ln/>
        </p:spPr>
        <p:txBody>
          <a:bodyPr wrap="square" lIns="0" tIns="0" rIns="0" bIns="0" rtlCol="0" anchor="ctr"/>
          <a:lstStyle/>
          <a:p>
            <a:pPr>
              <a:lnSpc>
                <a:spcPct val="120000"/>
              </a:lnSpc>
            </a:pPr>
            <a:r>
              <a:rPr lang="en-US" sz="4800" spc="200" kern="0" dirty="0">
                <a:solidFill>
                  <a:srgbClr val="FFFFFF"/>
                </a:solidFill>
                <a:latin typeface="Liter" pitchFamily="34" charset="0"/>
                <a:ea typeface="Liter" pitchFamily="34" charset="-122"/>
                <a:cs typeface="Liter" pitchFamily="34" charset="-120"/>
              </a:rPr>
              <a:t>N'achetez pas un logiciel.</a:t>
            </a:r>
            <a:endParaRPr lang="en-US" sz="1600" dirty="0"/>
          </a:p>
          <a:p>
            <a:pPr>
              <a:lnSpc>
                <a:spcPct val="120000"/>
              </a:lnSpc>
            </a:pPr>
            <a:r>
              <a:rPr lang="en-US" sz="4800" spc="200" kern="0" dirty="0">
                <a:solidFill>
                  <a:srgbClr val="F39C12"/>
                </a:solidFill>
                <a:latin typeface="Liter" pitchFamily="34" charset="0"/>
                <a:ea typeface="Liter" pitchFamily="34" charset="-122"/>
                <a:cs typeface="Liter" pitchFamily="34" charset="-120"/>
              </a:rPr>
              <a:t>Achetez l'avance.</a:t>
            </a:r>
            <a:endParaRPr lang="en-US" sz="1600" dirty="0"/>
          </a:p>
        </p:txBody>
      </p:sp>
      <p:sp>
        <p:nvSpPr>
          <p:cNvPr id="7" name="Text 4"/>
          <p:cNvSpPr/>
          <p:nvPr/>
        </p:nvSpPr>
        <p:spPr>
          <a:xfrm>
            <a:off x="762000" y="5080000"/>
            <a:ext cx="8890000" cy="1270000"/>
          </a:xfrm>
          <a:prstGeom prst="rect">
            <a:avLst/>
          </a:prstGeom>
          <a:noFill/>
          <a:ln/>
        </p:spPr>
        <p:txBody>
          <a:bodyPr wrap="square" lIns="0" tIns="0" rIns="0" bIns="0" rtlCol="0" anchor="ctr"/>
          <a:lstStyle/>
          <a:p>
            <a:pPr>
              <a:lnSpc>
                <a:spcPct val="160000"/>
              </a:lnSpc>
            </a:pPr>
            <a:r>
              <a:rPr lang="en-US" sz="2000" dirty="0">
                <a:solidFill>
                  <a:srgbClr val="FFFFFF">
                    <a:alpha val="73333"/>
                  </a:srgbClr>
                </a:solidFill>
                <a:latin typeface="Quattrocento Sans" pitchFamily="34" charset="0"/>
                <a:ea typeface="Quattrocento Sans" pitchFamily="34" charset="-122"/>
                <a:cs typeface="Quattrocento Sans" pitchFamily="34" charset="-120"/>
              </a:rPr>
              <a:t>VeriPass n'est pas une promesse abstraite : c'est une option deja construite pour tester, apprendre et prendre position.</a:t>
            </a:r>
            <a:endParaRPr lang="en-US" sz="1600" dirty="0"/>
          </a:p>
        </p:txBody>
      </p:sp>
      <p:sp>
        <p:nvSpPr>
          <p:cNvPr id="8" name="Text 5"/>
          <p:cNvSpPr/>
          <p:nvPr/>
        </p:nvSpPr>
        <p:spPr>
          <a:xfrm>
            <a:off x="762000" y="6477000"/>
            <a:ext cx="8890000" cy="635000"/>
          </a:xfrm>
          <a:prstGeom prst="rect">
            <a:avLst/>
          </a:prstGeom>
          <a:noFill/>
          <a:ln/>
        </p:spPr>
        <p:txBody>
          <a:bodyPr wrap="square" lIns="0" tIns="0" rIns="0" bIns="0" rtlCol="0" anchor="ctr"/>
          <a:lstStyle/>
          <a:p>
            <a:pPr>
              <a:lnSpc>
                <a:spcPct val="150000"/>
              </a:lnSpc>
            </a:pPr>
            <a:r>
              <a:rPr lang="en-US" sz="1600" dirty="0">
                <a:solidFill>
                  <a:srgbClr val="8A8A8A"/>
                </a:solidFill>
                <a:latin typeface="Quattrocento Sans" pitchFamily="34" charset="0"/>
                <a:ea typeface="Quattrocento Sans" pitchFamily="34" charset="-122"/>
                <a:cs typeface="Quattrocento Sans" pitchFamily="34" charset="-120"/>
              </a:rPr>
              <a:t>Si BICEC attend que le marche soit evident, l'avance aura deja ete prise par quelqu'un d'autre.</a:t>
            </a:r>
            <a:endParaRPr lang="en-US" sz="1600" dirty="0"/>
          </a:p>
        </p:txBody>
      </p:sp>
      <p:sp>
        <p:nvSpPr>
          <p:cNvPr id="9" name="Shape 6"/>
          <p:cNvSpPr/>
          <p:nvPr/>
        </p:nvSpPr>
        <p:spPr>
          <a:xfrm>
            <a:off x="762000" y="7366000"/>
            <a:ext cx="1270000" cy="38100"/>
          </a:xfrm>
          <a:prstGeom prst="rect">
            <a:avLst/>
          </a:prstGeom>
          <a:solidFill>
            <a:srgbClr val="F39C12"/>
          </a:solidFill>
          <a:ln/>
        </p:spPr>
      </p:sp>
      <p:sp>
        <p:nvSpPr>
          <p:cNvPr id="10" name="Text 7"/>
          <p:cNvSpPr/>
          <p:nvPr/>
        </p:nvSpPr>
        <p:spPr>
          <a:xfrm>
            <a:off x="762000" y="7620000"/>
            <a:ext cx="6350000" cy="762000"/>
          </a:xfrm>
          <a:prstGeom prst="rect">
            <a:avLst/>
          </a:prstGeom>
          <a:noFill/>
          <a:ln/>
        </p:spPr>
        <p:txBody>
          <a:bodyPr wrap="square" lIns="0" tIns="0" rIns="0" bIns="0" rtlCol="0" anchor="ctr"/>
          <a:lstStyle/>
          <a:p>
            <a:pPr>
              <a:lnSpc>
                <a:spcPct val="160000"/>
              </a:lnSpc>
            </a:pPr>
            <a:r>
              <a:rPr lang="en-US" sz="1400" dirty="0">
                <a:solidFill>
                  <a:srgbClr val="8A8A8A"/>
                </a:solidFill>
                <a:latin typeface="Quattrocento Sans" pitchFamily="34" charset="0"/>
                <a:ea typeface="Quattrocento Sans" pitchFamily="34" charset="-122"/>
                <a:cs typeface="Quattrocento Sans" pitchFamily="34" charset="-120"/>
              </a:rPr>
              <a:t>Projet de stage VeriPass | BICEC 2026</a:t>
            </a:r>
            <a:endParaRPr lang="en-US" sz="1600" dirty="0"/>
          </a:p>
          <a:p>
            <a:pPr>
              <a:lnSpc>
                <a:spcPct val="160000"/>
              </a:lnSpc>
            </a:pPr>
            <a:r>
              <a:rPr lang="en-US" sz="1400" dirty="0">
                <a:solidFill>
                  <a:srgbClr val="8A8A8A"/>
                </a:solidFill>
                <a:latin typeface="Quattrocento Sans" pitchFamily="34" charset="0"/>
                <a:ea typeface="Quattrocento Sans" pitchFamily="34" charset="-122"/>
                <a:cs typeface="Quattrocento Sans" pitchFamily="34" charset="-120"/>
              </a:rPr>
              <a:t>Rail KYC souverain | MVP demonstrable | Pilote pret</a:t>
            </a:r>
            <a:endParaRPr lang="en-US" sz="1600" dirty="0"/>
          </a:p>
        </p:txBody>
      </p:sp>
      <p:sp>
        <p:nvSpPr>
          <p:cNvPr id="11" name="Shape 8"/>
          <p:cNvSpPr/>
          <p:nvPr/>
        </p:nvSpPr>
        <p:spPr>
          <a:xfrm>
            <a:off x="0" y="8890000"/>
            <a:ext cx="16256000" cy="254000"/>
          </a:xfrm>
          <a:prstGeom prst="rect">
            <a:avLst/>
          </a:prstGeom>
          <a:gradFill rotWithShape="1" flip="none">
            <a:gsLst>
              <a:gs pos="0">
                <a:srgbClr val="D35400"/>
              </a:gs>
              <a:gs pos="50000">
                <a:srgbClr val="F39C12"/>
              </a:gs>
              <a:gs pos="100000">
                <a:srgbClr val="D35400"/>
              </a:gs>
            </a:gsLst>
            <a:lin ang="0" scaled="1"/>
          </a:gradFill>
          <a:ln/>
        </p:spPr>
      </p:sp>
    </p:spTree>
  </p:cSld>
  <p:clrMapOvr>
    <a:masterClrMapping/>
  </p:clrMapOvr>
  <p:transition>
    <p:fade/>
    <p:spd val="med"/>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VeriPass - Rail KYC Souverain BICEC</dc:title>
  <dc:subject>VeriPass - Rail KYC Souverain BICEC</dc:subject>
  <dc:creator>Kimi</dc:creator>
  <cp:lastModifiedBy>Kimi</cp:lastModifiedBy>
  <cp:revision>1</cp:revision>
  <dcterms:created xsi:type="dcterms:W3CDTF">2026-05-31T15:32:14Z</dcterms:created>
  <dcterms:modified xsi:type="dcterms:W3CDTF">2026-05-31T15:32:14Z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{"Label":"VeriPass - Rail KYC Souverain BICEC","ContentProducer":"001191110108MACG2KBH8F10000","ProduceID":"19e7c065-7612-89b5-8000-0000d34314c3","ReservedCode1":"","ContentPropagator":"001191110108MACG2KBH8F20000","PropagateID":"19e7c065-7612-89b5-8000-0000d34314c3","ReservedCode2":""}</vt:lpwstr>
  </property>
</Properties>
</file>