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45.png"/><Relationship Id="rId7" Type="http://schemas.openxmlformats.org/officeDocument/2006/relationships/image" Target="../media/image6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jpg"/><Relationship Id="rId6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58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D6E9F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52956" y="1549513"/>
            <a:ext cx="685782" cy="52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43211" y="2514600"/>
            <a:ext cx="5105272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1560"/>
              </a:spcAft>
            </a:pPr>
            <a:r>
              <a:rPr sz="4305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bicec-veripass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8" y="3600450"/>
            <a:ext cx="2438339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8814" y="3943350"/>
            <a:ext cx="73340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3120"/>
              </a:spcAft>
            </a:pPr>
            <a:r>
              <a:rPr sz="1794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Plateforme KYC Biométrique Digitale - BICEC Cameroun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024" y="4743450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BEAFE"/>
                </a:solidFill>
                <a:latin typeface="Roboto"/>
                <a:rFonts ascii="Roboto" hAnsi="Roboto" eastAsia="Roboto" cs="Roboto"/>
              </a:rPr>
              <a:t>Ken — Stagiaire Ingénieur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024" y="5124449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Roboto"/>
                <a:rFonts ascii="Roboto" hAnsi="Roboto" eastAsia="Roboto" cs="Roboto"/>
              </a:rPr>
              <a:t>Février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9549" y="6324599"/>
            <a:ext cx="21621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Rapport d'Avancement de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69590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Travaux Réalisés (2 Mars - 11 Mars)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371965" cy="1133475"/>
          </a:xfrm>
          <a:prstGeom prst="roundRect">
            <a:avLst>
              <a:gd name="adj" fmla="val 13445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25397" y="1522411"/>
            <a:ext cx="11334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1291855"/>
            <a:ext cx="247643" cy="178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446" y="1219200"/>
            <a:ext cx="210497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1: Recherche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470" y="1190625"/>
            <a:ext cx="64768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604" y="1638299"/>
            <a:ext cx="2466913" cy="380999"/>
          </a:xfrm>
          <a:prstGeom prst="roundRect">
            <a:avLst>
              <a:gd name="adj" fmla="val 20000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5802" y="1774876"/>
            <a:ext cx="171445" cy="1078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446" y="171450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Research Report KYC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716" y="1638299"/>
            <a:ext cx="2466913" cy="380999"/>
          </a:xfrm>
          <a:prstGeom prst="roundRect">
            <a:avLst>
              <a:gd name="adj" fmla="val 20000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28914" y="1774876"/>
            <a:ext cx="171445" cy="1078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76558" y="171450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Technical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2286000"/>
            <a:ext cx="5371965" cy="1628775"/>
          </a:xfrm>
          <a:prstGeom prst="roundRect">
            <a:avLst>
              <a:gd name="adj" fmla="val 9356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122253" y="3017837"/>
            <a:ext cx="16287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2512827"/>
            <a:ext cx="247643" cy="2130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446" y="2466975"/>
            <a:ext cx="235261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2: Planification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5292" y="2438400"/>
            <a:ext cx="52386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604" y="2886075"/>
            <a:ext cx="2466913" cy="380999"/>
          </a:xfrm>
          <a:prstGeom prst="roundRect">
            <a:avLst>
              <a:gd name="adj" fmla="val 20000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5802" y="3022651"/>
            <a:ext cx="171445" cy="1078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3446" y="2962274"/>
            <a:ext cx="8858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Product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2716" y="2886075"/>
            <a:ext cx="2466913" cy="380999"/>
          </a:xfrm>
          <a:prstGeom prst="roundRect">
            <a:avLst>
              <a:gd name="adj" fmla="val 20000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28914" y="3022651"/>
            <a:ext cx="171445" cy="1078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76558" y="2962274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PRD v2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604" y="3343275"/>
            <a:ext cx="2466913" cy="419100"/>
          </a:xfrm>
          <a:prstGeom prst="roundRect">
            <a:avLst>
              <a:gd name="adj" fmla="val 18181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5802" y="3498901"/>
            <a:ext cx="171445" cy="1078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446" y="3438525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UX Specification v2.1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2716" y="3343275"/>
            <a:ext cx="2466913" cy="419100"/>
          </a:xfrm>
          <a:prstGeom prst="roundRect">
            <a:avLst>
              <a:gd name="adj" fmla="val 18181"/>
            </a:avLst>
          </a:prstGeom>
          <a:solidFill>
            <a:srgbClr val="FFFBEB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447963" y="3478161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95607" y="3438525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2400E"/>
                </a:solidFill>
                <a:latin typeface="Roboto"/>
                <a:rFonts ascii="Roboto" hAnsi="Roboto" eastAsia="Roboto" cs="Roboto"/>
              </a:rPr>
              <a:t>Architecture (En cours)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" y="4029075"/>
            <a:ext cx="5371965" cy="1676400"/>
          </a:xfrm>
          <a:prstGeom prst="roundRect">
            <a:avLst>
              <a:gd name="adj" fmla="val 909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-146066" y="4784725"/>
            <a:ext cx="1676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4227327"/>
            <a:ext cx="247643" cy="2130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33446" y="4181474"/>
            <a:ext cx="229546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Décision Stratégique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04" y="4572000"/>
            <a:ext cx="5019549" cy="981074"/>
          </a:xfrm>
          <a:prstGeom prst="roundRect">
            <a:avLst>
              <a:gd name="adj" fmla="val 7766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01" y="4686300"/>
            <a:ext cx="47909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991B1B"/>
                </a:solidFill>
                <a:latin typeface="Roboto"/>
                <a:rFonts ascii="Roboto" hAnsi="Roboto" eastAsia="Roboto" cs="Roboto"/>
              </a:rPr>
              <a:t>~~Services Mock (DGI/BEAC)~~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901" y="4981574"/>
            <a:ext cx="47909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→ Supprimés du MVP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901" y="5210174"/>
            <a:ext cx="47909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→ Intégrations réelles priorisées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2540" y="1038224"/>
            <a:ext cx="5219569" cy="2209800"/>
          </a:xfrm>
          <a:prstGeom prst="roundRect">
            <a:avLst>
              <a:gd name="adj" fmla="val 10344"/>
            </a:avLst>
          </a:prstGeom>
          <a:gradFill rotWithShape="1">
            <a:gsLst>
              <a:gs pos="0">
                <a:srgbClr val="1284BA"/>
              </a:gs>
              <a:gs pos="100000">
                <a:srgbClr val="0D6E9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43731" y="1375109"/>
            <a:ext cx="457188" cy="24063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91135" y="1838324"/>
            <a:ext cx="476238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Avancement Période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8899" y="2314575"/>
            <a:ext cx="1162020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46%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7118" y="2524125"/>
            <a:ext cx="61910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global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91135" y="2943225"/>
            <a:ext cx="4762380" cy="76200"/>
          </a:xfrm>
          <a:prstGeom prst="roundRect">
            <a:avLst>
              <a:gd name="adj" fmla="val 249975000"/>
            </a:avLst>
          </a:prstGeom>
          <a:solidFill>
            <a:srgbClr val="0D6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91135" y="2943225"/>
            <a:ext cx="2190695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62540" y="3809999"/>
            <a:ext cx="1666833" cy="923924"/>
          </a:xfrm>
          <a:prstGeom prst="roundRect">
            <a:avLst>
              <a:gd name="adj" fmla="val 16494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6838" y="3924299"/>
            <a:ext cx="143823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065F46"/>
                </a:solidFill>
                <a:latin typeface="Roboto"/>
                <a:rFonts ascii="Roboto" hAnsi="Roboto" eastAsia="Roboto" cs="Roboto"/>
              </a:rPr>
              <a:t>Complétés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838" y="4152899"/>
            <a:ext cx="14382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43671" y="3809999"/>
            <a:ext cx="1666833" cy="923924"/>
          </a:xfrm>
          <a:prstGeom prst="roundRect">
            <a:avLst>
              <a:gd name="adj" fmla="val 16494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968" y="3924299"/>
            <a:ext cx="143823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2400E"/>
                </a:solidFill>
                <a:latin typeface="Roboto"/>
                <a:rFonts ascii="Roboto" hAnsi="Roboto" eastAsia="Roboto" cs="Roboto"/>
              </a:rPr>
              <a:t>En Cours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968" y="4152899"/>
            <a:ext cx="14382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15277" y="3809999"/>
            <a:ext cx="1666833" cy="923924"/>
          </a:xfrm>
          <a:prstGeom prst="roundRect">
            <a:avLst>
              <a:gd name="adj" fmla="val 16494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29574" y="3924299"/>
            <a:ext cx="143823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Restants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29574" y="4152899"/>
            <a:ext cx="14382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9CA3AF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62540" y="5286375"/>
            <a:ext cx="5219569" cy="1343025"/>
          </a:xfrm>
          <a:prstGeom prst="roundRect">
            <a:avLst>
              <a:gd name="adj" fmla="val 11347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757068" y="5891847"/>
            <a:ext cx="1343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5513202"/>
            <a:ext cx="247643" cy="21309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914977" y="5476875"/>
            <a:ext cx="2000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Préparation Phase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91135" y="5876925"/>
            <a:ext cx="18763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Epics &amp; Stories identifiés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163020" y="5903594"/>
            <a:ext cx="228594" cy="19430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591135" y="6210299"/>
            <a:ext cx="48004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→ Prêts à créer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2767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733550"/>
            <a:ext cx="99057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457" y="2019299"/>
            <a:ext cx="1171545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284BA"/>
                </a:solidFill>
                <a:latin typeface="Montserrat"/>
                <a:rFonts ascii="Montserrat" hAnsi="Montserrat" eastAsia="Montserrat" cs="Montserrat"/>
              </a:rPr>
              <a:t>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857500"/>
            <a:ext cx="50290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Délai moyen d'ouverture de compte manuel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3611165"/>
            <a:ext cx="380990" cy="32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2971" y="3581400"/>
            <a:ext cx="360988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Processus Manuel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4019549"/>
            <a:ext cx="360988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Allers-retours répétés, dossiers incomplets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4563665"/>
            <a:ext cx="380990" cy="321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4533900"/>
            <a:ext cx="416232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Gap de Confiance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4991100"/>
            <a:ext cx="416232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Jeunes : "bureaucratique" vs Seniors : "insécurité"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5542657"/>
            <a:ext cx="380990" cy="3065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71" y="5505450"/>
            <a:ext cx="340986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Pression Réglementaire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" y="5943600"/>
            <a:ext cx="34098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COBAC, Loi 2024-017, conformité stricte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3036" y="1266824"/>
            <a:ext cx="5029074" cy="37719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5432" y="6448425"/>
            <a:ext cx="472428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Exclusion financière des 18-35 ans (60% de la population)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31717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Vision du Projet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419289" y="1369594"/>
            <a:ext cx="457188" cy="385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584" y="1943100"/>
            <a:ext cx="40861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8734" y="2305049"/>
            <a:ext cx="904852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5262" b="1">
                <a:solidFill>
                  <a:srgbClr val="9CA3AF"/>
                </a:solidFill>
                <a:latin typeface="Montserrat"/>
                <a:rFonts ascii="Montserrat" hAnsi="Montserrat" eastAsia="Montserrat" cs="Montserrat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9784" y="2552700"/>
            <a:ext cx="1066773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2631" b="1">
                <a:solidFill>
                  <a:srgbClr val="9CA3AF"/>
                </a:solidFill>
                <a:latin typeface="Montserrat"/>
                <a:rFonts ascii="Montserrat" hAnsi="Montserrat" eastAsia="Montserrat" cs="Montserrat"/>
              </a:rPr>
              <a:t>jours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381190" y="3796578"/>
            <a:ext cx="533386" cy="36974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419289" y="4512844"/>
            <a:ext cx="457188" cy="3850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584" y="5086350"/>
            <a:ext cx="40861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Après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15" y="5448300"/>
            <a:ext cx="657208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5262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4021" y="5695949"/>
            <a:ext cx="1781130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2631" b="1">
                <a:solidFill>
                  <a:srgbClr val="1284BA"/>
                </a:solidFill>
                <a:latin typeface="Montserrat"/>
                <a:rFonts ascii="Montserrat" hAnsi="Montserrat" eastAsia="Montserrat" cs="Montserrat"/>
              </a:rPr>
              <a:t>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5292" y="1504950"/>
            <a:ext cx="627681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1040"/>
              </a:spcAft>
            </a:pPr>
            <a:r>
              <a:rPr sz="1913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Solution Souveraine 100% Open-Source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5292" y="2114550"/>
            <a:ext cx="761980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5292" y="2457450"/>
            <a:ext cx="3047923" cy="990599"/>
          </a:xfrm>
          <a:prstGeom prst="roundRect">
            <a:avLst>
              <a:gd name="adj" fmla="val 15384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4876033" y="28867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533886" y="2671396"/>
            <a:ext cx="304792" cy="2579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52976" y="2647949"/>
            <a:ext cx="12382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PaddleOCR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976" y="3000375"/>
            <a:ext cx="123821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Extraction CNI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4186" y="2457450"/>
            <a:ext cx="3047923" cy="990599"/>
          </a:xfrm>
          <a:prstGeom prst="roundRect">
            <a:avLst>
              <a:gd name="adj" fmla="val 15384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8104927" y="28867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62780" y="2671396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1870" y="2647949"/>
            <a:ext cx="128584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DeepFace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1870" y="3000375"/>
            <a:ext cx="12858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Biométrie faciale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5292" y="3638550"/>
            <a:ext cx="3047923" cy="990599"/>
          </a:xfrm>
          <a:prstGeom prst="roundRect">
            <a:avLst>
              <a:gd name="adj" fmla="val 15384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876033" y="40678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33886" y="3873011"/>
            <a:ext cx="304792" cy="21687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52976" y="3829050"/>
            <a:ext cx="168588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On-Premise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976" y="4181474"/>
            <a:ext cx="16858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Souveraineté données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34186" y="3638550"/>
            <a:ext cx="3047923" cy="990599"/>
          </a:xfrm>
          <a:prstGeom prst="roundRect">
            <a:avLst>
              <a:gd name="adj" fmla="val 15384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8104927" y="40678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62780" y="3837842"/>
            <a:ext cx="304792" cy="2872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81870" y="3829050"/>
            <a:ext cx="155253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Flutter Mobile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1870" y="4181474"/>
            <a:ext cx="155253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Interface responsive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5292" y="4933950"/>
            <a:ext cx="6276818" cy="1228725"/>
          </a:xfrm>
          <a:prstGeom prst="roundRect">
            <a:avLst>
              <a:gd name="adj" fmla="val 12403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57848" y="5442346"/>
            <a:ext cx="380990" cy="20240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591235" y="5162550"/>
            <a:ext cx="223831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Objectif 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1235" y="5457825"/>
            <a:ext cx="5333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3x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0819" y="5619750"/>
            <a:ext cx="16287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réduction du CAC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2004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Recherche &amp; 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3505112" cy="5438774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364374"/>
            <a:ext cx="342891" cy="3192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1343025"/>
            <a:ext cx="146681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Conformité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179" y="1904999"/>
            <a:ext cx="3047923" cy="838200"/>
          </a:xfrm>
          <a:prstGeom prst="roundRect">
            <a:avLst>
              <a:gd name="adj" fmla="val 18181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476" y="2019299"/>
            <a:ext cx="1333466" cy="276225"/>
          </a:xfrm>
          <a:prstGeom prst="roundRect">
            <a:avLst>
              <a:gd name="adj" fmla="val 6895862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773" y="2057400"/>
            <a:ext cx="11048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E40AF"/>
                </a:solidFill>
                <a:latin typeface="Roboto"/>
                <a:rFonts ascii="Roboto" hAnsi="Roboto" eastAsia="Roboto" cs="Roboto"/>
              </a:rPr>
              <a:t>COBAC R-2019/01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371725"/>
            <a:ext cx="281932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Licences &amp; normes prudentielles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179" y="2895600"/>
            <a:ext cx="3047923" cy="838200"/>
          </a:xfrm>
          <a:prstGeom prst="roundRect">
            <a:avLst>
              <a:gd name="adj" fmla="val 18181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476" y="3009900"/>
            <a:ext cx="1333466" cy="276225"/>
          </a:xfrm>
          <a:prstGeom prst="roundRect">
            <a:avLst>
              <a:gd name="adj" fmla="val 6895862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773" y="3047999"/>
            <a:ext cx="11048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E40AF"/>
                </a:solidFill>
                <a:latin typeface="Roboto"/>
                <a:rFonts ascii="Roboto" hAnsi="Roboto" eastAsia="Roboto" cs="Roboto"/>
              </a:rPr>
              <a:t>COBAC R-2019/02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3362324"/>
            <a:ext cx="281932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Exigences KYC/AML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179" y="3886200"/>
            <a:ext cx="3047923" cy="1095374"/>
          </a:xfrm>
          <a:prstGeom prst="roundRect">
            <a:avLst>
              <a:gd name="adj" fmla="val 13913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476" y="4000500"/>
            <a:ext cx="1019149" cy="276225"/>
          </a:xfrm>
          <a:prstGeom prst="roundRect">
            <a:avLst>
              <a:gd name="adj" fmla="val 6895862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773" y="4038599"/>
            <a:ext cx="79055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Loi 2024-017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352924"/>
            <a:ext cx="281932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"GDPR Camerounais" - Données sensibles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79" y="5867399"/>
            <a:ext cx="30479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284BA"/>
                </a:solidFill>
                <a:latin typeface="Roboto"/>
                <a:rFonts ascii="Roboto" hAnsi="Roboto" eastAsia="Roboto" cs="Roboto"/>
              </a:rPr>
              <a:t>✓ Conservation 10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79" y="6095999"/>
            <a:ext cx="30479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284BA"/>
                </a:solidFill>
                <a:latin typeface="Roboto"/>
                <a:rFonts ascii="Roboto" hAnsi="Roboto" eastAsia="Roboto" cs="Roboto"/>
              </a:rPr>
              <a:t>✓ Chiffrement AES-256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291" y="1114425"/>
            <a:ext cx="3505112" cy="5438774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71885" y="1390978"/>
            <a:ext cx="342891" cy="2660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074" y="1343025"/>
            <a:ext cx="16001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Concurrents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1885" y="1904999"/>
            <a:ext cx="3047923" cy="857250"/>
          </a:xfrm>
          <a:prstGeom prst="roundRect">
            <a:avLst>
              <a:gd name="adj" fmla="val 17777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4281" y="2057400"/>
            <a:ext cx="27431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Afriland First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281" y="238125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Approche hybride, focus PME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1885" y="2914650"/>
            <a:ext cx="3047923" cy="857250"/>
          </a:xfrm>
          <a:prstGeom prst="roundRect">
            <a:avLst>
              <a:gd name="adj" fmla="val 17777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4281" y="3067050"/>
            <a:ext cx="27431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Ecobank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4281" y="3390899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Plateforme panafricaine mature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1885" y="3924299"/>
            <a:ext cx="3047923" cy="857250"/>
          </a:xfrm>
          <a:prstGeom prst="roundRect">
            <a:avLst>
              <a:gd name="adj" fmla="val 17777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4281" y="4076699"/>
            <a:ext cx="27431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MTN Mobile Money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4281" y="440055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Inscription instantanée, KYC limité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885" y="5514975"/>
            <a:ext cx="3047923" cy="809625"/>
          </a:xfrm>
          <a:prstGeom prst="roundRect">
            <a:avLst>
              <a:gd name="adj" fmla="val 18823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4281" y="5667374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FF862F"/>
                </a:solidFill>
                <a:latin typeface="Roboto"/>
                <a:rFonts ascii="Roboto" hAnsi="Roboto" eastAsia="Roboto" cs="Roboto"/>
              </a:rPr>
              <a:t>Opportunité BICEC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4281" y="5934075"/>
            <a:ext cx="274313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100% distant + confiance accrue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6998" y="1114425"/>
            <a:ext cx="3505112" cy="5438774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1390978"/>
            <a:ext cx="342891" cy="26604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62780" y="1343025"/>
            <a:ext cx="135251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Technique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5592" y="1904999"/>
            <a:ext cx="30479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Stack Validé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05592" y="233810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72285" y="230504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PaddleOCR (PP-OCRv4)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05592" y="2642907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72285" y="2609850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DeepFace + MiniFASNet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05592" y="294770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72285" y="2914650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Flutter + FastAPI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05592" y="325250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72285" y="3219449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PostgreSQL + Docker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5592" y="3638550"/>
            <a:ext cx="30479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Contraintes Matérielles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05592" y="4038599"/>
            <a:ext cx="3047923" cy="1009649"/>
          </a:xfrm>
          <a:prstGeom prst="roundRect">
            <a:avLst>
              <a:gd name="adj" fmla="val 1509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7988" y="4190999"/>
            <a:ext cx="68578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16GB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9969" y="4324349"/>
            <a:ext cx="6572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RAM max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7988" y="4667249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Intel Core i3 @ 2.5GHz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70523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4267093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Stack Technologique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1628775"/>
            <a:ext cx="609584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584" y="1895474"/>
            <a:ext cx="4267093" cy="847724"/>
          </a:xfrm>
          <a:prstGeom prst="roundRect">
            <a:avLst>
              <a:gd name="adj" fmla="val 17977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51762" y="2253296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2164474"/>
            <a:ext cx="342891" cy="3192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5367" y="2047874"/>
            <a:ext cx="220021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367" y="2333624"/>
            <a:ext cx="220021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Flutter • Android 7+ • iOS 15+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895600"/>
            <a:ext cx="4267093" cy="847724"/>
          </a:xfrm>
          <a:prstGeom prst="roundRect">
            <a:avLst>
              <a:gd name="adj" fmla="val 17977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51762" y="3253422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3155074"/>
            <a:ext cx="342891" cy="3192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367" y="3047999"/>
            <a:ext cx="23335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367" y="3333749"/>
            <a:ext cx="233356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FastAPI • Python • REST/JSON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895724"/>
            <a:ext cx="4267093" cy="847724"/>
          </a:xfrm>
          <a:prstGeom prst="roundRect">
            <a:avLst>
              <a:gd name="adj" fmla="val 17977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51762" y="4253546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191328"/>
            <a:ext cx="342891" cy="2660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5367" y="4048124"/>
            <a:ext cx="27907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Moteur IA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367" y="4333875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PaddleOCR • DeepFace • MiniFASNet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4895849"/>
            <a:ext cx="4267093" cy="847724"/>
          </a:xfrm>
          <a:prstGeom prst="roundRect">
            <a:avLst>
              <a:gd name="adj" fmla="val 17977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51762" y="5253671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5193752"/>
            <a:ext cx="342891" cy="2423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95367" y="5048250"/>
            <a:ext cx="264788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Base de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367" y="5334000"/>
            <a:ext cx="264788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PostgreSQL • Chiffrement AES-256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5972175"/>
            <a:ext cx="4267093" cy="990599"/>
          </a:xfrm>
          <a:prstGeom prst="roundRect">
            <a:avLst>
              <a:gd name="adj" fmla="val 15384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6350244"/>
            <a:ext cx="304792" cy="23446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9169" y="6162675"/>
            <a:ext cx="29145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Déploiement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169" y="6457950"/>
            <a:ext cx="29145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Docker Compose • On-Premise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0064" y="1504950"/>
            <a:ext cx="6172045" cy="380999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10064" y="5505450"/>
            <a:ext cx="3009824" cy="1057275"/>
          </a:xfrm>
          <a:prstGeom prst="roundRect">
            <a:avLst>
              <a:gd name="adj" fmla="val 14414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689" y="5676900"/>
            <a:ext cx="98105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16GB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1510" y="6134100"/>
            <a:ext cx="266693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RAM Maximum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285" y="5505450"/>
            <a:ext cx="3009824" cy="1057275"/>
          </a:xfrm>
          <a:prstGeom prst="roundRect">
            <a:avLst>
              <a:gd name="adj" fmla="val 14414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5752" y="5676900"/>
            <a:ext cx="34289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i3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3731" y="6134100"/>
            <a:ext cx="266693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Intel Core @ 2.5GHz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40996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Expérience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525766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Parcours "Marie" en 11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1590675"/>
            <a:ext cx="761980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584" y="1819275"/>
            <a:ext cx="5257668" cy="1714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584" y="3686175"/>
            <a:ext cx="1676358" cy="1123949"/>
          </a:xfrm>
          <a:prstGeom prst="roundRect">
            <a:avLst>
              <a:gd name="adj" fmla="val 1355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95367" y="3840040"/>
            <a:ext cx="304792" cy="2256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881" y="4181474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Téléchargement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1" y="4410074"/>
            <a:ext cx="14477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00:30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0239" y="3686175"/>
            <a:ext cx="1676358" cy="1123949"/>
          </a:xfrm>
          <a:prstGeom prst="roundRect">
            <a:avLst>
              <a:gd name="adj" fmla="val 1355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086022" y="3823921"/>
            <a:ext cx="304792" cy="2579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14537" y="4181474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Capture CNI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37" y="4410074"/>
            <a:ext cx="14477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03:00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0895" y="3686175"/>
            <a:ext cx="1676358" cy="1123949"/>
          </a:xfrm>
          <a:prstGeom prst="roundRect">
            <a:avLst>
              <a:gd name="adj" fmla="val 1355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76678" y="3823921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05192" y="4181474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Biométrie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5192" y="4410074"/>
            <a:ext cx="14477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05:30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924424"/>
            <a:ext cx="1676358" cy="1123949"/>
          </a:xfrm>
          <a:prstGeom prst="roundRect">
            <a:avLst>
              <a:gd name="adj" fmla="val 1355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295367" y="5062171"/>
            <a:ext cx="304792" cy="2579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881" y="54197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GPS + Adresse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881" y="5648325"/>
            <a:ext cx="14477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07:30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00239" y="4924424"/>
            <a:ext cx="1676358" cy="1123949"/>
          </a:xfrm>
          <a:prstGeom prst="roundRect">
            <a:avLst>
              <a:gd name="adj" fmla="val 1355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086022" y="5073894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14537" y="54197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537" y="5648325"/>
            <a:ext cx="14477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09:30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90895" y="4924424"/>
            <a:ext cx="1676358" cy="1123949"/>
          </a:xfrm>
          <a:prstGeom prst="roundRect">
            <a:avLst>
              <a:gd name="adj" fmla="val 1355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76678" y="5062171"/>
            <a:ext cx="304792" cy="2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05192" y="54197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Soumission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5192" y="5648325"/>
            <a:ext cx="14477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11:00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1" y="1114425"/>
            <a:ext cx="525766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Personas Clés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4441" y="1590675"/>
            <a:ext cx="761980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24441" y="1781174"/>
            <a:ext cx="5257668" cy="714375"/>
          </a:xfrm>
          <a:prstGeom prst="roundRect">
            <a:avLst>
              <a:gd name="adj" fmla="val 21333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6033294" y="2072321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2053855"/>
            <a:ext cx="247643" cy="17853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38779" y="1895474"/>
            <a:ext cx="46290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Marie • Entrepreneure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8779" y="2152650"/>
            <a:ext cx="46290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24 ans • Besoin de rapidité • Taux complétion &gt;75%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1" y="2609850"/>
            <a:ext cx="5257668" cy="714375"/>
          </a:xfrm>
          <a:prstGeom prst="roundRect">
            <a:avLst>
              <a:gd name="adj" fmla="val 21333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033294" y="2900997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76838" y="2847088"/>
            <a:ext cx="247643" cy="2303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38779" y="2724150"/>
            <a:ext cx="46290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Jean • Agent KYC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8779" y="2981325"/>
            <a:ext cx="46290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Validation &lt; 5min • First-Time-Right &gt;85%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24441" y="3438525"/>
            <a:ext cx="5257668" cy="714375"/>
          </a:xfrm>
          <a:prstGeom prst="roundRect">
            <a:avLst>
              <a:gd name="adj" fmla="val 21333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6033294" y="3729672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76838" y="3693927"/>
            <a:ext cx="247643" cy="21309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38779" y="3552825"/>
            <a:ext cx="46290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Thomas • 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8779" y="3809999"/>
            <a:ext cx="46290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Provisioning • Résolution conflits • Gestion Amplitude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4441" y="4267199"/>
            <a:ext cx="5257668" cy="714375"/>
          </a:xfrm>
          <a:prstGeom prst="roundRect">
            <a:avLst>
              <a:gd name="adj" fmla="val 21333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6033294" y="4558346"/>
            <a:ext cx="714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76838" y="4521716"/>
            <a:ext cx="247643" cy="19581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38779" y="4381499"/>
            <a:ext cx="46290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Sylvie •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8779" y="4638674"/>
            <a:ext cx="46290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Dashboard R/Y/G • SLA &lt; 2h • Monitoring temps réel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24441" y="5172075"/>
            <a:ext cx="1676358" cy="761999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048323" y="5336857"/>
            <a:ext cx="228594" cy="16573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57788" y="5600700"/>
            <a:ext cx="140966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Résilience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15097" y="5172075"/>
            <a:ext cx="1676358" cy="761999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838979" y="5342572"/>
            <a:ext cx="228594" cy="15430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248443" y="5600700"/>
            <a:ext cx="140966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Evidence-First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05752" y="5172075"/>
            <a:ext cx="1676358" cy="761999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629634" y="5322570"/>
            <a:ext cx="228594" cy="19430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039099" y="5600700"/>
            <a:ext cx="140966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Revolut-Grade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72388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Livrables Clés - Méthodologie BMAD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76325"/>
            <a:ext cx="6353016" cy="1114425"/>
          </a:xfrm>
          <a:prstGeom prst="roundRect">
            <a:avLst>
              <a:gd name="adj" fmla="val 13675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34922" y="1550987"/>
            <a:ext cx="11144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1301380"/>
            <a:ext cx="247643" cy="178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47" y="1238249"/>
            <a:ext cx="32384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1: Recherche &amp; Analyse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104" y="1190625"/>
            <a:ext cx="70483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100%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81610" y="1277592"/>
            <a:ext cx="266693" cy="2261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1505" y="1666874"/>
            <a:ext cx="3000299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1822501"/>
            <a:ext cx="171445" cy="1078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5347" y="1743075"/>
            <a:ext cx="16192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Research Report KYC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8003" y="1666874"/>
            <a:ext cx="3000299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24201" y="1822501"/>
            <a:ext cx="171445" cy="1078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71845" y="1743075"/>
            <a:ext cx="14858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Technical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2266950"/>
            <a:ext cx="6353016" cy="1638299"/>
          </a:xfrm>
          <a:prstGeom prst="roundRect">
            <a:avLst>
              <a:gd name="adj" fmla="val 9302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27015" y="3003549"/>
            <a:ext cx="16382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71505" y="2474727"/>
            <a:ext cx="247643" cy="2130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5347" y="2419349"/>
            <a:ext cx="37432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2: Planification &amp; Exigences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451" y="2381250"/>
            <a:ext cx="56196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85%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81610" y="2468217"/>
            <a:ext cx="266693" cy="22611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71505" y="2857500"/>
            <a:ext cx="3000299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3003601"/>
            <a:ext cx="171445" cy="1078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5347" y="2933699"/>
            <a:ext cx="100009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Product Brief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8003" y="2857500"/>
            <a:ext cx="3000299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24201" y="3003601"/>
            <a:ext cx="171445" cy="1078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71845" y="2933699"/>
            <a:ext cx="206687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PRD v2 (41 FRs + 12 NFRs)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1505" y="3343275"/>
            <a:ext cx="3000299" cy="447675"/>
          </a:xfrm>
          <a:prstGeom prst="roundRect">
            <a:avLst>
              <a:gd name="adj" fmla="val 17021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3517951"/>
            <a:ext cx="171445" cy="1078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95347" y="3438525"/>
            <a:ext cx="16096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UX Specification v2.1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8003" y="3343275"/>
            <a:ext cx="3000299" cy="447675"/>
          </a:xfrm>
          <a:prstGeom prst="roundRect">
            <a:avLst>
              <a:gd name="adj" fmla="val 17021"/>
            </a:avLst>
          </a:prstGeom>
          <a:solidFill>
            <a:srgbClr val="FFFBEB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943251" y="349721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90895" y="3438525"/>
            <a:ext cx="17716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2400E"/>
                </a:solidFill>
                <a:latin typeface="Roboto"/>
                <a:rFonts ascii="Roboto" hAnsi="Roboto" eastAsia="Roboto" cs="Roboto"/>
              </a:rPr>
              <a:t>Architecture (En cours)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584" y="3981449"/>
            <a:ext cx="6353016" cy="1114425"/>
          </a:xfrm>
          <a:prstGeom prst="roundRect">
            <a:avLst>
              <a:gd name="adj" fmla="val 13675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134922" y="4456111"/>
            <a:ext cx="11144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71505" y="4197866"/>
            <a:ext cx="247643" cy="19581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5347" y="4133849"/>
            <a:ext cx="354321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3: Conception de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7" y="4095749"/>
            <a:ext cx="41908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9CA3AF"/>
                </a:solidFill>
                <a:latin typeface="Montserrat"/>
                <a:rFonts ascii="Montserrat" hAnsi="Montserrat" eastAsia="Montserrat" cs="Montserrat"/>
              </a:rPr>
              <a:t>0%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81610" y="4182717"/>
            <a:ext cx="266693" cy="22611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71505" y="4572000"/>
            <a:ext cx="3000299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7703" y="4697361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95347" y="4648200"/>
            <a:ext cx="114297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Epics &amp; Stories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8003" y="4572000"/>
            <a:ext cx="3000299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924201" y="4697361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171845" y="4648200"/>
            <a:ext cx="212402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Préparation Implémentation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584" y="5172075"/>
            <a:ext cx="6353016" cy="1114425"/>
          </a:xfrm>
          <a:prstGeom prst="roundRect">
            <a:avLst>
              <a:gd name="adj" fmla="val 13675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134922" y="5646737"/>
            <a:ext cx="11144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71505" y="5417288"/>
            <a:ext cx="247643" cy="13822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5347" y="5334000"/>
            <a:ext cx="277170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4: Implémentation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5847" y="5286375"/>
            <a:ext cx="41908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9CA3AF"/>
                </a:solidFill>
                <a:latin typeface="Montserrat"/>
                <a:rFonts ascii="Montserrat" hAnsi="Montserrat" eastAsia="Montserrat" cs="Montserrat"/>
              </a:rPr>
              <a:t>0%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81610" y="5373342"/>
            <a:ext cx="266693" cy="226115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771505" y="5762625"/>
            <a:ext cx="1971625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7703" y="5897511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95347" y="5838824"/>
            <a:ext cx="115249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Sprint Planning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19329" y="5762625"/>
            <a:ext cx="1971625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895527" y="5897511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143171" y="5838824"/>
            <a:ext cx="119059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Développement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76678" y="5762625"/>
            <a:ext cx="1971625" cy="409574"/>
          </a:xfrm>
          <a:prstGeom prst="roundRect">
            <a:avLst>
              <a:gd name="adj" fmla="val 18604"/>
            </a:avLst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952876" y="5897511"/>
            <a:ext cx="171445" cy="14932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200519" y="5838824"/>
            <a:ext cx="116202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QA Automation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19789" y="1076325"/>
            <a:ext cx="4162320" cy="3143250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1284BA"/>
              </a:gs>
              <a:gs pos="100000">
                <a:srgbClr val="0D6E9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239019" y="1423554"/>
            <a:ext cx="533386" cy="44854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724581" y="2028825"/>
            <a:ext cx="35527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Avancement Global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3256" y="2562224"/>
            <a:ext cx="1495387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46%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24581" y="3362324"/>
            <a:ext cx="3552736" cy="114300"/>
          </a:xfrm>
          <a:prstGeom prst="roundRect">
            <a:avLst>
              <a:gd name="adj" fmla="val 166650000"/>
            </a:avLst>
          </a:prstGeom>
          <a:solidFill>
            <a:srgbClr val="0D6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24581" y="3362324"/>
            <a:ext cx="1628734" cy="114300"/>
          </a:xfrm>
          <a:prstGeom prst="roundRect">
            <a:avLst>
              <a:gd name="adj" fmla="val 1666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24581" y="3629025"/>
            <a:ext cx="35527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Méthodologie BMAD Agile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19789" y="4410074"/>
            <a:ext cx="1314417" cy="981074"/>
          </a:xfrm>
          <a:prstGeom prst="roundRect">
            <a:avLst>
              <a:gd name="adj" fmla="val 15533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34086" y="4524374"/>
            <a:ext cx="108582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065F46"/>
                </a:solidFill>
                <a:latin typeface="Roboto"/>
                <a:rFonts ascii="Roboto" hAnsi="Roboto" eastAsia="Roboto" cs="Roboto"/>
              </a:rPr>
              <a:t>Complétés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34086" y="4762500"/>
            <a:ext cx="1085822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848503" y="4410074"/>
            <a:ext cx="1314417" cy="981074"/>
          </a:xfrm>
          <a:prstGeom prst="roundRect">
            <a:avLst>
              <a:gd name="adj" fmla="val 15533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62800" y="4524374"/>
            <a:ext cx="108582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2400E"/>
                </a:solidFill>
                <a:latin typeface="Roboto"/>
                <a:rFonts ascii="Roboto" hAnsi="Roboto" eastAsia="Roboto" cs="Roboto"/>
              </a:rPr>
              <a:t>En Cours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2800" y="4762500"/>
            <a:ext cx="1085822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267693" y="4410074"/>
            <a:ext cx="1314417" cy="981074"/>
          </a:xfrm>
          <a:prstGeom prst="roundRect">
            <a:avLst>
              <a:gd name="adj" fmla="val 155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81990" y="4524374"/>
            <a:ext cx="108582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Roboto"/>
                <a:rFonts ascii="Roboto" hAnsi="Roboto" eastAsia="Roboto" cs="Roboto"/>
              </a:rPr>
              <a:t>Restants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81990" y="4762500"/>
            <a:ext cx="1085822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9CA3AF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19789" y="5543550"/>
            <a:ext cx="4162320" cy="1304925"/>
          </a:xfrm>
          <a:prstGeom prst="roundRect">
            <a:avLst>
              <a:gd name="adj" fmla="val 11678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629334" y="5787265"/>
            <a:ext cx="266693" cy="21741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972225" y="5753099"/>
            <a:ext cx="129536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Focus Actuel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9334" y="6153149"/>
            <a:ext cx="374323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⏳ Architecture Document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29334" y="6410324"/>
            <a:ext cx="37432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A3412"/>
                </a:solidFill>
                <a:latin typeface="Roboto"/>
                <a:rFonts ascii="Roboto" hAnsi="Roboto" eastAsia="Roboto" cs="Roboto"/>
              </a:rPr>
              <a:t>→ En cours de rédaction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12422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Métriques de Succès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2257368" cy="733424"/>
          </a:xfrm>
          <a:prstGeom prst="roundRect">
            <a:avLst>
              <a:gd name="adj" fmla="val 2077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1980" y="1333085"/>
            <a:ext cx="266693" cy="19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872" y="1266824"/>
            <a:ext cx="11429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Utilisateur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962149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182865" y="2388868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456" y="207644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Taux Complétion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56" y="2343150"/>
            <a:ext cx="80960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&gt;75%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028950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82865" y="34556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456" y="31432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Temps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56" y="3409950"/>
            <a:ext cx="110487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&lt;15min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095749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82865" y="4522468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56" y="421004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Usage 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56" y="4476750"/>
            <a:ext cx="1095347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&lt;20MB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5162550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182865" y="55892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56" y="52768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FTR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56" y="5543550"/>
            <a:ext cx="82865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&gt;85%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9349" y="1114425"/>
            <a:ext cx="2257368" cy="733424"/>
          </a:xfrm>
          <a:prstGeom prst="roundRect">
            <a:avLst>
              <a:gd name="adj" fmla="val 2077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171745" y="132438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14637" y="1266824"/>
            <a:ext cx="9810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Business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9349" y="1962149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592630" y="2388868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62220" y="207644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Réduction 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2220" y="2343150"/>
            <a:ext cx="35241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284BA"/>
                </a:solidFill>
                <a:latin typeface="Montserrat"/>
                <a:rFonts ascii="Montserrat" hAnsi="Montserrat" eastAsia="Montserrat" cs="Montserrat"/>
              </a:rPr>
              <a:t>3x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9349" y="3028950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2592630" y="34556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62220" y="31432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Backlog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2220" y="3409950"/>
            <a:ext cx="790555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284BA"/>
                </a:solidFill>
                <a:latin typeface="Montserrat"/>
                <a:rFonts ascii="Montserrat" hAnsi="Montserrat" eastAsia="Montserrat" cs="Montserrat"/>
              </a:rPr>
              <a:t>-80%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9349" y="4095749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2592630" y="4522468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62220" y="421004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Nouveaux Comptes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2220" y="4476750"/>
            <a:ext cx="82865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284BA"/>
                </a:solidFill>
                <a:latin typeface="Montserrat"/>
                <a:rFonts ascii="Montserrat" hAnsi="Montserrat" eastAsia="Montserrat" cs="Montserrat"/>
              </a:rPr>
              <a:t>+30%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9349" y="5162550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2592630" y="55892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62220" y="52768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Segment 18-35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2220" y="5543550"/>
            <a:ext cx="82865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284BA"/>
                </a:solidFill>
                <a:latin typeface="Montserrat"/>
                <a:rFonts ascii="Montserrat" hAnsi="Montserrat" eastAsia="Montserrat" cs="Montserrat"/>
              </a:rPr>
              <a:t>+30%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38639" y="1114425"/>
            <a:ext cx="2257368" cy="733424"/>
          </a:xfrm>
          <a:prstGeom prst="roundRect">
            <a:avLst>
              <a:gd name="adj" fmla="val 20779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591035" y="1315692"/>
            <a:ext cx="266693" cy="22611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933926" y="1266824"/>
            <a:ext cx="11429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Technique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38639" y="1962149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011920" y="2388868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81510" y="207644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Uptime Système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1510" y="2343150"/>
            <a:ext cx="110487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&gt;99.9%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38639" y="3028950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011920" y="34556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81510" y="31432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Traitement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81510" y="3409950"/>
            <a:ext cx="64768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&lt;15s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38639" y="4095749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5011920" y="4522468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81510" y="4210049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Taux Faux Positifs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81510" y="4476750"/>
            <a:ext cx="62863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&lt;2%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38639" y="5162550"/>
            <a:ext cx="2257368" cy="952499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5011920" y="5589269"/>
            <a:ext cx="952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81510" y="52768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6B7280"/>
                </a:solidFill>
                <a:latin typeface="Roboto"/>
                <a:rFonts ascii="Roboto" hAnsi="Roboto" eastAsia="Roboto" cs="Roboto"/>
              </a:rPr>
              <a:t>Souveraineté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81510" y="5543550"/>
            <a:ext cx="80007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100%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53196" y="1238249"/>
            <a:ext cx="3428914" cy="2286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153196" y="3714750"/>
            <a:ext cx="3428914" cy="2714625"/>
          </a:xfrm>
          <a:prstGeom prst="roundRect">
            <a:avLst>
              <a:gd name="adj" fmla="val 8421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639059" y="3982452"/>
            <a:ext cx="457188" cy="37899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381790" y="4514850"/>
            <a:ext cx="297172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Objectif Pilote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86622" y="4972050"/>
            <a:ext cx="1562060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20-50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1790" y="5581649"/>
            <a:ext cx="297172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Comptes Vérifiés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1790" y="5943600"/>
            <a:ext cx="297172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MVP Phase - Mock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368608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Prochaines Étapes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3505112" cy="5438774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 w="41275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447307"/>
            <a:ext cx="342891" cy="286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1390650"/>
            <a:ext cx="103819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4141" y="1438274"/>
            <a:ext cx="561960" cy="304800"/>
          </a:xfrm>
          <a:prstGeom prst="roundRect">
            <a:avLst>
              <a:gd name="adj" fmla="val 6249375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8439" y="1476375"/>
            <a:ext cx="3333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MVP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2033458"/>
            <a:ext cx="209544" cy="181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1981199"/>
            <a:ext cx="15525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App Mobile Flutter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2433508"/>
            <a:ext cx="209544" cy="181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921" y="2381250"/>
            <a:ext cx="276218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Intégration AI PaddleOCR/DeepFace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3119308"/>
            <a:ext cx="209544" cy="181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06705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Portal Back-Office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179" y="3467100"/>
            <a:ext cx="3047923" cy="438149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3595558"/>
            <a:ext cx="209544" cy="181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3543300"/>
            <a:ext cx="22764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91B1B"/>
                </a:solidFill>
                <a:latin typeface="Roboto"/>
                <a:rFonts ascii="Roboto" hAnsi="Roboto" eastAsia="Roboto" cs="Roboto"/>
              </a:rPr>
              <a:t>Services Mock (DGI/BEAC)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071808"/>
            <a:ext cx="209544" cy="181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019549"/>
            <a:ext cx="24097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Multi-agents Load Balancing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471858"/>
            <a:ext cx="209544" cy="181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4419600"/>
            <a:ext cx="235261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Connexion Sopra Amplitude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4871908"/>
            <a:ext cx="209544" cy="1812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21" y="4819650"/>
            <a:ext cx="2000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Pilote 20-50 utilisateurs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79" y="6019800"/>
            <a:ext cx="4571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Durée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428" y="5981699"/>
            <a:ext cx="10286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3-4 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291" y="1114425"/>
            <a:ext cx="3505112" cy="5438774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 w="41275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71885" y="1499037"/>
            <a:ext cx="342891" cy="1832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074" y="1390650"/>
            <a:ext cx="108582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95927" y="1438274"/>
            <a:ext cx="723881" cy="304800"/>
          </a:xfrm>
          <a:prstGeom prst="roundRect">
            <a:avLst>
              <a:gd name="adj" fmla="val 6249375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0224" y="1476375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Growth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71885" y="2033458"/>
            <a:ext cx="209544" cy="1812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57628" y="1981199"/>
            <a:ext cx="230499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Intégrations Live DGI/BEAC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71885" y="2433508"/>
            <a:ext cx="209544" cy="1812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57628" y="2381250"/>
            <a:ext cx="25621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Détection Fraude Automatisée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71885" y="2833558"/>
            <a:ext cx="209544" cy="1812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57628" y="2781300"/>
            <a:ext cx="181922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Scaling 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885" y="6057900"/>
            <a:ext cx="95247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Dépendance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3036" y="6038849"/>
            <a:ext cx="106677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284BA"/>
                </a:solidFill>
                <a:latin typeface="Roboto"/>
                <a:rFonts ascii="Roboto" hAnsi="Roboto" eastAsia="Roboto" cs="Roboto"/>
              </a:rPr>
              <a:t>APIs Réelles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6998" y="1114425"/>
            <a:ext cx="3505112" cy="5438774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 w="41275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05592" y="1445829"/>
            <a:ext cx="342891" cy="28969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62780" y="1390650"/>
            <a:ext cx="108582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Phase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96307" y="1438274"/>
            <a:ext cx="657208" cy="304800"/>
          </a:xfrm>
          <a:prstGeom prst="roundRect">
            <a:avLst>
              <a:gd name="adj" fmla="val 6249375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10604" y="1476375"/>
            <a:ext cx="4286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EFEFE"/>
                </a:solidFill>
                <a:latin typeface="Roboto"/>
                <a:rFonts ascii="Roboto" hAnsi="Roboto" eastAsia="Roboto" cs="Roboto"/>
              </a:rPr>
              <a:t>Vision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2033458"/>
            <a:ext cx="209544" cy="1812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91335" y="1981199"/>
            <a:ext cx="157158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Expansion CEMAC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2433508"/>
            <a:ext cx="209544" cy="1812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91335" y="2381250"/>
            <a:ext cx="111439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BICEC ID Rail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2833558"/>
            <a:ext cx="209544" cy="1812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591335" y="2781300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Produits One-Click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3233608"/>
            <a:ext cx="209544" cy="18123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91335" y="3181350"/>
            <a:ext cx="2000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Support NFC Passports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3633658"/>
            <a:ext cx="209544" cy="18123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591335" y="3581400"/>
            <a:ext cx="15430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Blueprint Régional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5592" y="6057900"/>
            <a:ext cx="46671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Roboto"/>
                <a:rFonts ascii="Roboto" hAnsi="Roboto" eastAsia="Roboto" cs="Roboto"/>
              </a:rPr>
              <a:t>Statut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15357" y="6038849"/>
            <a:ext cx="638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8B5CF6"/>
                </a:solidFill>
                <a:latin typeface="Roboto"/>
                <a:rFonts ascii="Roboto" hAnsi="Roboto" eastAsia="Roboto" cs="Roboto"/>
              </a:rPr>
              <a:t>Planifié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220974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352549"/>
            <a:ext cx="4295667" cy="2667000"/>
          </a:xfrm>
          <a:prstGeom prst="roundRect">
            <a:avLst>
              <a:gd name="adj" fmla="val 8571"/>
            </a:avLst>
          </a:prstGeom>
          <a:gradFill rotWithShape="1">
            <a:gsLst>
              <a:gs pos="0">
                <a:srgbClr val="1284BA"/>
              </a:gs>
              <a:gs pos="100000">
                <a:srgbClr val="0D6E9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457388" y="1693926"/>
            <a:ext cx="609584" cy="536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377" y="2419349"/>
            <a:ext cx="368608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1040"/>
              </a:spcAft>
            </a:pPr>
            <a:r>
              <a:rPr sz="1913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Projet Prêt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3028950"/>
            <a:ext cx="3686082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Documentation complète et conforme COBAC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238624"/>
            <a:ext cx="4295667" cy="2076449"/>
          </a:xfrm>
          <a:prstGeom prst="roundRect">
            <a:avLst>
              <a:gd name="adj" fmla="val 11009"/>
            </a:avLst>
          </a:prstGeom>
          <a:solidFill>
            <a:srgbClr val="FFF7ED"/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4540494"/>
            <a:ext cx="304792" cy="2344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4486275"/>
            <a:ext cx="17716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Valeur Ajoutée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5033833"/>
            <a:ext cx="209544" cy="181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2971" y="4981574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Réduction CAC 3x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5433883"/>
            <a:ext cx="209544" cy="181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71" y="5381624"/>
            <a:ext cx="27145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Temps onboarding 14j → 11min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5833933"/>
            <a:ext cx="209544" cy="181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5781674"/>
            <a:ext cx="23621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100% souveraineté données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2440" y="1114425"/>
            <a:ext cx="3038399" cy="1666874"/>
          </a:xfrm>
          <a:prstGeom prst="roundRect">
            <a:avLst>
              <a:gd name="adj" fmla="val 13714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595043" y="1881822"/>
            <a:ext cx="1666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591035" y="1355241"/>
            <a:ext cx="266693" cy="223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33926" y="1304925"/>
            <a:ext cx="118107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035" y="1733550"/>
            <a:ext cx="2619309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Première solution KYC 100% open-source &amp; on-premise au Cameroun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3236" y="1114425"/>
            <a:ext cx="3038399" cy="1666874"/>
          </a:xfrm>
          <a:prstGeom prst="roundRect">
            <a:avLst>
              <a:gd name="adj" fmla="val 13714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785839" y="1881822"/>
            <a:ext cx="1666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81830" y="136248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24721" y="1304925"/>
            <a:ext cx="11143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Faisabilité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1830" y="1733550"/>
            <a:ext cx="2619309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Technique prouvée sur hardware standard 16GB RAM / Intel i3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2440" y="2933699"/>
            <a:ext cx="3038399" cy="1381124"/>
          </a:xfrm>
          <a:prstGeom prst="roundRect">
            <a:avLst>
              <a:gd name="adj" fmla="val 1655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737918" y="3558221"/>
            <a:ext cx="1381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91035" y="3151946"/>
            <a:ext cx="266693" cy="2493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33926" y="3124200"/>
            <a:ext cx="12382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Conformité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1035" y="3552825"/>
            <a:ext cx="261930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Respect total Loi 2024-017 et directives COBAC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53236" y="2933699"/>
            <a:ext cx="3038399" cy="1381124"/>
          </a:xfrm>
          <a:prstGeom prst="roundRect">
            <a:avLst>
              <a:gd name="adj" fmla="val 16551"/>
            </a:avLst>
          </a:prstGeom>
          <a:gradFill rotWithShape="1">
            <a:gsLst>
              <a:gs pos="0">
                <a:srgbClr val="F0F9FF"/>
              </a:gs>
              <a:gs pos="100000">
                <a:srgbClr val="E0F2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7928714" y="3558221"/>
            <a:ext cx="1381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81830" y="3204127"/>
            <a:ext cx="266693" cy="14494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24721" y="3124200"/>
            <a:ext cx="148586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F2937"/>
                </a:solidFill>
                <a:latin typeface="Montserrat"/>
                <a:rFonts ascii="Montserrat" hAnsi="Montserrat" eastAsia="Montserrat" cs="Montserrat"/>
              </a:rPr>
              <a:t>Impact Social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1830" y="3552825"/>
            <a:ext cx="261930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"/>
                <a:rFonts ascii="Roboto" hAnsi="Roboto" eastAsia="Roboto" cs="Roboto"/>
              </a:rPr>
              <a:t>Inclusion financière des jeunes entrepreneurs 18-35 ans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62440" y="4505325"/>
            <a:ext cx="6219669" cy="1409699"/>
          </a:xfrm>
          <a:prstGeom prst="roundRect">
            <a:avLst>
              <a:gd name="adj" fmla="val 16216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591035" y="5088977"/>
            <a:ext cx="342891" cy="2423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48223" y="4857750"/>
            <a:ext cx="384800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EFEFE"/>
                </a:solidFill>
                <a:latin typeface="Montserrat"/>
                <a:rFonts ascii="Montserrat" hAnsi="Montserrat" eastAsia="Montserrat" cs="Montserrat"/>
              </a:rPr>
              <a:t>Prochaine Étape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8223" y="5276850"/>
            <a:ext cx="38480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F2FE"/>
                </a:solidFill>
                <a:latin typeface="Roboto"/>
                <a:rFonts ascii="Roboto" hAnsi="Roboto" eastAsia="Roboto" cs="Roboto"/>
              </a:rPr>
              <a:t>Finaliser Architecture → Créer Epics &amp; Stories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72485" y="4733925"/>
            <a:ext cx="78103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Pilote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72485" y="5029200"/>
            <a:ext cx="78103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862F"/>
                </a:solidFill>
                <a:latin typeface="Montserrat"/>
                <a:rFonts ascii="Montserrat" hAnsi="Montserrat" eastAsia="Montserrat" cs="Montserrat"/>
              </a:rPr>
              <a:t>20-50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72485" y="5429250"/>
            <a:ext cx="78103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comptes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